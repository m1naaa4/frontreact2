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82" r:id="rId3"/>
    <p:sldId id="274" r:id="rId4"/>
    <p:sldId id="257" r:id="rId5"/>
    <p:sldId id="275" r:id="rId6"/>
    <p:sldId id="276" r:id="rId7"/>
    <p:sldId id="277" r:id="rId8"/>
    <p:sldId id="285" r:id="rId9"/>
    <p:sldId id="292" r:id="rId10"/>
    <p:sldId id="293" r:id="rId11"/>
    <p:sldId id="294" r:id="rId12"/>
    <p:sldId id="278" r:id="rId13"/>
    <p:sldId id="279" r:id="rId14"/>
    <p:sldId id="280" r:id="rId15"/>
    <p:sldId id="291" r:id="rId16"/>
    <p:sldId id="281" r:id="rId17"/>
    <p:sldId id="283" r:id="rId18"/>
    <p:sldId id="265" r:id="rId19"/>
    <p:sldId id="284" r:id="rId20"/>
    <p:sldId id="286" r:id="rId21"/>
    <p:sldId id="287" r:id="rId22"/>
    <p:sldId id="288" r:id="rId23"/>
    <p:sldId id="289" r:id="rId24"/>
    <p:sldId id="290" r:id="rId25"/>
    <p:sldId id="295" r:id="rId26"/>
    <p:sldId id="296" r:id="rId27"/>
    <p:sldId id="297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298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00" r:id="rId53"/>
    <p:sldId id="299" r:id="rId54"/>
    <p:sldId id="301" r:id="rId55"/>
    <p:sldId id="328" r:id="rId56"/>
    <p:sldId id="302" r:id="rId57"/>
    <p:sldId id="303" r:id="rId58"/>
    <p:sldId id="329" r:id="rId59"/>
    <p:sldId id="330" r:id="rId60"/>
    <p:sldId id="333" r:id="rId61"/>
    <p:sldId id="331" r:id="rId62"/>
    <p:sldId id="332" r:id="rId63"/>
    <p:sldId id="335" r:id="rId6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60"/>
  </p:normalViewPr>
  <p:slideViewPr>
    <p:cSldViewPr>
      <p:cViewPr>
        <p:scale>
          <a:sx n="70" d="100"/>
          <a:sy n="70" d="100"/>
        </p:scale>
        <p:origin x="-138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CC4B8-9103-4BEF-BFC6-2DF6ADA58F03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029AF-2F14-4E6C-828B-B7216B8E4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80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32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99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51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84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633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7635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87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4556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34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3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87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/>
            </a:gs>
            <a:gs pos="61000">
              <a:schemeClr val="tx2"/>
            </a:gs>
            <a:gs pos="100000">
              <a:schemeClr val="accent4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F6DB4-01C1-40F3-AECA-3E954DE36EC4}" type="datetimeFigureOut">
              <a:rPr lang="fr-FR" smtClean="0"/>
              <a:t>03/03/2021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05FE4-DE14-4190-BEF4-717B21EBE6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95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90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Youness_BEN\Desktop\presentations\Nouveau dossier\logofs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15913"/>
            <a:ext cx="12382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Youness_BEN\Desktop\presentations\Nouveau dossier\logouh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200" y="315913"/>
            <a:ext cx="123825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1331640" y="1916832"/>
            <a:ext cx="6336704" cy="144655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4"/>
                </a:solidFill>
              </a:rPr>
              <a:t>La Transformé de Fourier Discrète</a:t>
            </a:r>
            <a:endParaRPr lang="fr-FR" sz="4400" b="1" dirty="0">
              <a:solidFill>
                <a:schemeClr val="accent4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331640" y="3717032"/>
            <a:ext cx="6624736" cy="249299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5">
                    <a:lumMod val="50000"/>
                  </a:schemeClr>
                </a:solidFill>
              </a:rPr>
              <a:t>Réalisé par </a:t>
            </a:r>
            <a:r>
              <a:rPr lang="fr-FR" sz="2400" dirty="0" smtClean="0">
                <a:solidFill>
                  <a:schemeClr val="accent6"/>
                </a:solidFill>
              </a:rPr>
              <a:t>		    :	BENOUALA YOUNESS</a:t>
            </a:r>
          </a:p>
          <a:p>
            <a:r>
              <a:rPr lang="fr-FR" sz="2400" dirty="0">
                <a:solidFill>
                  <a:schemeClr val="accent6"/>
                </a:solidFill>
              </a:rPr>
              <a:t>	</a:t>
            </a:r>
            <a:r>
              <a:rPr lang="fr-FR" sz="2400" dirty="0" smtClean="0">
                <a:solidFill>
                  <a:schemeClr val="accent6"/>
                </a:solidFill>
              </a:rPr>
              <a:t>				&amp;</a:t>
            </a:r>
          </a:p>
          <a:p>
            <a:r>
              <a:rPr lang="fr-FR" sz="2400" dirty="0">
                <a:solidFill>
                  <a:schemeClr val="accent6"/>
                </a:solidFill>
              </a:rPr>
              <a:t>	</a:t>
            </a:r>
            <a:r>
              <a:rPr lang="fr-FR" sz="2400" dirty="0" smtClean="0">
                <a:solidFill>
                  <a:schemeClr val="accent6"/>
                </a:solidFill>
              </a:rPr>
              <a:t>			TALJAOUI OSSAMA</a:t>
            </a:r>
          </a:p>
          <a:p>
            <a:endParaRPr lang="fr-FR" sz="2400" dirty="0">
              <a:solidFill>
                <a:schemeClr val="accent6"/>
              </a:solidFill>
            </a:endParaRPr>
          </a:p>
          <a:p>
            <a:r>
              <a:rPr lang="fr-FR" sz="2400" dirty="0" smtClean="0">
                <a:solidFill>
                  <a:schemeClr val="accent5">
                    <a:lumMod val="50000"/>
                  </a:schemeClr>
                </a:solidFill>
              </a:rPr>
              <a:t>Encadré par </a:t>
            </a:r>
            <a:r>
              <a:rPr lang="fr-FR" sz="2400" dirty="0" smtClean="0">
                <a:solidFill>
                  <a:schemeClr val="accent6"/>
                </a:solidFill>
              </a:rPr>
              <a:t>		    :        PR.A.MOUHSEN</a:t>
            </a:r>
            <a:endParaRPr lang="fr-FR" dirty="0" smtClean="0">
              <a:solidFill>
                <a:schemeClr val="accent6"/>
              </a:solidFill>
            </a:endParaRPr>
          </a:p>
          <a:p>
            <a:r>
              <a:rPr lang="fr-FR" dirty="0"/>
              <a:t>	</a:t>
            </a:r>
            <a:r>
              <a:rPr lang="fr-FR" dirty="0" smtClean="0"/>
              <a:t>			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0583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368152"/>
          </a:xfrm>
          <a:solidFill>
            <a:schemeClr val="accent4"/>
          </a:solidFill>
          <a:ln>
            <a:solidFill>
              <a:schemeClr val="tx1"/>
            </a:solidFill>
            <a:prstDash val="lgDashDot"/>
          </a:ln>
        </p:spPr>
        <p:txBody>
          <a:bodyPr>
            <a:normAutofit fontScale="90000"/>
          </a:bodyPr>
          <a:lstStyle/>
          <a:p>
            <a:r>
              <a:rPr lang="fr-FR" dirty="0" smtClean="0">
                <a:solidFill>
                  <a:schemeClr val="accent5"/>
                </a:solidFill>
              </a:rPr>
              <a:t>La Transformé de </a:t>
            </a:r>
            <a:r>
              <a:rPr lang="fr-FR" smtClean="0">
                <a:solidFill>
                  <a:schemeClr val="accent5"/>
                </a:solidFill>
              </a:rPr>
              <a:t>Fourier Discrète</a:t>
            </a:r>
            <a:endParaRPr lang="fr-FR" dirty="0">
              <a:solidFill>
                <a:schemeClr val="accent5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I :</a:t>
            </a:r>
            <a:r>
              <a:rPr lang="fr-FR" dirty="0" smtClean="0">
                <a:solidFill>
                  <a:schemeClr val="accent6"/>
                </a:solidFill>
              </a:rPr>
              <a:t> Rappelle sur les séries et la transformé de    </a:t>
            </a:r>
          </a:p>
          <a:p>
            <a:pPr algn="l"/>
            <a:r>
              <a:rPr lang="fr-FR" dirty="0">
                <a:solidFill>
                  <a:schemeClr val="accent6"/>
                </a:solidFill>
              </a:rPr>
              <a:t> </a:t>
            </a:r>
            <a:r>
              <a:rPr lang="fr-FR" dirty="0" smtClean="0">
                <a:solidFill>
                  <a:schemeClr val="accent6"/>
                </a:solidFill>
              </a:rPr>
              <a:t>   Fourier.</a:t>
            </a:r>
          </a:p>
          <a:p>
            <a:pPr algn="l"/>
            <a:endParaRPr lang="fr-FR" dirty="0">
              <a:solidFill>
                <a:schemeClr val="accent6"/>
              </a:solidFill>
            </a:endParaRPr>
          </a:p>
          <a:p>
            <a:pPr algn="l"/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II:</a:t>
            </a:r>
            <a:r>
              <a:rPr lang="fr-FR" dirty="0" smtClean="0">
                <a:solidFill>
                  <a:schemeClr val="accent6"/>
                </a:solidFill>
              </a:rPr>
              <a:t> La Transformé de Fourier Discrète (DFT).</a:t>
            </a:r>
          </a:p>
          <a:p>
            <a:pPr algn="l"/>
            <a:endParaRPr lang="fr-FR" dirty="0" smtClean="0">
              <a:solidFill>
                <a:schemeClr val="accent6"/>
              </a:solidFill>
            </a:endParaRPr>
          </a:p>
          <a:p>
            <a:pPr algn="l"/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III:</a:t>
            </a:r>
            <a:r>
              <a:rPr lang="fr-FR" dirty="0" smtClean="0">
                <a:solidFill>
                  <a:schemeClr val="accent6"/>
                </a:solidFill>
              </a:rPr>
              <a:t> La Transformé de Fourier Rapide(FFT).</a:t>
            </a:r>
          </a:p>
          <a:p>
            <a:pPr algn="l"/>
            <a:endParaRPr lang="fr-FR" dirty="0" smtClean="0">
              <a:solidFill>
                <a:schemeClr val="accent6"/>
              </a:solidFill>
            </a:endParaRPr>
          </a:p>
          <a:p>
            <a:pPr algn="l"/>
            <a:r>
              <a:rPr lang="fr-FR" dirty="0" smtClean="0">
                <a:solidFill>
                  <a:schemeClr val="accent5">
                    <a:lumMod val="50000"/>
                  </a:schemeClr>
                </a:solidFill>
              </a:rPr>
              <a:t>IV:</a:t>
            </a:r>
            <a:r>
              <a:rPr lang="fr-FR" dirty="0" smtClean="0">
                <a:solidFill>
                  <a:schemeClr val="accent6"/>
                </a:solidFill>
              </a:rPr>
              <a:t> Exemples d’usage de la FFT dans le domaine </a:t>
            </a:r>
          </a:p>
          <a:p>
            <a:pPr algn="l"/>
            <a:r>
              <a:rPr lang="fr-FR" dirty="0">
                <a:solidFill>
                  <a:schemeClr val="accent6"/>
                </a:solidFill>
              </a:rPr>
              <a:t> </a:t>
            </a:r>
            <a:r>
              <a:rPr lang="fr-FR" dirty="0" smtClean="0">
                <a:solidFill>
                  <a:schemeClr val="accent6"/>
                </a:solidFill>
              </a:rPr>
              <a:t>     informatique.</a:t>
            </a:r>
          </a:p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99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  <a:solidFill>
            <a:schemeClr val="accent5"/>
          </a:solidFill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FR" dirty="0" smtClean="0">
                <a:solidFill>
                  <a:schemeClr val="accent4"/>
                </a:solidFill>
              </a:rPr>
              <a:t>Rappelle sur les Séries de Fourier</a:t>
            </a:r>
            <a:endParaRPr lang="fr-F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9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solidFill>
            <a:schemeClr val="accent4"/>
          </a:solidFill>
          <a:ln>
            <a:solidFill>
              <a:schemeClr val="tx1"/>
            </a:solidFill>
            <a:prstDash val="lgDashDot"/>
          </a:ln>
        </p:spPr>
        <p:txBody>
          <a:bodyPr/>
          <a:lstStyle/>
          <a:p>
            <a:r>
              <a:rPr lang="fr-FR" dirty="0" smtClean="0">
                <a:solidFill>
                  <a:schemeClr val="accent5"/>
                </a:solidFill>
              </a:rPr>
              <a:t>Séries de Fourier</a:t>
            </a:r>
            <a:endParaRPr lang="fr-FR" dirty="0">
              <a:solidFill>
                <a:schemeClr val="accent5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2448271"/>
          </a:xfr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accent2"/>
                </a:solidFill>
              </a:rPr>
              <a:t>Les séries de Fourier sont un outil mathématique qui nous permet de représenter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accent2"/>
                </a:solidFill>
              </a:rPr>
              <a:t>Un signal </a:t>
            </a:r>
            <a:r>
              <a:rPr lang="fr-FR" u="sng" dirty="0" smtClean="0">
                <a:solidFill>
                  <a:schemeClr val="accent4">
                    <a:lumMod val="10000"/>
                  </a:schemeClr>
                </a:solidFill>
              </a:rPr>
              <a:t>périodique</a:t>
            </a:r>
            <a:r>
              <a:rPr lang="fr-FR" dirty="0" smtClean="0">
                <a:solidFill>
                  <a:schemeClr val="accent2"/>
                </a:solidFill>
              </a:rPr>
              <a:t> par une somme de cosinus et sinus oscillants </a:t>
            </a:r>
            <a:r>
              <a:rPr lang="fr-FR" dirty="0">
                <a:solidFill>
                  <a:schemeClr val="accent2"/>
                </a:solidFill>
              </a:rPr>
              <a:t>à</a:t>
            </a:r>
            <a:r>
              <a:rPr lang="fr-FR" dirty="0" smtClean="0">
                <a:solidFill>
                  <a:schemeClr val="accent2"/>
                </a:solidFill>
              </a:rPr>
              <a:t> différentes fréquences.</a:t>
            </a:r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86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428592" y="980728"/>
            <a:ext cx="4608512" cy="955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1907704" y="1844823"/>
            <a:ext cx="1800200" cy="18722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5580112" y="1866636"/>
            <a:ext cx="1728192" cy="19442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2699792" y="980728"/>
            <a:ext cx="3924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4"/>
                </a:solidFill>
              </a:rPr>
              <a:t>Il existe deux façons pour écrire une série de Fourier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39552" y="3717031"/>
            <a:ext cx="2520280" cy="83099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5"/>
                </a:solidFill>
              </a:rPr>
              <a:t>Écriture Trigonométrique</a:t>
            </a:r>
            <a:endParaRPr lang="fr-FR" sz="2400" b="1" dirty="0">
              <a:solidFill>
                <a:schemeClr val="accent5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940152" y="3796758"/>
            <a:ext cx="2736304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smtClean="0">
                <a:solidFill>
                  <a:schemeClr val="accent5"/>
                </a:solidFill>
              </a:rPr>
              <a:t>Écriture </a:t>
            </a:r>
            <a:r>
              <a:rPr lang="fr-FR" sz="2400" b="1" dirty="0" smtClean="0">
                <a:solidFill>
                  <a:schemeClr val="accent5"/>
                </a:solidFill>
              </a:rPr>
              <a:t>Complexe</a:t>
            </a:r>
            <a:endParaRPr lang="fr-FR" sz="2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84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755576" y="404664"/>
            <a:ext cx="7632848" cy="76944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5"/>
                </a:solidFill>
              </a:rPr>
              <a:t>Écriture Trigonométrique</a:t>
            </a:r>
            <a:endParaRPr lang="fr-FR" sz="4400" b="1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899592" y="2686827"/>
                <a:ext cx="7488832" cy="12084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𝑨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fr-FR" sz="2000" b="1" i="1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𝑨𝒏</m:t>
                          </m:r>
                          <m:r>
                            <a:rPr lang="fr-FR" sz="2000" b="1" i="1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.</m:t>
                          </m:r>
                          <m:func>
                            <m:funcPr>
                              <m:ctrlPr>
                                <a:rPr lang="fr-FR" sz="2000" b="1" i="1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fr-FR" sz="2000" b="1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000" b="1" i="1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𝝅</m:t>
                                      </m:r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𝒏𝒕</m:t>
                                      </m:r>
                                    </m:num>
                                    <m:den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𝑻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fr-FR" sz="2000" b="1" i="1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fr-FR" sz="2000" b="1" i="1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𝑩𝒏</m:t>
                          </m:r>
                          <m:r>
                            <a:rPr lang="fr-FR" sz="2000" b="1" i="1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.</m:t>
                          </m:r>
                          <m:func>
                            <m:funcPr>
                              <m:ctrlPr>
                                <a:rPr lang="fr-FR" sz="2000" b="1" i="1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fr-FR" sz="2000" b="1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000" b="1" i="1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𝝅</m:t>
                                      </m:r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𝒏𝒕</m:t>
                                      </m:r>
                                    </m:num>
                                    <m:den>
                                      <m:r>
                                        <a:rPr lang="fr-FR" sz="2000" b="1" i="1">
                                          <a:solidFill>
                                            <a:schemeClr val="accent4">
                                              <a:lumMod val="10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𝑻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fr-FR" sz="2000" b="1" dirty="0" smtClean="0">
                  <a:solidFill>
                    <a:schemeClr val="accent4">
                      <a:lumMod val="10000"/>
                    </a:schemeClr>
                  </a:solidFill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686827"/>
                <a:ext cx="7488832" cy="120840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755576" y="1499592"/>
            <a:ext cx="763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/>
                </a:solidFill>
              </a:rPr>
              <a:t>Soit f une </a:t>
            </a:r>
            <a:r>
              <a:rPr lang="fr-FR" sz="2400" b="1" dirty="0" smtClean="0">
                <a:solidFill>
                  <a:schemeClr val="accent3"/>
                </a:solidFill>
              </a:rPr>
              <a:t>fonction périodique </a:t>
            </a:r>
            <a:r>
              <a:rPr lang="fr-FR" sz="2400" dirty="0" smtClean="0">
                <a:solidFill>
                  <a:schemeClr val="accent6"/>
                </a:solidFill>
              </a:rPr>
              <a:t>à variable </a:t>
            </a:r>
            <a:r>
              <a:rPr lang="fr-FR" sz="2400" b="1" dirty="0" smtClean="0">
                <a:solidFill>
                  <a:schemeClr val="accent3"/>
                </a:solidFill>
              </a:rPr>
              <a:t>t</a:t>
            </a:r>
            <a:r>
              <a:rPr lang="fr-FR" sz="2400" dirty="0" smtClean="0">
                <a:solidFill>
                  <a:schemeClr val="accent6"/>
                </a:solidFill>
              </a:rPr>
              <a:t> , et de période </a:t>
            </a:r>
            <a:r>
              <a:rPr lang="fr-FR" sz="2400" b="1" dirty="0" smtClean="0">
                <a:solidFill>
                  <a:schemeClr val="accent3"/>
                </a:solidFill>
              </a:rPr>
              <a:t>T</a:t>
            </a:r>
            <a:r>
              <a:rPr lang="fr-FR" sz="2400" dirty="0" smtClean="0">
                <a:solidFill>
                  <a:schemeClr val="accent6"/>
                </a:solidFill>
              </a:rPr>
              <a:t> .</a:t>
            </a:r>
          </a:p>
          <a:p>
            <a:r>
              <a:rPr lang="fr-FR" sz="2400" dirty="0" smtClean="0">
                <a:solidFill>
                  <a:schemeClr val="accent6"/>
                </a:solidFill>
              </a:rPr>
              <a:t>La série de </a:t>
            </a:r>
            <a:r>
              <a:rPr lang="fr-FR" sz="2400" dirty="0">
                <a:solidFill>
                  <a:schemeClr val="accent6"/>
                </a:solidFill>
              </a:rPr>
              <a:t>F</a:t>
            </a:r>
            <a:r>
              <a:rPr lang="fr-FR" sz="2400" dirty="0" smtClean="0">
                <a:solidFill>
                  <a:schemeClr val="accent6"/>
                </a:solidFill>
              </a:rPr>
              <a:t>ourier associé à </a:t>
            </a:r>
            <a:r>
              <a:rPr lang="fr-FR" sz="2400" b="1" dirty="0" smtClean="0">
                <a:solidFill>
                  <a:schemeClr val="accent3"/>
                </a:solidFill>
              </a:rPr>
              <a:t>f</a:t>
            </a:r>
            <a:r>
              <a:rPr lang="fr-FR" sz="2400" dirty="0" smtClean="0">
                <a:solidFill>
                  <a:schemeClr val="accent6"/>
                </a:solidFill>
              </a:rPr>
              <a:t> est définit par l’expression suivante: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635896" y="2996952"/>
            <a:ext cx="432048" cy="2940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5646258" y="2996952"/>
            <a:ext cx="581925" cy="2940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en angle 20"/>
          <p:cNvCxnSpPr>
            <a:stCxn id="5" idx="2"/>
          </p:cNvCxnSpPr>
          <p:nvPr/>
        </p:nvCxnSpPr>
        <p:spPr>
          <a:xfrm rot="5400000">
            <a:off x="2918840" y="3432023"/>
            <a:ext cx="1074073" cy="792088"/>
          </a:xfrm>
          <a:prstGeom prst="bentConnector3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en angle 22"/>
          <p:cNvCxnSpPr/>
          <p:nvPr/>
        </p:nvCxnSpPr>
        <p:spPr>
          <a:xfrm rot="16200000" flipH="1">
            <a:off x="5833699" y="3394551"/>
            <a:ext cx="1074074" cy="867032"/>
          </a:xfrm>
          <a:prstGeom prst="bentConnector3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1619672" y="4365104"/>
                <a:ext cx="3024336" cy="1020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𝑻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𝑻</m:t>
                          </m:r>
                        </m:sup>
                        <m:e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𝒇</m:t>
                          </m:r>
                          <m:d>
                            <m:dPr>
                              <m:ctrlP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</m:d>
                          <m:func>
                            <m:funcPr>
                              <m:ctrlP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.</m:t>
                              </m:r>
                              <m:r>
                                <a:rPr lang="fr-FR" sz="20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𝐜𝐨𝐬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0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𝝅</m:t>
                                      </m:r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𝒏𝒕</m:t>
                                      </m:r>
                                    </m:num>
                                    <m:den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𝑻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4365104"/>
                <a:ext cx="3024336" cy="102008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5413212" y="4365104"/>
                <a:ext cx="2520280" cy="1020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𝑻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𝑻</m:t>
                          </m:r>
                        </m:sup>
                        <m:e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𝒇</m:t>
                          </m:r>
                          <m:d>
                            <m:dPr>
                              <m:ctrlP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</m:d>
                          <m:func>
                            <m:funcPr>
                              <m:ctrlP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.</m:t>
                              </m:r>
                              <m:r>
                                <a:rPr lang="fr-FR" sz="20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0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𝝅</m:t>
                                      </m:r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𝒏𝒕</m:t>
                                      </m:r>
                                    </m:num>
                                    <m:den>
                                      <m:r>
                                        <a:rPr lang="fr-FR" sz="20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𝑻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212" y="4365104"/>
                <a:ext cx="2520280" cy="1020087"/>
              </a:xfrm>
              <a:prstGeom prst="rect">
                <a:avLst/>
              </a:prstGeom>
              <a:blipFill rotWithShape="1">
                <a:blip r:embed="rId4"/>
                <a:stretch>
                  <a:fillRect r="-89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à coins arrondis 30"/>
          <p:cNvSpPr/>
          <p:nvPr/>
        </p:nvSpPr>
        <p:spPr>
          <a:xfrm>
            <a:off x="1547664" y="4365104"/>
            <a:ext cx="3168352" cy="1224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à coins arrondis 31"/>
          <p:cNvSpPr/>
          <p:nvPr/>
        </p:nvSpPr>
        <p:spPr>
          <a:xfrm>
            <a:off x="5220076" y="4365104"/>
            <a:ext cx="3168352" cy="1224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1619672" y="573325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NB : An et </a:t>
            </a:r>
            <a:r>
              <a:rPr lang="fr-FR" b="1" dirty="0" err="1" smtClean="0"/>
              <a:t>Bn</a:t>
            </a:r>
            <a:r>
              <a:rPr lang="fr-FR" b="1" dirty="0" smtClean="0"/>
              <a:t> sont des réels 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7905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29" grpId="0"/>
      <p:bldP spid="30" grpId="0"/>
      <p:bldP spid="31" grpId="0" animBg="1"/>
      <p:bldP spid="32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755576" y="404664"/>
            <a:ext cx="7632848" cy="76944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5"/>
                </a:solidFill>
              </a:rPr>
              <a:t>Écriture Complexe</a:t>
            </a:r>
            <a:endParaRPr lang="fr-FR" sz="4400" b="1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875279" y="2718575"/>
                <a:ext cx="7488832" cy="12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𝑪𝒏</m:t>
                          </m:r>
                          <m:sSup>
                            <m:sSupPr>
                              <m:ctrlP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.</m:t>
                              </m:r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𝒊𝒏𝒕</m:t>
                              </m:r>
                              <m:f>
                                <m:fPr>
                                  <m:ctrlP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  <m: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</a:rPr>
                                    <m:t>𝑻</m:t>
                                  </m:r>
                                </m:den>
                              </m:f>
                            </m:sup>
                          </m:sSup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fr-FR" sz="2000" b="1" dirty="0" smtClean="0">
                  <a:solidFill>
                    <a:schemeClr val="accent4">
                      <a:lumMod val="10000"/>
                    </a:schemeClr>
                  </a:solidFill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79" y="2718575"/>
                <a:ext cx="7488832" cy="12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755576" y="1499592"/>
            <a:ext cx="763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/>
                </a:solidFill>
              </a:rPr>
              <a:t>Soit f une </a:t>
            </a:r>
            <a:r>
              <a:rPr lang="fr-FR" sz="2400" b="1" dirty="0" smtClean="0">
                <a:solidFill>
                  <a:schemeClr val="accent3"/>
                </a:solidFill>
              </a:rPr>
              <a:t>fonction périodique </a:t>
            </a:r>
            <a:r>
              <a:rPr lang="fr-FR" sz="2400" dirty="0" smtClean="0">
                <a:solidFill>
                  <a:schemeClr val="accent6"/>
                </a:solidFill>
              </a:rPr>
              <a:t>à variable </a:t>
            </a:r>
            <a:r>
              <a:rPr lang="fr-FR" sz="2400" b="1" dirty="0" smtClean="0">
                <a:solidFill>
                  <a:schemeClr val="accent3"/>
                </a:solidFill>
              </a:rPr>
              <a:t>t</a:t>
            </a:r>
            <a:r>
              <a:rPr lang="fr-FR" sz="2400" dirty="0" smtClean="0">
                <a:solidFill>
                  <a:schemeClr val="accent6"/>
                </a:solidFill>
              </a:rPr>
              <a:t> de période </a:t>
            </a:r>
            <a:r>
              <a:rPr lang="fr-FR" sz="2400" b="1" dirty="0" smtClean="0">
                <a:solidFill>
                  <a:schemeClr val="accent3"/>
                </a:solidFill>
              </a:rPr>
              <a:t>T</a:t>
            </a:r>
            <a:r>
              <a:rPr lang="fr-FR" sz="2400" dirty="0" smtClean="0">
                <a:solidFill>
                  <a:schemeClr val="accent6"/>
                </a:solidFill>
              </a:rPr>
              <a:t> .</a:t>
            </a:r>
          </a:p>
          <a:p>
            <a:r>
              <a:rPr lang="fr-FR" sz="2400" dirty="0" smtClean="0">
                <a:solidFill>
                  <a:schemeClr val="accent6"/>
                </a:solidFill>
              </a:rPr>
              <a:t>La série de </a:t>
            </a:r>
            <a:r>
              <a:rPr lang="fr-FR" sz="2400" dirty="0">
                <a:solidFill>
                  <a:schemeClr val="accent6"/>
                </a:solidFill>
              </a:rPr>
              <a:t>F</a:t>
            </a:r>
            <a:r>
              <a:rPr lang="fr-FR" sz="2400" dirty="0" smtClean="0">
                <a:solidFill>
                  <a:schemeClr val="accent6"/>
                </a:solidFill>
              </a:rPr>
              <a:t>ourier associé à </a:t>
            </a:r>
            <a:r>
              <a:rPr lang="fr-FR" sz="2400" b="1" dirty="0" smtClean="0">
                <a:solidFill>
                  <a:schemeClr val="accent3"/>
                </a:solidFill>
              </a:rPr>
              <a:t>f</a:t>
            </a:r>
            <a:r>
              <a:rPr lang="fr-FR" sz="2400" dirty="0" smtClean="0">
                <a:solidFill>
                  <a:schemeClr val="accent6"/>
                </a:solidFill>
              </a:rPr>
              <a:t> est définit par l’expression suivante: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4707960" y="3036106"/>
            <a:ext cx="432048" cy="2940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en angle 20"/>
          <p:cNvCxnSpPr>
            <a:stCxn id="5" idx="2"/>
          </p:cNvCxnSpPr>
          <p:nvPr/>
        </p:nvCxnSpPr>
        <p:spPr>
          <a:xfrm rot="16200000" flipH="1">
            <a:off x="4402821" y="3851347"/>
            <a:ext cx="1042327" cy="1"/>
          </a:xfrm>
          <a:prstGeom prst="bentConnector3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>
                <a:off x="3447820" y="4467128"/>
                <a:ext cx="2520280" cy="1020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𝑻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𝑻</m:t>
                          </m:r>
                        </m:sup>
                        <m:e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𝒇</m:t>
                          </m:r>
                          <m:d>
                            <m:dPr>
                              <m:ctrlP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𝒕</m:t>
                              </m:r>
                            </m:e>
                          </m:d>
                          <m:sSup>
                            <m:sSupPr>
                              <m:ctrlP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fr-FR" sz="20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𝒊𝒏𝒕</m:t>
                              </m:r>
                              <m:f>
                                <m:fPr>
                                  <m:ctrlPr>
                                    <a:rPr lang="fr-FR" sz="20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  <m:r>
                                    <a:rPr lang="fr-FR" sz="20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fr-FR" sz="20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  <m:t>𝑻</m:t>
                                  </m:r>
                                </m:den>
                              </m:f>
                            </m:sup>
                          </m:sSup>
                          <m:r>
                            <a:rPr lang="fr-FR" sz="20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820" y="4467128"/>
                <a:ext cx="2520280" cy="102008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à coins arrondis 30"/>
          <p:cNvSpPr/>
          <p:nvPr/>
        </p:nvSpPr>
        <p:spPr>
          <a:xfrm>
            <a:off x="3200990" y="4365104"/>
            <a:ext cx="3168352" cy="122413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140008" y="3353778"/>
            <a:ext cx="187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NB : </a:t>
            </a:r>
            <a:r>
              <a:rPr lang="fr-FR" b="1" dirty="0" err="1" smtClean="0"/>
              <a:t>Cn</a:t>
            </a:r>
            <a:r>
              <a:rPr lang="fr-FR" b="1" dirty="0" smtClean="0"/>
              <a:t> est un nombre complexe.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08990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/>
      <p:bldP spid="31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755576" y="404664"/>
            <a:ext cx="7632848" cy="76944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5"/>
                </a:solidFill>
              </a:rPr>
              <a:t>Écriture Complexe</a:t>
            </a:r>
            <a:endParaRPr lang="fr-FR" sz="4400" b="1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539552" y="1484784"/>
                <a:ext cx="8064896" cy="1062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u="sng" dirty="0" smtClean="0"/>
                  <a:t>Remarque:</a:t>
                </a:r>
              </a:p>
              <a:p>
                <a:r>
                  <a:rPr lang="fr-FR" dirty="0" smtClean="0"/>
                  <a:t>On peut retomber sur l’écriture trigonométrique en utilisant les formules suivantes : </a:t>
                </a:r>
              </a:p>
              <a:p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𝑪𝒏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 (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𝑨𝒏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−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𝒊𝑩𝒏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)       </m:t>
                    </m:r>
                  </m:oMath>
                </a14:m>
                <a:r>
                  <a:rPr lang="fr-FR" dirty="0" smtClean="0"/>
                  <a:t>et</a:t>
                </a:r>
                <a:r>
                  <a:rPr lang="fr-FR" b="1" dirty="0" smtClean="0">
                    <a:solidFill>
                      <a:schemeClr val="accent3"/>
                    </a:solidFill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𝒆</m:t>
                        </m:r>
                      </m:e>
                      <m:sup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𝒊𝒏𝒕</m:t>
                        </m:r>
                        <m:f>
                          <m:fPr>
                            <m:ctrlPr>
                              <a:rPr lang="fr-FR" b="1" i="1" smtClean="0">
                                <a:solidFill>
                                  <a:schemeClr val="accent3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fr-FR" b="1" i="1" smtClean="0">
                                <a:solidFill>
                                  <a:schemeClr val="accent3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fr-FR" b="1" i="1" smtClean="0">
                                <a:solidFill>
                                  <a:schemeClr val="accent3"/>
                                </a:solidFill>
                                <a:latin typeface="Cambria Math"/>
                                <a:ea typeface="Cambria Math"/>
                              </a:rPr>
                              <m:t>𝝅</m:t>
                            </m:r>
                          </m:num>
                          <m:den>
                            <m:r>
                              <a:rPr lang="fr-FR" b="1" i="1" smtClean="0">
                                <a:solidFill>
                                  <a:schemeClr val="accent3"/>
                                </a:solidFill>
                                <a:latin typeface="Cambria Math"/>
                              </a:rPr>
                              <m:t>𝑻</m:t>
                            </m:r>
                          </m:den>
                        </m:f>
                      </m:sup>
                    </m:sSup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fr-FR" b="1" dirty="0" smtClean="0">
                    <a:solidFill>
                      <a:schemeClr val="accent3"/>
                    </a:solidFill>
                  </a:rPr>
                  <a:t> cos(</a:t>
                </a:r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𝒏𝒕</m:t>
                    </m:r>
                    <m:f>
                      <m:fPr>
                        <m:ctrlP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  <a:ea typeface="Cambria Math"/>
                          </a:rPr>
                          <m:t>𝝅</m:t>
                        </m:r>
                      </m:num>
                      <m:den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𝑻</m:t>
                        </m:r>
                      </m:den>
                    </m:f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) −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𝒊𝒔𝒊𝒏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(</m:t>
                    </m:r>
                    <m:r>
                      <a:rPr lang="fr-FR" b="1" i="1" smtClean="0">
                        <a:solidFill>
                          <a:schemeClr val="accent3"/>
                        </a:solidFill>
                        <a:latin typeface="Cambria Math"/>
                      </a:rPr>
                      <m:t>𝒏𝒕</m:t>
                    </m:r>
                    <m:f>
                      <m:fPr>
                        <m:ctrlP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𝟐</m:t>
                        </m:r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  <a:ea typeface="Cambria Math"/>
                          </a:rPr>
                          <m:t>𝝅</m:t>
                        </m:r>
                      </m:num>
                      <m:den>
                        <m:r>
                          <a:rPr lang="fr-FR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𝑻</m:t>
                        </m:r>
                      </m:den>
                    </m:f>
                  </m:oMath>
                </a14:m>
                <a:r>
                  <a:rPr lang="fr-FR" b="1" dirty="0" smtClean="0">
                    <a:solidFill>
                      <a:schemeClr val="accent3"/>
                    </a:solidFill>
                  </a:rPr>
                  <a:t>)</a:t>
                </a:r>
                <a:endParaRPr lang="fr-FR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484784"/>
                <a:ext cx="8064896" cy="1062535"/>
              </a:xfrm>
              <a:prstGeom prst="rect">
                <a:avLst/>
              </a:prstGeom>
              <a:blipFill rotWithShape="1">
                <a:blip r:embed="rId2"/>
                <a:stretch>
                  <a:fillRect l="-681" t="-2874" r="-303" b="-28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eur droit avec flèche 9"/>
          <p:cNvCxnSpPr/>
          <p:nvPr/>
        </p:nvCxnSpPr>
        <p:spPr>
          <a:xfrm flipV="1">
            <a:off x="3888192" y="2852936"/>
            <a:ext cx="0" cy="20972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>
            <a:off x="3888192" y="4950224"/>
            <a:ext cx="2376264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3888192" y="3406698"/>
            <a:ext cx="1684784" cy="1543526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4067050" y="4603404"/>
            <a:ext cx="325198" cy="693639"/>
          </a:xfrm>
          <a:prstGeom prst="arc">
            <a:avLst>
              <a:gd name="adj1" fmla="val 16200000"/>
              <a:gd name="adj2" fmla="val 4975945"/>
            </a:avLst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6172700" y="5053590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𝑅𝑒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700" y="5053590"/>
                <a:ext cx="504056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3322793" y="2668270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/>
                        </a:rPr>
                        <m:t>𝐼𝑚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793" y="2668270"/>
                <a:ext cx="50405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4392248" y="4371625"/>
                <a:ext cx="899832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𝒏𝒕</m:t>
                      </m:r>
                      <m:f>
                        <m:fPr>
                          <m:ctrlP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  <a:ea typeface="Cambria Math"/>
                            </a:rPr>
                            <m:t>𝝅</m:t>
                          </m:r>
                        </m:num>
                        <m:den>
                          <m: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𝑻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248" y="4371625"/>
                <a:ext cx="899832" cy="55335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necteur droit avec flèche 37"/>
          <p:cNvCxnSpPr/>
          <p:nvPr/>
        </p:nvCxnSpPr>
        <p:spPr>
          <a:xfrm>
            <a:off x="3888192" y="4950224"/>
            <a:ext cx="0" cy="164712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>
            <a:off x="3888192" y="4948546"/>
            <a:ext cx="1684784" cy="1432782"/>
          </a:xfrm>
          <a:prstGeom prst="straightConnector1">
            <a:avLst/>
          </a:prstGeom>
          <a:ln w="28575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/>
              <p:cNvSpPr txBox="1"/>
              <p:nvPr/>
            </p:nvSpPr>
            <p:spPr>
              <a:xfrm>
                <a:off x="5658641" y="6222171"/>
                <a:ext cx="504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accent3"/>
                          </a:solidFill>
                          <a:latin typeface="Cambria Math"/>
                        </a:rPr>
                        <m:t>𝑪𝒏</m:t>
                      </m:r>
                    </m:oMath>
                  </m:oMathPara>
                </a14:m>
                <a:endParaRPr lang="fr-FR" b="1" dirty="0" smtClean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43" name="ZoneTexte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41" y="6222171"/>
                <a:ext cx="50405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4392248" y="5020364"/>
                <a:ext cx="899832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−</m:t>
                      </m:r>
                      <m:r>
                        <a:rPr lang="fr-FR" sz="1600" b="1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𝒏𝒕</m:t>
                      </m:r>
                      <m:f>
                        <m:fPr>
                          <m:ctrlP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  <a:ea typeface="Cambria Math"/>
                            </a:rPr>
                            <m:t>𝝅</m:t>
                          </m:r>
                        </m:num>
                        <m:den>
                          <m:r>
                            <a:rPr lang="fr-FR" sz="1600" b="1" i="1" smtClean="0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𝑻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248" y="5020364"/>
                <a:ext cx="899832" cy="55335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onnecteur droit 53"/>
          <p:cNvCxnSpPr/>
          <p:nvPr/>
        </p:nvCxnSpPr>
        <p:spPr>
          <a:xfrm flipV="1">
            <a:off x="5572976" y="4948546"/>
            <a:ext cx="0" cy="1432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 flipH="1">
            <a:off x="3888192" y="6406837"/>
            <a:ext cx="16847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ZoneTexte 57"/>
              <p:cNvSpPr txBox="1"/>
              <p:nvPr/>
            </p:nvSpPr>
            <p:spPr>
              <a:xfrm>
                <a:off x="5292080" y="4313757"/>
                <a:ext cx="504056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/>
                            </a:rPr>
                            <m:t>𝐴𝑛</m:t>
                          </m:r>
                        </m:num>
                        <m:den>
                          <m:r>
                            <a:rPr lang="fr-F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8" name="ZoneTexte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4313757"/>
                <a:ext cx="504056" cy="634789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/>
              <p:cNvSpPr txBox="1"/>
              <p:nvPr/>
            </p:nvSpPr>
            <p:spPr>
              <a:xfrm>
                <a:off x="3131840" y="6196662"/>
                <a:ext cx="676075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/>
                            </a:rPr>
                            <m:t>𝐵𝑛</m:t>
                          </m:r>
                        </m:num>
                        <m:den>
                          <m:r>
                            <a:rPr lang="fr-F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9" name="ZoneTexte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6196662"/>
                <a:ext cx="676075" cy="6090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0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 animBg="1"/>
      <p:bldP spid="11" grpId="0"/>
      <p:bldP spid="19" grpId="0"/>
      <p:bldP spid="17" grpId="0"/>
      <p:bldP spid="43" grpId="0"/>
      <p:bldP spid="52" grpId="0"/>
      <p:bldP spid="58" grpId="0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23528" y="404664"/>
            <a:ext cx="83529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accent6"/>
                </a:solidFill>
              </a:rPr>
              <a:t>On propose un Code Matlab qui permet de calculer la série de Fourier d’une fonction donnée : </a:t>
            </a:r>
            <a:endParaRPr lang="fr-FR" sz="2000" dirty="0">
              <a:solidFill>
                <a:schemeClr val="accent6"/>
              </a:solidFill>
            </a:endParaRPr>
          </a:p>
        </p:txBody>
      </p:sp>
      <p:pic>
        <p:nvPicPr>
          <p:cNvPr id="1026" name="Picture 2" descr="C:\Users\Youness_BEN\Desktop\presentations\Nouveau dossier\fonction_S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88840"/>
            <a:ext cx="8491388" cy="3847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761132" y="1344693"/>
            <a:ext cx="5539060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Fonction pour calculer la Série de Fourier : </a:t>
            </a:r>
            <a:endParaRPr lang="fr-FR" sz="24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00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761132" y="332656"/>
            <a:ext cx="4818980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Scripte pour tester notre fonction: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2050" name="Picture 2" descr="C:\Users\Youness_BEN\Desktop\presentations\Nouveau dossier\Script_S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712968" cy="389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144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761132" y="332656"/>
            <a:ext cx="4818980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Résultat: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3074" name="Picture 2" descr="C:\Users\Youness_BEN\Desktop\presentations\Nouveau dossier\Fig_S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52736"/>
            <a:ext cx="7244589" cy="543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44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755576" y="404664"/>
            <a:ext cx="7632848" cy="76944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5"/>
                </a:solidFill>
              </a:rPr>
              <a:t>La Transformé de </a:t>
            </a:r>
            <a:r>
              <a:rPr lang="fr-FR" sz="4400" b="1" dirty="0">
                <a:solidFill>
                  <a:schemeClr val="accent5"/>
                </a:solidFill>
              </a:rPr>
              <a:t>F</a:t>
            </a:r>
            <a:r>
              <a:rPr lang="fr-FR" sz="4400" b="1" dirty="0" smtClean="0">
                <a:solidFill>
                  <a:schemeClr val="accent5"/>
                </a:solidFill>
              </a:rPr>
              <a:t>ourier</a:t>
            </a:r>
            <a:endParaRPr lang="fr-FR" sz="4400" b="1" dirty="0">
              <a:solidFill>
                <a:schemeClr val="accent5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755576" y="4149080"/>
            <a:ext cx="76328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>
              <a:solidFill>
                <a:schemeClr val="accent6"/>
              </a:solidFill>
            </a:endParaRPr>
          </a:p>
          <a:p>
            <a:pPr algn="ctr"/>
            <a:r>
              <a:rPr lang="fr-FR" sz="4400" b="1" u="sng" dirty="0" smtClean="0">
                <a:solidFill>
                  <a:schemeClr val="accent6">
                    <a:lumMod val="75000"/>
                  </a:schemeClr>
                </a:solidFill>
              </a:rPr>
              <a:t>On appelle cet outil La transformé de Fourier.</a:t>
            </a:r>
            <a:endParaRPr lang="fr-FR" sz="4400" b="1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457200" y="1700809"/>
            <a:ext cx="8229600" cy="2448271"/>
          </a:xfr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Vue que les Séries de Fourier sont </a:t>
            </a: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applicable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uniquement sur les signaux </a:t>
            </a: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périodiques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, il existe un autre outil </a:t>
            </a: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,qui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est </a:t>
            </a: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similaire, pour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les signaux non-périodiques.</a:t>
            </a:r>
          </a:p>
        </p:txBody>
      </p:sp>
    </p:spTree>
    <p:extLst>
      <p:ext uri="{BB962C8B-B14F-4D97-AF65-F5344CB8AC3E}">
        <p14:creationId xmlns:p14="http://schemas.microsoft.com/office/powerpoint/2010/main" val="282927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963544" y="2718575"/>
                <a:ext cx="7488832" cy="1357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[</m:t>
                          </m:r>
                          <m:nary>
                            <m:naryPr>
                              <m:ctrlP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𝒇</m:t>
                              </m:r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𝝉</m:t>
                              </m:r>
                              <m:r>
                                <a:rPr lang="fr-FR" sz="2000" b="1" i="1" smtClean="0">
                                  <a:solidFill>
                                    <a:schemeClr val="accent4">
                                      <a:lumMod val="10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fr-F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𝒊</m:t>
                                  </m:r>
                                  <m:r>
                                    <a:rPr lang="el-GR" sz="2000" b="1" i="1" smtClean="0">
                                      <a:solidFill>
                                        <a:schemeClr val="accent4">
                                          <a:lumMod val="10000"/>
                                        </a:schemeClr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𝝎𝝉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</a:rPr>
                        <m:t>𝒅</m:t>
                      </m:r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  <a:ea typeface="Cambria Math"/>
                        </a:rPr>
                        <m:t>𝝉</m:t>
                      </m:r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  <a:ea typeface="Cambria Math"/>
                        </a:rPr>
                        <m:t>].</m:t>
                      </m:r>
                      <m:sSup>
                        <m:sSupPr>
                          <m:ctrlP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𝒆</m:t>
                          </m:r>
                        </m:e>
                        <m:sup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𝒊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𝝎</m:t>
                          </m:r>
                          <m:r>
                            <a:rPr lang="fr-FR" sz="2000" b="1" i="1" smtClean="0">
                              <a:solidFill>
                                <a:schemeClr val="accent4">
                                  <a:lumMod val="1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𝒕</m:t>
                          </m:r>
                        </m:sup>
                      </m:sSup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  <a:ea typeface="Cambria Math"/>
                        </a:rPr>
                        <m:t>𝒅</m:t>
                      </m:r>
                      <m:r>
                        <a:rPr lang="fr-FR" sz="2000" b="1" i="1" smtClean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Cambria Math"/>
                          <a:ea typeface="Cambria Math"/>
                        </a:rPr>
                        <m:t>𝝎</m:t>
                      </m:r>
                    </m:oMath>
                  </m:oMathPara>
                </a14:m>
                <a:endParaRPr lang="fr-FR" sz="2000" b="1" dirty="0" smtClean="0">
                  <a:solidFill>
                    <a:schemeClr val="accent4">
                      <a:lumMod val="10000"/>
                    </a:schemeClr>
                  </a:solidFill>
                  <a:ea typeface="Cambria Math"/>
                </a:endParaRPr>
              </a:p>
              <a:p>
                <a:endParaRPr lang="fr-FR" sz="2000" b="1" dirty="0" smtClean="0">
                  <a:solidFill>
                    <a:schemeClr val="accent4">
                      <a:lumMod val="10000"/>
                    </a:schemeClr>
                  </a:solidFill>
                </a:endParaRPr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44" y="2718575"/>
                <a:ext cx="7488832" cy="135748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731263" y="188640"/>
            <a:ext cx="76328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 smtClean="0">
              <a:solidFill>
                <a:schemeClr val="accent6"/>
              </a:solidFill>
            </a:endParaRPr>
          </a:p>
          <a:p>
            <a:r>
              <a:rPr lang="fr-FR" sz="2400" dirty="0" smtClean="0">
                <a:solidFill>
                  <a:schemeClr val="accent6"/>
                </a:solidFill>
              </a:rPr>
              <a:t>Soit f une </a:t>
            </a:r>
            <a:r>
              <a:rPr lang="fr-FR" sz="2400" b="1" dirty="0" smtClean="0">
                <a:solidFill>
                  <a:schemeClr val="accent3"/>
                </a:solidFill>
              </a:rPr>
              <a:t>fonction non-périodique </a:t>
            </a:r>
            <a:r>
              <a:rPr lang="fr-FR" sz="2400" dirty="0" smtClean="0">
                <a:solidFill>
                  <a:schemeClr val="accent6"/>
                </a:solidFill>
              </a:rPr>
              <a:t>à variable </a:t>
            </a:r>
            <a:r>
              <a:rPr lang="fr-FR" sz="2400" b="1" dirty="0" smtClean="0">
                <a:solidFill>
                  <a:schemeClr val="accent3"/>
                </a:solidFill>
              </a:rPr>
              <a:t>t</a:t>
            </a:r>
            <a:r>
              <a:rPr lang="fr-FR" sz="2400" dirty="0" smtClean="0">
                <a:solidFill>
                  <a:schemeClr val="accent6"/>
                </a:solidFill>
              </a:rPr>
              <a:t>.</a:t>
            </a:r>
          </a:p>
          <a:p>
            <a:endParaRPr lang="fr-FR" sz="2400" dirty="0">
              <a:solidFill>
                <a:schemeClr val="accent6"/>
              </a:solidFill>
            </a:endParaRPr>
          </a:p>
          <a:p>
            <a:endParaRPr lang="fr-FR" sz="2400" dirty="0" smtClean="0">
              <a:solidFill>
                <a:schemeClr val="accent6"/>
              </a:solidFill>
            </a:endParaRPr>
          </a:p>
          <a:p>
            <a:r>
              <a:rPr lang="fr-FR" sz="2400" dirty="0" smtClean="0">
                <a:solidFill>
                  <a:schemeClr val="accent6"/>
                </a:solidFill>
              </a:rPr>
              <a:t>La fonction </a:t>
            </a:r>
            <a:r>
              <a:rPr lang="fr-FR" sz="2400" b="1" dirty="0" smtClean="0">
                <a:solidFill>
                  <a:schemeClr val="accent3"/>
                </a:solidFill>
              </a:rPr>
              <a:t>f</a:t>
            </a:r>
            <a:r>
              <a:rPr lang="fr-FR" sz="2400" dirty="0" smtClean="0">
                <a:solidFill>
                  <a:schemeClr val="accent6"/>
                </a:solidFill>
              </a:rPr>
              <a:t> peut s’écrire sous la forme suivante:</a:t>
            </a:r>
            <a:endParaRPr lang="fr-FR" sz="2400" dirty="0">
              <a:solidFill>
                <a:schemeClr val="accent6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4067944" y="2420888"/>
            <a:ext cx="2088231" cy="151216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/>
          <p:cNvCxnSpPr/>
          <p:nvPr/>
        </p:nvCxnSpPr>
        <p:spPr>
          <a:xfrm>
            <a:off x="5292080" y="3933056"/>
            <a:ext cx="0" cy="9361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3887924" y="4848652"/>
                <a:ext cx="2808312" cy="15904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2400" dirty="0" smtClean="0"/>
                  <a:t>Ce terme est appelé la transformé de Fourier de </a:t>
                </a:r>
                <a:r>
                  <a:rPr lang="fr-FR" sz="2400" b="1" dirty="0" smtClean="0"/>
                  <a:t>f</a:t>
                </a:r>
                <a:r>
                  <a:rPr lang="fr-FR" sz="2400" dirty="0" smtClean="0"/>
                  <a:t> et noté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400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FR" sz="2400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𝒇</m:t>
                        </m:r>
                      </m:e>
                    </m:acc>
                  </m:oMath>
                </a14:m>
                <a:r>
                  <a:rPr lang="fr-FR" sz="2400" dirty="0" smtClean="0"/>
                  <a:t> .</a:t>
                </a:r>
                <a:endParaRPr lang="fr-FR" sz="2400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7924" y="4848652"/>
                <a:ext cx="2808312" cy="1590435"/>
              </a:xfrm>
              <a:prstGeom prst="rect">
                <a:avLst/>
              </a:prstGeom>
              <a:blipFill rotWithShape="1">
                <a:blip r:embed="rId3"/>
                <a:stretch>
                  <a:fillRect l="-870" t="-3065" r="-3261" b="-80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6948264" y="2195355"/>
                <a:ext cx="18722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smtClean="0">
                          <a:solidFill>
                            <a:schemeClr val="accent4">
                              <a:lumMod val="25000"/>
                            </a:schemeClr>
                          </a:solidFill>
                          <a:latin typeface="Cambria Math"/>
                          <a:ea typeface="Cambria Math"/>
                        </a:rPr>
                        <m:t>𝜔</m:t>
                      </m:r>
                      <m:r>
                        <a:rPr lang="fr-FR" sz="2800" b="0" i="1" smtClean="0">
                          <a:solidFill>
                            <a:schemeClr val="accent4">
                              <a:lumMod val="25000"/>
                            </a:schemeClr>
                          </a:solidFill>
                          <a:latin typeface="Cambria Math"/>
                          <a:ea typeface="Cambria Math"/>
                        </a:rPr>
                        <m:t>=2</m:t>
                      </m:r>
                      <m:r>
                        <a:rPr lang="fr-FR" sz="2800" b="0" i="1" smtClean="0">
                          <a:solidFill>
                            <a:schemeClr val="accent4">
                              <a:lumMod val="25000"/>
                            </a:schemeClr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fr-FR" sz="2800" b="0" i="1" smtClean="0">
                          <a:solidFill>
                            <a:schemeClr val="accent4">
                              <a:lumMod val="25000"/>
                            </a:schemeClr>
                          </a:solidFill>
                          <a:latin typeface="Cambria Math"/>
                          <a:ea typeface="Cambria Math"/>
                        </a:rPr>
                        <m:t>𝑓</m:t>
                      </m:r>
                    </m:oMath>
                  </m:oMathPara>
                </a14:m>
                <a:endParaRPr lang="fr-FR" sz="2800" dirty="0">
                  <a:solidFill>
                    <a:schemeClr val="accent4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2195355"/>
                <a:ext cx="187220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06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827584" y="1134036"/>
            <a:ext cx="7632848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accent6"/>
                </a:solidFill>
              </a:rPr>
              <a:t>Donc d’après ce qui précède ,on distingue deux formules :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051720" y="2088143"/>
            <a:ext cx="0" cy="10528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7020272" y="2088143"/>
            <a:ext cx="0" cy="10528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755576" y="3140968"/>
            <a:ext cx="2592288" cy="1015663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accent6"/>
                </a:solidFill>
              </a:rPr>
              <a:t>Formule pour obtenir la transformée de </a:t>
            </a:r>
            <a:r>
              <a:rPr lang="fr-FR" sz="2000" dirty="0">
                <a:solidFill>
                  <a:schemeClr val="accent6"/>
                </a:solidFill>
              </a:rPr>
              <a:t>F</a:t>
            </a:r>
            <a:r>
              <a:rPr lang="fr-FR" sz="2000" dirty="0" smtClean="0">
                <a:solidFill>
                  <a:schemeClr val="accent6"/>
                </a:solidFill>
              </a:rPr>
              <a:t>ourier.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5724128" y="3140968"/>
            <a:ext cx="2592288" cy="132343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accent6"/>
                </a:solidFill>
              </a:rPr>
              <a:t>Formule pour la transformée inverse de Fourier</a:t>
            </a:r>
            <a:r>
              <a:rPr lang="fr-FR" sz="2000" dirty="0" smtClean="0">
                <a:solidFill>
                  <a:schemeClr val="accent3"/>
                </a:solidFill>
              </a:rPr>
              <a:t>(retour vers la fonction d’origine).</a:t>
            </a:r>
            <a:endParaRPr lang="fr-FR" sz="20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503548" y="4869160"/>
                <a:ext cx="3096344" cy="704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  <m:t>𝒇</m:t>
                          </m:r>
                        </m:e>
                      </m:acc>
                      <m:d>
                        <m:dPr>
                          <m:ctrl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𝝎</m:t>
                          </m:r>
                        </m:e>
                      </m:d>
                      <m:r>
                        <a:rPr lang="fr-FR" b="1" i="1" smtClean="0">
                          <a:solidFill>
                            <a:schemeClr val="accent3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trl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+∞</m:t>
                          </m:r>
                        </m:sup>
                        <m:e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𝒇</m:t>
                          </m:r>
                          <m:d>
                            <m:dPr>
                              <m:ctrlP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𝒕</m:t>
                              </m:r>
                            </m:e>
                          </m:d>
                          <m:sSup>
                            <m:sSupPr>
                              <m:ctrlP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el-G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𝝎</m:t>
                              </m:r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𝒕</m:t>
                              </m:r>
                            </m:sup>
                          </m:sSup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fr-FR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8" y="4869160"/>
                <a:ext cx="3096344" cy="70455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5580112" y="4869160"/>
                <a:ext cx="3096344" cy="704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accent3"/>
                          </a:solidFill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fr-FR" b="1" i="1" smtClean="0">
                          <a:solidFill>
                            <a:schemeClr val="accent3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̂"/>
                              <m:ctrlP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</a:rPr>
                                <m:t>𝒇</m:t>
                              </m:r>
                            </m:e>
                          </m:acc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𝝎</m:t>
                          </m:r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  <m:sSup>
                            <m:sSupPr>
                              <m:ctrlP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𝒊</m:t>
                              </m:r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𝝎</m:t>
                              </m:r>
                              <m:r>
                                <a:rPr lang="fr-FR" b="1" i="1" smtClean="0">
                                  <a:solidFill>
                                    <a:schemeClr val="accent3"/>
                                  </a:solidFill>
                                  <a:latin typeface="Cambria Math"/>
                                  <a:ea typeface="Cambria Math"/>
                                </a:rPr>
                                <m:t>𝒕</m:t>
                              </m:r>
                            </m:sup>
                          </m:sSup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𝒅</m:t>
                          </m:r>
                          <m:r>
                            <a:rPr lang="fr-FR" b="1" i="1" smtClean="0">
                              <a:solidFill>
                                <a:schemeClr val="accent3"/>
                              </a:solidFill>
                              <a:latin typeface="Cambria Math"/>
                              <a:ea typeface="Cambria Math"/>
                            </a:rPr>
                            <m:t>𝝎</m:t>
                          </m:r>
                        </m:e>
                      </m:nary>
                    </m:oMath>
                  </m:oMathPara>
                </a14:m>
                <a:endParaRPr lang="fr-FR" b="1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869160"/>
                <a:ext cx="3096344" cy="70455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54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"/>
          <p:cNvSpPr>
            <a:spLocks noGrp="1"/>
          </p:cNvSpPr>
          <p:nvPr>
            <p:ph idx="1"/>
          </p:nvPr>
        </p:nvSpPr>
        <p:spPr>
          <a:xfrm>
            <a:off x="467544" y="548680"/>
            <a:ext cx="8229600" cy="5832648"/>
          </a:xfr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Ce qu’on vient de voir sont des méthodes théoriques et mathématiques pour calculer les Transformées de Fourier.</a:t>
            </a:r>
          </a:p>
          <a:p>
            <a:pPr marL="0" indent="0">
              <a:buNone/>
            </a:pP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Dans le monde informatique , pratiquement , les Données ne sont pas représenté d’une manière analytique .</a:t>
            </a:r>
          </a:p>
          <a:p>
            <a:pPr marL="0" indent="0">
              <a:buNone/>
            </a:pPr>
            <a:endParaRPr lang="fr-FR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Dans ce qui suit , nous allons vous introduire à une méthode simple et efficace qui va nous permettre de calculer la Transformé de Fourier pour des données discrètes.</a:t>
            </a:r>
          </a:p>
          <a:p>
            <a:pPr marL="0" indent="0">
              <a:buNone/>
            </a:pPr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04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  <a:solidFill>
            <a:schemeClr val="accent5"/>
          </a:solidFill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FR" dirty="0" smtClean="0">
                <a:solidFill>
                  <a:schemeClr val="accent4"/>
                </a:solidFill>
              </a:rPr>
              <a:t>La Transformé de Fourier Discrète (DFT).</a:t>
            </a:r>
            <a:endParaRPr lang="fr-F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1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470025"/>
          </a:xfrm>
          <a:solidFill>
            <a:schemeClr val="accent4"/>
          </a:solidFill>
        </p:spPr>
        <p:txBody>
          <a:bodyPr/>
          <a:lstStyle/>
          <a:p>
            <a:r>
              <a:rPr lang="fr-FR" dirty="0" smtClean="0">
                <a:solidFill>
                  <a:schemeClr val="accent5"/>
                </a:solidFill>
              </a:rPr>
              <a:t>Représentation des signaux Dans une machine.</a:t>
            </a:r>
            <a:endParaRPr lang="fr-FR" dirty="0">
              <a:solidFill>
                <a:schemeClr val="accent5"/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683568" y="206084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493204" y="2022835"/>
            <a:ext cx="8229600" cy="4447954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 smtClean="0">
                <a:solidFill>
                  <a:schemeClr val="accent2"/>
                </a:solidFill>
              </a:rPr>
              <a:t>Dans une machine , toutes les données sont représenté sous forme numérique ,même les signaux analogiques .</a:t>
            </a:r>
          </a:p>
          <a:p>
            <a:pPr algn="l"/>
            <a:r>
              <a:rPr lang="fr-FR" dirty="0" smtClean="0">
                <a:solidFill>
                  <a:schemeClr val="accent2"/>
                </a:solidFill>
              </a:rPr>
              <a:t>Pour transformé un signal analogique en un signal numérique il faut procéder par un échantillonnage , et puis une quantification.</a:t>
            </a:r>
          </a:p>
          <a:p>
            <a:pPr algn="l"/>
            <a:r>
              <a:rPr lang="fr-FR" dirty="0" smtClean="0">
                <a:solidFill>
                  <a:schemeClr val="accent2"/>
                </a:solidFill>
              </a:rPr>
              <a:t>Il existe plusieurs types d’échantillonnage et de quantification , dans notre cas nous allons procéder par la façon la plus simple , .</a:t>
            </a:r>
          </a:p>
          <a:p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08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Youness_BEN\Desktop\présentation traitement de signal\audioEch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4322306" cy="2664296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3" name="ZoneTexte 2"/>
          <p:cNvSpPr txBox="1"/>
          <p:nvPr/>
        </p:nvSpPr>
        <p:spPr>
          <a:xfrm>
            <a:off x="251520" y="188640"/>
            <a:ext cx="4394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2"/>
                </a:solidFill>
              </a:rPr>
              <a:t>Soit le signal x[t] représenté de la manière suivante:</a:t>
            </a:r>
            <a:endParaRPr lang="fr-FR" sz="24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4788024" y="1340768"/>
                <a:ext cx="4248472" cy="3543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dirty="0" smtClean="0">
                    <a:solidFill>
                      <a:schemeClr val="accent2"/>
                    </a:solidFill>
                  </a:rPr>
                  <a:t>On collecte tout les x(t) , et on les écrit sous forme de vecteur :</a:t>
                </a:r>
              </a:p>
              <a:p>
                <a:endParaRPr lang="fr-FR" dirty="0"/>
              </a:p>
              <a:p>
                <a:r>
                  <a:rPr lang="fr-FR" sz="2000" b="1" dirty="0" smtClean="0"/>
                  <a:t>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000" b="1" i="1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latin typeface="Cambria Math"/>
                              </a:rPr>
                              <m:t>𝟏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latin typeface="Cambria Math"/>
                              </a:rPr>
                              <m:t>𝟐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latin typeface="Cambria Math"/>
                              </a:rPr>
                              <m:t>𝟑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smtClean="0"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latin typeface="Cambria Math"/>
                              </a:rPr>
                              <m:t>𝟏𝟑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sz="2000" b="1" dirty="0" smtClean="0"/>
                  <a:t>  =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000" b="1" i="1" dirty="0" smtClean="0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 dirty="0" smtClean="0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𝟒</m:t>
                            </m:r>
                          </m:e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𝟓</m:t>
                            </m:r>
                          </m:e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𝟒</m:t>
                            </m:r>
                          </m:e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dirty="0" smtClean="0">
                                <a:latin typeface="Cambria Math"/>
                              </a:rPr>
                              <m:t>𝟑</m:t>
                            </m:r>
                          </m:e>
                        </m:eqArr>
                      </m:e>
                    </m:d>
                  </m:oMath>
                </a14:m>
                <a:endParaRPr lang="fr-FR" sz="2000" b="1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1340768"/>
                <a:ext cx="4248472" cy="3543727"/>
              </a:xfrm>
              <a:prstGeom prst="rect">
                <a:avLst/>
              </a:prstGeom>
              <a:blipFill rotWithShape="1">
                <a:blip r:embed="rId3"/>
                <a:stretch>
                  <a:fillRect l="-2152" t="-13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à coins arrondis 5"/>
          <p:cNvSpPr/>
          <p:nvPr/>
        </p:nvSpPr>
        <p:spPr>
          <a:xfrm>
            <a:off x="5365914" y="2132856"/>
            <a:ext cx="1150302" cy="29523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/>
          <p:cNvCxnSpPr>
            <a:stCxn id="6" idx="2"/>
          </p:cNvCxnSpPr>
          <p:nvPr/>
        </p:nvCxnSpPr>
        <p:spPr>
          <a:xfrm>
            <a:off x="5941065" y="5085184"/>
            <a:ext cx="0" cy="64807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644008" y="5733256"/>
            <a:ext cx="2592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 smtClean="0"/>
              <a:t>Vecteur de Données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6655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457200" y="1714492"/>
            <a:ext cx="8229600" cy="2808311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b="1" dirty="0" smtClean="0">
                <a:solidFill>
                  <a:schemeClr val="accent5"/>
                </a:solidFill>
              </a:rPr>
              <a:t>Notre objectif </a:t>
            </a:r>
            <a:r>
              <a:rPr lang="fr-FR" dirty="0" smtClean="0">
                <a:solidFill>
                  <a:schemeClr val="accent6">
                    <a:lumMod val="75000"/>
                  </a:schemeClr>
                </a:solidFill>
              </a:rPr>
              <a:t>, maintenant , est de trouver une façon de calculer la transformé de Fourier des données discrètes qu’on vient de trouver , au lieu de le faire pour une fonction analytique comme nous l’avons vue dans ce qui précède.</a:t>
            </a:r>
          </a:p>
          <a:p>
            <a:pPr algn="l"/>
            <a:endParaRPr lang="fr-FR" dirty="0" smtClean="0">
              <a:solidFill>
                <a:schemeClr val="accent6">
                  <a:lumMod val="75000"/>
                </a:schemeClr>
              </a:solidFill>
            </a:endParaRPr>
          </a:p>
          <a:p>
            <a:endParaRPr lang="fr-FR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30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Youness_BEN\Desktop\présentation traitement de signal\audioEch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70" y="332656"/>
            <a:ext cx="4322306" cy="2664296"/>
          </a:xfrm>
          <a:prstGeom prst="rect">
            <a:avLst/>
          </a:prstGeom>
          <a:solidFill>
            <a:schemeClr val="accent6"/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4644008" y="392636"/>
                <a:ext cx="4392488" cy="2409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b="1" dirty="0" smtClean="0"/>
                  <a:t>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000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𝟑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𝑿𝒏</m:t>
                            </m:r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endParaRPr lang="fr-FR" sz="1600" b="1" dirty="0"/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92636"/>
                <a:ext cx="4392488" cy="240944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215570" y="3212976"/>
                <a:ext cx="4322306" cy="3562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800" dirty="0" smtClean="0"/>
                  <a:t>On note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FR" sz="2800" b="1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𝑿𝒌</m:t>
                        </m:r>
                      </m:e>
                    </m:acc>
                  </m:oMath>
                </a14:m>
                <a:r>
                  <a:rPr lang="fr-FR" sz="2800" b="1" dirty="0" smtClean="0">
                    <a:solidFill>
                      <a:schemeClr val="accent3"/>
                    </a:solidFill>
                  </a:rPr>
                  <a:t> </a:t>
                </a:r>
                <a:r>
                  <a:rPr lang="fr-FR" sz="2800" dirty="0" smtClean="0"/>
                  <a:t>le k-</a:t>
                </a:r>
                <a:r>
                  <a:rPr lang="fr-FR" sz="2800" dirty="0" err="1" smtClean="0"/>
                  <a:t>ième</a:t>
                </a:r>
                <a:r>
                  <a:rPr lang="fr-FR" sz="2800" dirty="0" smtClean="0"/>
                  <a:t> élément du vecteur contenant les éléments de la transformée de </a:t>
                </a:r>
                <a:r>
                  <a:rPr lang="fr-FR" sz="2800" dirty="0"/>
                  <a:t>F</a:t>
                </a:r>
                <a:r>
                  <a:rPr lang="fr-FR" sz="2800" dirty="0" smtClean="0"/>
                  <a:t>ourier de </a:t>
                </a:r>
                <a14:m>
                  <m:oMath xmlns:m="http://schemas.openxmlformats.org/officeDocument/2006/math">
                    <m:r>
                      <a:rPr lang="fr-FR" sz="2800" b="1" i="1" smtClean="0">
                        <a:solidFill>
                          <a:schemeClr val="accent3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fr-FR" sz="2800" b="1" dirty="0" smtClean="0">
                    <a:solidFill>
                      <a:schemeClr val="accent3"/>
                    </a:solidFill>
                  </a:rPr>
                  <a:t> </a:t>
                </a:r>
                <a:r>
                  <a:rPr lang="fr-FR" sz="2800" dirty="0" smtClean="0"/>
                  <a:t>.</a:t>
                </a:r>
              </a:p>
              <a:p>
                <a:r>
                  <a:rPr lang="fr-FR" sz="2800" dirty="0" smtClean="0"/>
                  <a:t>La transformé de </a:t>
                </a:r>
                <a:r>
                  <a:rPr lang="fr-FR" sz="2800" dirty="0"/>
                  <a:t>F</a:t>
                </a:r>
                <a:r>
                  <a:rPr lang="fr-FR" sz="2800" dirty="0" smtClean="0"/>
                  <a:t>ourier de </a:t>
                </a:r>
                <a14:m>
                  <m:oMath xmlns:m="http://schemas.openxmlformats.org/officeDocument/2006/math">
                    <m:r>
                      <a:rPr lang="fr-FR" sz="2800" b="1" i="1" smtClean="0">
                        <a:solidFill>
                          <a:schemeClr val="accent3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fr-FR" sz="2800" dirty="0" smtClean="0">
                    <a:solidFill>
                      <a:schemeClr val="accent3"/>
                    </a:solidFill>
                  </a:rPr>
                  <a:t> peut </a:t>
                </a:r>
                <a:r>
                  <a:rPr lang="fr-FR" sz="2800" dirty="0" smtClean="0"/>
                  <a:t>s’écrire donc de la manière suivante :</a:t>
                </a:r>
                <a:endParaRPr lang="fr-FR" sz="2800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70" y="3212976"/>
                <a:ext cx="4322306" cy="3562450"/>
              </a:xfrm>
              <a:prstGeom prst="rect">
                <a:avLst/>
              </a:prstGeom>
              <a:blipFill rotWithShape="1">
                <a:blip r:embed="rId4"/>
                <a:stretch>
                  <a:fillRect l="-2821" t="-856" r="-4372" b="-39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4644008" y="3386161"/>
                <a:ext cx="1800200" cy="2955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b="1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400" b="1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̂"/>
                                  <m:ctrlP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𝟎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𝟑</m:t>
                                  </m:r>
                                </m:e>
                              </m:acc>
                            </m:e>
                            <m:e>
                              <m:r>
                                <a:rPr lang="fr-FR" sz="2400" b="1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.</m:t>
                              </m:r>
                            </m:e>
                            <m:e>
                              <m:r>
                                <a:rPr lang="fr-FR" sz="2400" b="1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.</m:t>
                              </m:r>
                            </m:e>
                            <m:e>
                              <m:r>
                                <a:rPr lang="fr-FR" sz="2400" b="1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.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sz="2400" b="1" i="1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𝑿</m:t>
                                  </m:r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fr-FR" sz="2400" b="1" i="1" smtClean="0">
                                      <a:solidFill>
                                        <a:schemeClr val="accent6"/>
                                      </a:solidFill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386161"/>
                <a:ext cx="1800200" cy="295568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à coins arrondis 6"/>
          <p:cNvSpPr/>
          <p:nvPr/>
        </p:nvSpPr>
        <p:spPr>
          <a:xfrm>
            <a:off x="5040052" y="5157192"/>
            <a:ext cx="1008112" cy="46457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avec flèche 10"/>
          <p:cNvCxnSpPr>
            <a:stCxn id="7" idx="0"/>
            <a:endCxn id="14" idx="2"/>
          </p:cNvCxnSpPr>
          <p:nvPr/>
        </p:nvCxnSpPr>
        <p:spPr>
          <a:xfrm flipV="1">
            <a:off x="5544108" y="3413720"/>
            <a:ext cx="1807154" cy="174347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5558523" y="2802142"/>
                <a:ext cx="3585477" cy="61157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b="1" i="1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FR" sz="2800" b="1" i="1">
                            <a:solidFill>
                              <a:schemeClr val="accent4"/>
                            </a:solidFill>
                            <a:latin typeface="Cambria Math"/>
                          </a:rPr>
                          <m:t>𝑿𝒌</m:t>
                        </m:r>
                      </m:e>
                    </m:acc>
                  </m:oMath>
                </a14:m>
                <a:r>
                  <a:rPr lang="fr-FR" sz="2800" b="1" dirty="0" smtClean="0">
                    <a:solidFill>
                      <a:schemeClr val="accent4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FR" sz="28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8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  <m:t>𝒋</m:t>
                        </m:r>
                        <m:r>
                          <a:rPr lang="fr-FR" sz="28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fr-FR" sz="28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fr-FR" sz="28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fr-FR" sz="28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fr-FR" sz="28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  <m:t>𝟏</m:t>
                        </m:r>
                      </m:sup>
                      <m:e>
                        <m:sSub>
                          <m:sSubPr>
                            <m:ctrlP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  <m:sSup>
                          <m:sSupPr>
                            <m:ctrlP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  <a:ea typeface="Cambria Math"/>
                              </a:rPr>
                              <m:t>𝝅</m:t>
                            </m:r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  <a:ea typeface="Cambria Math"/>
                              </a:rPr>
                              <m:t>𝒋𝒌</m:t>
                            </m:r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  <a:ea typeface="Cambria Math"/>
                              </a:rPr>
                              <m:t>/</m:t>
                            </m:r>
                            <m:r>
                              <a:rPr lang="fr-FR" sz="28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</m:sup>
                        </m:sSup>
                      </m:e>
                    </m:nary>
                  </m:oMath>
                </a14:m>
                <a:endParaRPr lang="fr-FR" sz="28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8523" y="2802142"/>
                <a:ext cx="3585477" cy="611578"/>
              </a:xfrm>
              <a:prstGeom prst="rect">
                <a:avLst/>
              </a:prstGeom>
              <a:blipFill rotWithShape="1">
                <a:blip r:embed="rId6"/>
                <a:stretch>
                  <a:fillRect t="-3000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ZoneTexte 18"/>
          <p:cNvSpPr txBox="1"/>
          <p:nvPr/>
        </p:nvSpPr>
        <p:spPr>
          <a:xfrm>
            <a:off x="6073120" y="1341638"/>
            <a:ext cx="2556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6"/>
                </a:solidFill>
              </a:rPr>
              <a:t>(</a:t>
            </a:r>
            <a:r>
              <a:rPr lang="fr-FR" b="1" dirty="0"/>
              <a:t>Données collecté après échantillonnage)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049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  <p:bldP spid="4" grpId="0"/>
      <p:bldP spid="7" grpId="0" animBg="1"/>
      <p:bldP spid="14" grpId="0" animBg="1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75807" y="404664"/>
            <a:ext cx="720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3"/>
                </a:solidFill>
              </a:rPr>
              <a:t>Pour le passage entre les deux domaines  , fréquentiel et temporel , on utilise </a:t>
            </a:r>
            <a:r>
              <a:rPr lang="fr-FR" sz="2400" dirty="0">
                <a:solidFill>
                  <a:schemeClr val="accent3"/>
                </a:solidFill>
              </a:rPr>
              <a:t>c</a:t>
            </a:r>
            <a:r>
              <a:rPr lang="fr-FR" sz="2400" dirty="0" smtClean="0">
                <a:solidFill>
                  <a:schemeClr val="accent3"/>
                </a:solidFill>
              </a:rPr>
              <a:t>es formules :</a:t>
            </a:r>
            <a:endParaRPr lang="fr-FR" sz="2400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1186320" y="2632209"/>
                <a:ext cx="7130096" cy="2239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  <m:e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e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𝟑</m:t>
                            </m:r>
                          </m:e>
                          <m:e>
                            <m:r>
                              <a:rPr lang="fr-FR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𝑿𝒏</m:t>
                            </m:r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b="1" dirty="0" smtClean="0">
                    <a:solidFill>
                      <a:schemeClr val="accent6"/>
                    </a:solidFill>
                  </a:rPr>
                  <a:t>                                                           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b="1" i="1" smtClean="0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b="1" i="1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acc>
                              <m:accPr>
                                <m:chr m:val="̂"/>
                                <m:ctrlP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b="1" i="1" smtClean="0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b="1" i="1" smtClean="0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b="1" i="1" smtClean="0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b="1" i="1" smtClean="0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acc>
                          </m:e>
                          <m:e>
                            <m:r>
                              <a:rPr lang="fr-FR" b="1" i="1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b="1" i="1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r>
                              <a:rPr lang="fr-FR" b="1" i="1">
                                <a:solidFill>
                                  <a:schemeClr val="accent5"/>
                                </a:solidFill>
                                <a:latin typeface="Cambria Math"/>
                              </a:rPr>
                              <m:t>.</m:t>
                            </m:r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b="1" i="1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𝑿𝒏</m:t>
                                </m:r>
                                <m:r>
                                  <a:rPr lang="fr-FR" b="1" i="1" smtClean="0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fr-FR" b="1" i="1" smtClean="0">
                                    <a:solidFill>
                                      <a:schemeClr val="accent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acc>
                          </m:e>
                        </m:eqAr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320" y="2632209"/>
                <a:ext cx="7130096" cy="223901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eur droit avec flèche 5"/>
          <p:cNvCxnSpPr/>
          <p:nvPr/>
        </p:nvCxnSpPr>
        <p:spPr>
          <a:xfrm>
            <a:off x="2338448" y="3102928"/>
            <a:ext cx="4897848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>
            <a:off x="2411760" y="4382981"/>
            <a:ext cx="4824536" cy="0"/>
          </a:xfrm>
          <a:prstGeom prst="straightConnector1">
            <a:avLst/>
          </a:prstGeom>
          <a:ln w="28575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2807804" y="1638390"/>
                <a:ext cx="3816424" cy="1369542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fr-FR" sz="2800" b="1" i="1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𝑿𝒌</m:t>
                          </m:r>
                        </m:e>
                      </m:acc>
                      <m:r>
                        <a:rPr lang="fr-FR" sz="2800" b="1" i="0" smtClean="0">
                          <a:solidFill>
                            <a:schemeClr val="accent4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𝒋</m:t>
                          </m:r>
                          <m: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  <m:sup>
                          <m: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𝟏</m:t>
                          </m:r>
                        </m:sup>
                        <m:e>
                          <m:r>
                            <a:rPr lang="fr-FR" sz="2800" b="1" i="1" dirty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𝑿𝒋</m:t>
                          </m:r>
                          <m:sSup>
                            <m:sSupPr>
                              <m:ctrlPr>
                                <a:rPr lang="fr-FR" sz="2800" b="1" i="1" dirty="0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fr-FR" sz="2800" b="1" i="1" dirty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fr-FR" sz="2800" b="1" i="1" dirty="0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sz="2800" b="1" i="1" dirty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fr-FR" sz="2800" b="1" i="1" dirty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fr-FR" sz="2800" b="1" i="1" dirty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  <m:r>
                                    <a:rPr lang="fr-FR" sz="2800" b="1" i="1" dirty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𝝅</m:t>
                                  </m:r>
                                  <m:r>
                                    <a:rPr lang="fr-FR" sz="2800" b="1" i="1" dirty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𝒋𝒌</m:t>
                                  </m:r>
                                </m:num>
                                <m:den>
                                  <m:r>
                                    <a:rPr lang="fr-FR" sz="2800" b="1" i="1" dirty="0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𝒏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fr-FR" sz="2800" b="1" dirty="0" smtClean="0">
                  <a:solidFill>
                    <a:schemeClr val="accent4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804" y="1638390"/>
                <a:ext cx="3816424" cy="136954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2807804" y="4618678"/>
                <a:ext cx="3816424" cy="1479508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1" smtClean="0">
                          <a:solidFill>
                            <a:schemeClr val="accent4"/>
                          </a:solidFill>
                          <a:latin typeface="Cambria Math"/>
                        </a:rPr>
                        <m:t>𝑿𝒌</m:t>
                      </m:r>
                      <m:r>
                        <a:rPr lang="fr-FR" sz="2800" b="1" i="1" smtClean="0">
                          <a:solidFill>
                            <a:schemeClr val="accent4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𝒏</m:t>
                          </m:r>
                        </m:den>
                      </m:f>
                      <m:d>
                        <m:dPr>
                          <m:ctrlPr>
                            <a:rPr lang="fr-FR" sz="2800" b="1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𝒋</m:t>
                              </m:r>
                              <m: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p>
                            <m:e>
                              <m:acc>
                                <m:accPr>
                                  <m:chr m:val="̂"/>
                                  <m:ctrlP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𝑿𝒋</m:t>
                                  </m:r>
                                </m:e>
                              </m:acc>
                            </m:e>
                          </m:nary>
                          <m:sSup>
                            <m:sSupPr>
                              <m:ctrlP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fr-FR" sz="2800" b="1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𝟐</m:t>
                                  </m:r>
                                  <m: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𝝅</m:t>
                                  </m:r>
                                  <m: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𝒋𝒌</m:t>
                                  </m:r>
                                </m:num>
                                <m:den>
                                  <m:r>
                                    <a:rPr lang="fr-FR" sz="2800" b="1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fr-FR" sz="2800" b="1" dirty="0" smtClean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804" y="4618678"/>
                <a:ext cx="3816424" cy="147950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à coins arrondis 11"/>
          <p:cNvSpPr/>
          <p:nvPr/>
        </p:nvSpPr>
        <p:spPr>
          <a:xfrm>
            <a:off x="5112060" y="1916832"/>
            <a:ext cx="792088" cy="71537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avec flèche 15"/>
          <p:cNvCxnSpPr/>
          <p:nvPr/>
        </p:nvCxnSpPr>
        <p:spPr>
          <a:xfrm>
            <a:off x="5904148" y="2172903"/>
            <a:ext cx="972108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6740939" y="1591550"/>
                <a:ext cx="2051720" cy="73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800" b="1" i="1" dirty="0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fr-FR" sz="2800" b="1" i="1" dirty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𝒆</m:t>
                          </m:r>
                        </m:e>
                        <m:sup>
                          <m:f>
                            <m:fPr>
                              <m:ctrlPr>
                                <a:rPr lang="fr-FR" sz="2800" b="1" i="1" dirty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fr-FR" sz="2800" b="1" i="1" dirty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fr-FR" sz="2800" b="1" i="1" dirty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lang="fr-FR" sz="2800" b="1" i="1" dirty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𝟐</m:t>
                              </m:r>
                              <m:r>
                                <a:rPr lang="fr-FR" sz="2800" b="1" i="1" dirty="0">
                                  <a:solidFill>
                                    <a:schemeClr val="accent6"/>
                                  </a:solidFill>
                                  <a:latin typeface="Cambria Math"/>
                                  <a:ea typeface="Cambria Math"/>
                                </a:rPr>
                                <m:t>𝝅</m:t>
                              </m:r>
                            </m:num>
                            <m:den>
                              <m:r>
                                <a:rPr lang="fr-FR" sz="2800" b="1" i="1" dirty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den>
                          </m:f>
                        </m:sup>
                      </m:sSup>
                      <m:r>
                        <a:rPr lang="fr-FR" sz="2800" b="1" i="1" dirty="0" smtClean="0">
                          <a:solidFill>
                            <a:schemeClr val="accent6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fr-FR" sz="2800" b="1" i="1" dirty="0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fr-FR" sz="2800" b="1" i="1" dirty="0" smtClean="0">
                              <a:solidFill>
                                <a:schemeClr val="accent6"/>
                              </a:solidFill>
                              <a:latin typeface="Cambria Math"/>
                              <a:ea typeface="Cambria Math"/>
                            </a:rPr>
                            <m:t>𝝎</m:t>
                          </m:r>
                        </m:e>
                        <m:sub>
                          <m:r>
                            <a:rPr lang="fr-FR" sz="2800" b="1" i="1" dirty="0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  <m:sup/>
                      </m:sSubSup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0939" y="1591550"/>
                <a:ext cx="2051720" cy="73161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04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ce réservé du contenu 2"/>
              <p:cNvSpPr txBox="1">
                <a:spLocks/>
              </p:cNvSpPr>
              <p:nvPr/>
            </p:nvSpPr>
            <p:spPr>
              <a:xfrm>
                <a:off x="457200" y="310336"/>
                <a:ext cx="8229600" cy="6215008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tint val="66000"/>
                      <a:satMod val="160000"/>
                    </a:schemeClr>
                  </a:gs>
                  <a:gs pos="50000">
                    <a:schemeClr val="bg1">
                      <a:tint val="44500"/>
                      <a:satMod val="160000"/>
                    </a:schemeClr>
                  </a:gs>
                  <a:gs pos="100000">
                    <a:schemeClr val="bg1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lang="fr-FR" b="1" i="1" dirty="0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  <m:t>𝒆</m:t>
                        </m:r>
                      </m:e>
                      <m:sup>
                        <m:f>
                          <m:fPr>
                            <m:ctrlP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  <a:ea typeface="Cambria Math"/>
                              </a:rPr>
                              <m:t>𝝅</m:t>
                            </m:r>
                          </m:num>
                          <m:den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𝒏</m:t>
                            </m:r>
                          </m:den>
                        </m:f>
                      </m:sup>
                    </m:sSup>
                    <m:r>
                      <a:rPr lang="fr-FR" b="1" i="1" dirty="0">
                        <a:solidFill>
                          <a:schemeClr val="accent6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  <a:ea typeface="Cambria Math"/>
                          </a:rPr>
                          <m:t>𝝎</m:t>
                        </m:r>
                      </m:e>
                      <m:sub>
                        <m: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  <m:t>𝒏</m:t>
                        </m:r>
                      </m:sub>
                      <m:sup/>
                    </m:sSubSup>
                  </m:oMath>
                </a14:m>
                <a:r>
                  <a:rPr lang="fr-FR" dirty="0" smtClean="0"/>
                  <a:t> </a:t>
                </a:r>
                <a:r>
                  <a:rPr lang="fr-FR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est le fondamental , on peut donc écrire les harmoniques sous formes de puissances du</a:t>
                </a:r>
                <a:r>
                  <a:rPr lang="fr-FR" dirty="0" smtClean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  <a:ea typeface="Cambria Math"/>
                          </a:rPr>
                          <m:t>𝝎</m:t>
                        </m:r>
                      </m:e>
                      <m:sub>
                        <m: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  <m:t>𝒏</m:t>
                        </m:r>
                      </m:sub>
                      <m:sup/>
                    </m:sSubSup>
                  </m:oMath>
                </a14:m>
                <a:r>
                  <a:rPr lang="fr-FR" dirty="0"/>
                  <a:t> </a:t>
                </a:r>
                <a:r>
                  <a:rPr lang="fr-FR" dirty="0" smtClean="0"/>
                  <a:t> .</a:t>
                </a:r>
              </a:p>
              <a:p>
                <a:pPr algn="l"/>
                <a:r>
                  <a:rPr lang="fr-FR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Exemple :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1" i="1" dirty="0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  <m:t>𝒆</m:t>
                        </m:r>
                      </m:e>
                      <m:sup>
                        <m:f>
                          <m:fPr>
                            <m:ctrlP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𝟐</m:t>
                            </m:r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  <a:ea typeface="Cambria Math"/>
                              </a:rPr>
                              <m:t>𝝅</m:t>
                            </m:r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  <a:ea typeface="Cambria Math"/>
                              </a:rPr>
                              <m:t>𝒋𝒌</m:t>
                            </m:r>
                          </m:num>
                          <m:den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𝒏</m:t>
                            </m:r>
                          </m:den>
                        </m:f>
                      </m:sup>
                    </m:sSup>
                    <m:r>
                      <a:rPr lang="fr-FR" b="1" i="1" dirty="0" smtClean="0">
                        <a:solidFill>
                          <a:schemeClr val="accent6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fr-FR" b="1" i="1" dirty="0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  <a:ea typeface="Cambria Math"/>
                              </a:rPr>
                              <m:t>𝝎</m:t>
                            </m:r>
                          </m:e>
                          <m:sub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𝒏</m:t>
                            </m:r>
                          </m:sub>
                          <m:sup/>
                        </m:sSubSup>
                      </m:e>
                      <m:sup>
                        <m:r>
                          <a:rPr lang="fr-FR" b="1" i="1" dirty="0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  <m:t>𝒋𝒌</m:t>
                        </m:r>
                      </m:sup>
                    </m:sSup>
                  </m:oMath>
                </a14:m>
                <a:r>
                  <a:rPr lang="fr-FR" dirty="0" smtClean="0"/>
                  <a:t>.</a:t>
                </a:r>
              </a:p>
              <a:p>
                <a:pPr algn="l"/>
                <a:r>
                  <a:rPr lang="fr-FR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Notre somme devient alors : </a:t>
                </a:r>
              </a:p>
              <a:p>
                <a:pPr algn="l"/>
                <a:r>
                  <a:rPr lang="fr-FR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𝑿𝒌</m:t>
                        </m:r>
                      </m:e>
                    </m:acc>
                    <m:r>
                      <a:rPr lang="fr-FR" b="1">
                        <a:solidFill>
                          <a:schemeClr val="accent6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𝒋</m:t>
                        </m:r>
                        <m: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fr-FR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  <m:t>𝟏</m:t>
                        </m:r>
                      </m:sup>
                      <m:e>
                        <m:sSub>
                          <m:sSubPr>
                            <m:ctrlP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fr-FR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  <m:sSup>
                          <m:sSupPr>
                            <m:ctrlP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b="1" i="1" dirty="0">
                                    <a:solidFill>
                                      <a:schemeClr val="accent6"/>
                                    </a:solidFill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fr-FR" b="1" i="1" dirty="0">
                                    <a:solidFill>
                                      <a:schemeClr val="accent6"/>
                                    </a:solidFill>
                                    <a:latin typeface="Cambria Math"/>
                                    <a:ea typeface="Cambria Math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fr-FR" b="1" i="1" dirty="0">
                                    <a:solidFill>
                                      <a:schemeClr val="accent6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sub>
                              <m:sup/>
                            </m:sSubSup>
                          </m:e>
                          <m:sup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𝒋𝒌</m:t>
                            </m:r>
                          </m:sup>
                        </m:sSup>
                      </m:e>
                    </m:nary>
                  </m:oMath>
                </a14:m>
                <a:endParaRPr lang="fr-FR" b="1" dirty="0">
                  <a:solidFill>
                    <a:schemeClr val="accent4"/>
                  </a:solidFill>
                  <a:ea typeface="Cambria Math"/>
                </a:endParaRPr>
              </a:p>
              <a:p>
                <a:pPr algn="l"/>
                <a:r>
                  <a:rPr lang="fr-FR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On peut arranger les</a:t>
                </a:r>
                <a14:m>
                  <m:oMath xmlns:m="http://schemas.openxmlformats.org/officeDocument/2006/math">
                    <m:r>
                      <a:rPr lang="fr-FR" b="0" i="0" dirty="0" smtClean="0">
                        <a:solidFill>
                          <a:schemeClr val="accent6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  <a:ea typeface="Cambria Math"/>
                              </a:rPr>
                              <m:t>𝝎</m:t>
                            </m:r>
                          </m:e>
                          <m:sub>
                            <m:r>
                              <a:rPr lang="fr-FR" b="1" i="1" dirty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𝒏</m:t>
                            </m:r>
                          </m:sub>
                          <m:sup/>
                        </m:sSubSup>
                      </m:e>
                      <m:sup>
                        <m:r>
                          <a:rPr lang="fr-FR" b="1" i="1" dirty="0">
                            <a:solidFill>
                              <a:schemeClr val="accent6"/>
                            </a:solidFill>
                            <a:latin typeface="Cambria Math"/>
                          </a:rPr>
                          <m:t>𝒋𝒌</m:t>
                        </m:r>
                      </m:sup>
                    </m:sSup>
                  </m:oMath>
                </a14:m>
                <a:r>
                  <a:rPr lang="fr-FR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dans une matrice où</a:t>
                </a:r>
                <a:r>
                  <a:rPr lang="fr-FR" dirty="0" smtClean="0"/>
                  <a:t> </a:t>
                </a:r>
                <a:r>
                  <a:rPr lang="fr-FR" dirty="0">
                    <a:solidFill>
                      <a:schemeClr val="accent6"/>
                    </a:solidFill>
                  </a:rPr>
                  <a:t>k</a:t>
                </a:r>
                <a:r>
                  <a:rPr lang="fr-FR" dirty="0" smtClean="0"/>
                  <a:t> </a:t>
                </a:r>
                <a:r>
                  <a:rPr lang="fr-FR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est le nombre des lignes  et </a:t>
                </a:r>
                <a:r>
                  <a:rPr lang="fr-FR" dirty="0">
                    <a:solidFill>
                      <a:schemeClr val="accent6"/>
                    </a:solidFill>
                  </a:rPr>
                  <a:t>j</a:t>
                </a:r>
                <a:r>
                  <a:rPr lang="fr-FR" dirty="0" smtClean="0"/>
                  <a:t> </a:t>
                </a:r>
                <a:r>
                  <a:rPr lang="fr-FR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le nombre des colonnes .</a:t>
                </a:r>
                <a:endParaRPr lang="fr-FR" dirty="0">
                  <a:solidFill>
                    <a:schemeClr val="accent4">
                      <a:lumMod val="25000"/>
                    </a:schemeClr>
                  </a:solidFill>
                </a:endParaRPr>
              </a:p>
              <a:p>
                <a:pPr algn="l"/>
                <a:endParaRPr lang="fr-FR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endParaRPr lang="fr-FR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Espace réservé du contenu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10336"/>
                <a:ext cx="8229600" cy="621500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40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ace réservé du contenu 2"/>
              <p:cNvSpPr txBox="1">
                <a:spLocks/>
              </p:cNvSpPr>
              <p:nvPr/>
            </p:nvSpPr>
            <p:spPr>
              <a:xfrm>
                <a:off x="468259" y="1268760"/>
                <a:ext cx="8229600" cy="2110552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tint val="66000"/>
                      <a:satMod val="160000"/>
                    </a:schemeClr>
                  </a:gs>
                  <a:gs pos="50000">
                    <a:schemeClr val="bg1">
                      <a:tint val="44500"/>
                      <a:satMod val="160000"/>
                    </a:schemeClr>
                  </a:gs>
                  <a:gs pos="100000">
                    <a:schemeClr val="bg1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sz="24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240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sz="24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  <m: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                   </m:t>
                                      </m:r>
                                    </m:e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1              </m:t>
                                      </m:r>
                                    </m:e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1                    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</m:sub>
                                        <m:sup/>
                                      </m:sSubSup>
                                      <m:r>
                                        <a:rPr lang="fr-FR" sz="2400" b="0" i="1" dirty="0" smtClean="0">
                                          <a:solidFill>
                                            <a:schemeClr val="accent6"/>
                                          </a:solidFill>
                                          <a:latin typeface="Cambria Math"/>
                                        </a:rPr>
                                        <m:t>             </m:t>
                                      </m:r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𝝎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𝒏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  <m:sup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1                     </m:t>
                                      </m:r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𝝎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𝒏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  <m:sup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  <m:r>
                                        <a:rPr lang="fr-FR" sz="2400" b="0" i="1" dirty="0" smtClean="0">
                                          <a:solidFill>
                                            <a:schemeClr val="accent6"/>
                                          </a:solidFill>
                                          <a:latin typeface="Cambria Math"/>
                                        </a:rPr>
                                        <m:t>           </m:t>
                                      </m:r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𝝎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𝒏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  <m:sup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𝟒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fr-FR" sz="24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sz="24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𝝎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𝒏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  <m:sup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𝝎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𝒏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  <m:sup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𝟐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fr-FR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  </m:t>
                                </m:r>
                                <m:r>
                                  <a:rPr lang="fr-FR" sz="24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fr-FR" sz="24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fr-FR" sz="24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fr-FR" sz="2400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fr-FR" sz="2400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/>
                                        </a:rPr>
                                        <m:t>      1</m:t>
                                      </m:r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sz="2400" b="1" i="1" dirty="0" smtClean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               </m:t>
                                              </m:r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𝝎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𝒏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  <m:sup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</m:sup>
                                      </m:sSup>
                                    </m:e>
                                    <m:e>
                                      <m:sSup>
                                        <m:sSupPr>
                                          <m:ctrlPr>
                                            <a:rPr lang="fr-FR" sz="2400" b="1" i="1" dirty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sz="2400" b="1" i="1" dirty="0" smtClean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       </m:t>
                                              </m:r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𝝎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sz="2400" b="1" i="1" dirty="0">
                                                  <a:solidFill>
                                                    <a:schemeClr val="accent6"/>
                                                  </a:solidFill>
                                                  <a:latin typeface="Cambria Math"/>
                                                </a:rPr>
                                                <m:t>𝒏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  <m:sup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𝟐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(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𝒏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𝟏</m:t>
                                          </m:r>
                                          <m:r>
                                            <a:rPr lang="fr-FR" sz="2400" b="1" i="1" dirty="0" smtClean="0">
                                              <a:solidFill>
                                                <a:schemeClr val="accent6"/>
                                              </a:solidFill>
                                              <a:latin typeface="Cambria Math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fr-FR" sz="240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fr-FR" sz="2400" b="1" i="1" dirty="0" smtClean="0">
                                        <a:solidFill>
                                          <a:schemeClr val="accent6"/>
                                        </a:solidFill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fr-FR" sz="2400" b="1" i="1" dirty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fr-FR" sz="2400" b="1" i="1" dirty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fr-FR" sz="2400" b="1" i="1" dirty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  <m:t>𝒏</m:t>
                                        </m:r>
                                      </m:sub>
                                      <m:sup/>
                                    </m:sSubSup>
                                  </m:e>
                                  <m:sup>
                                    <m:sSup>
                                      <m:sSupPr>
                                        <m:ctrlPr>
                                          <a:rPr lang="fr-FR" sz="2400" b="1" i="1" dirty="0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2400" b="1" i="1" dirty="0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lang="fr-FR" sz="2400" b="1" i="1" dirty="0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  <m:t>𝒏</m:t>
                                        </m:r>
                                        <m:r>
                                          <a:rPr lang="fr-FR" sz="2400" b="1" i="1" dirty="0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fr-FR" sz="2400" b="1" i="1" dirty="0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  <m:r>
                                          <a:rPr lang="fr-FR" sz="2400" b="1" i="1" dirty="0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fr-FR" sz="2400" b="1" i="1" dirty="0" smtClean="0">
                                            <a:solidFill>
                                              <a:schemeClr val="accent6"/>
                                            </a:solidFill>
                                            <a:latin typeface="Cambria Math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Espace réservé du contenu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59" y="1268760"/>
                <a:ext cx="8229600" cy="211055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ZoneTexte 1"/>
          <p:cNvSpPr txBox="1"/>
          <p:nvPr/>
        </p:nvSpPr>
        <p:spPr>
          <a:xfrm>
            <a:off x="457200" y="4149080"/>
            <a:ext cx="822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>
                <a:solidFill>
                  <a:schemeClr val="accent4">
                    <a:lumMod val="25000"/>
                  </a:schemeClr>
                </a:solidFill>
              </a:rPr>
              <a:t>Pour calculer la transformé de Fourier d’un vecteur de données , il suffit maintenant de multiplier cette matrice par ce vecteur .  </a:t>
            </a:r>
            <a:endParaRPr lang="fr-FR" sz="3600" dirty="0">
              <a:solidFill>
                <a:schemeClr val="accent4">
                  <a:lumMod val="25000"/>
                </a:schemeClr>
              </a:solidFill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457200" y="332656"/>
            <a:ext cx="8147248" cy="58477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3200" dirty="0" smtClean="0">
                <a:solidFill>
                  <a:schemeClr val="accent4"/>
                </a:solidFill>
              </a:rPr>
              <a:t>Matrice DFT</a:t>
            </a:r>
            <a:endParaRPr lang="fr-FR" sz="3200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1331640" y="2420888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fr-FR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2420888"/>
                <a:ext cx="576064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5004048" y="2398564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fr-FR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2398564"/>
                <a:ext cx="576064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6084168" y="1268760"/>
                <a:ext cx="432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fr-FR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1268760"/>
                <a:ext cx="432048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6084168" y="1936899"/>
                <a:ext cx="432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fr-FR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1936899"/>
                <a:ext cx="432048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6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83208" y="1002040"/>
                <a:ext cx="8424936" cy="168206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000" b="1" i="1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fr-FR" sz="2000" b="1" i="1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fr-FR" sz="2000" b="1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                   </m:t>
                                    </m:r>
                                  </m:e>
                                  <m:e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             </m:t>
                                    </m:r>
                                  </m:e>
                                  <m:e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                   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  <a:ea typeface="Cambria Math"/>
                                          </a:rPr>
                                          <m:t>𝝎</m:t>
                                        </m:r>
                                      </m:e>
                                      <m:sub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𝒏</m:t>
                                        </m:r>
                                      </m:sub>
                                      <m:sup/>
                                    </m:sSubSup>
                                    <m:r>
                                      <a:rPr lang="fr-FR" sz="2000" b="1" i="1" dirty="0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            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𝝎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𝒏</m:t>
                                            </m:r>
                                          </m:sub>
                                          <m:sup/>
                                        </m:sSubSup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mr>
                                <m:mr>
                                  <m:e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                    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𝝎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𝒏</m:t>
                                            </m:r>
                                          </m:sub>
                                          <m:sup/>
                                        </m:sSubSup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fr-FR" sz="2000" b="1" i="1" dirty="0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          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𝝎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𝒏</m:t>
                                            </m:r>
                                          </m:sub>
                                          <m:sup/>
                                        </m:sSubSup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𝟒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  <m:e>
                              <m:r>
                                <a:rPr lang="fr-FR" sz="2000" b="1" i="1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fr-FR" sz="2000" b="1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𝝎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𝒏</m:t>
                                            </m:r>
                                          </m:sub>
                                          <m:sup/>
                                        </m:sSubSup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𝒏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e>
                                </m:m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𝝎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𝒏</m:t>
                                            </m:r>
                                          </m:sub>
                                          <m:sup/>
                                        </m:sSubSup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𝟐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𝒏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fr-FR" sz="2000" b="1" i="1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  ⋮</m:t>
                              </m:r>
                            </m:e>
                            <m:e>
                              <m:r>
                                <a:rPr lang="fr-FR" sz="2000" b="1" i="1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⋱</m:t>
                              </m:r>
                            </m:e>
                            <m:e>
                              <m:r>
                                <a:rPr lang="fr-FR" sz="2000" b="1" i="1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fr-FR" sz="2000" b="1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      </m:t>
                                    </m:r>
                                    <m:r>
                                      <a:rPr lang="fr-FR" sz="2000" b="1" i="1">
                                        <a:solidFill>
                                          <a:schemeClr val="accent4"/>
                                        </a:solidFill>
                                        <a:latin typeface="Cambria Math"/>
                                      </a:rPr>
                                      <m:t>𝟏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               </m:t>
                                            </m:r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𝝎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𝒏</m:t>
                                            </m:r>
                                          </m:sub>
                                          <m:sup/>
                                        </m:sSubSup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𝒏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       </m:t>
                                            </m:r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  <a:ea typeface="Cambria Math"/>
                                              </a:rPr>
                                              <m:t>𝝎</m:t>
                                            </m:r>
                                          </m:e>
                                          <m:sub>
                                            <m:r>
                                              <a:rPr lang="fr-FR" sz="2000" b="1" i="1" dirty="0">
                                                <a:solidFill>
                                                  <a:schemeClr val="accent4"/>
                                                </a:solidFill>
                                                <a:latin typeface="Cambria Math"/>
                                              </a:rPr>
                                              <m:t>𝒏</m:t>
                                            </m:r>
                                          </m:sub>
                                          <m:sup/>
                                        </m:sSubSup>
                                      </m:e>
                                      <m:sup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𝟐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(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𝒏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𝟏</m:t>
                                        </m:r>
                                        <m:r>
                                          <a:rPr lang="fr-FR" sz="2000" b="1" i="1" dirty="0">
                                            <a:solidFill>
                                              <a:schemeClr val="accent4"/>
                                            </a:solidFill>
                                            <a:latin typeface="Cambria Math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  <m:e>
                              <m:r>
                                <a:rPr lang="fr-FR" sz="2000" b="1" i="1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fr-FR" sz="2000" b="1" i="1" dirty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𝝎</m:t>
                                      </m:r>
                                    </m:e>
                                    <m:sub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</m:sub>
                                    <m:sup/>
                                  </m:sSubSup>
                                </m:e>
                                <m:sup>
                                  <m:sSup>
                                    <m:sSupPr>
                                      <m:ctrlP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  <m:t>𝒏</m:t>
                                      </m:r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  <m:t>𝟏</m:t>
                                      </m:r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fr-FR" sz="2000" b="1" i="1" dirty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fr-FR" sz="2000" b="1" i="1" dirty="0" smtClean="0">
                        <a:solidFill>
                          <a:schemeClr val="accent4"/>
                        </a:solidFill>
                        <a:latin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fr-FR" sz="2000" b="1" i="1" dirty="0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fr-FR" sz="20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𝟎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𝑿</m:t>
                            </m:r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𝟐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⋮</m:t>
                            </m:r>
                          </m:e>
                          <m:e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𝑿𝒏</m:t>
                            </m:r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fr-FR" sz="20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sz="2000" b="1" dirty="0" smtClean="0">
                    <a:solidFill>
                      <a:schemeClr val="accent4"/>
                    </a:solidFill>
                  </a:rPr>
                  <a:t>  =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2000" b="1" i="1" dirty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sz="2000" b="1" i="1" dirty="0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eqArrPr>
                          <m:e>
                            <m:acc>
                              <m:accPr>
                                <m:chr m:val="̂"/>
                                <m:ctrlP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fr-FR" sz="2000" b="1" i="1" dirty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 dirty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acc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fr-FR" sz="2000" b="1" i="1" dirty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 dirty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acc>
                          </m:e>
                          <m:e>
                            <m:r>
                              <a:rPr lang="fr-FR" sz="2000" b="1" i="1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⋮</m:t>
                            </m:r>
                          </m:e>
                          <m:e>
                            <m:acc>
                              <m:accPr>
                                <m:chr m:val="̂"/>
                                <m:ctrlP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fr-FR" sz="2000" b="1" i="1" dirty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fr-FR" sz="2000" b="1" i="1" dirty="0" smtClean="0">
                                    <a:solidFill>
                                      <a:schemeClr val="accent4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acc>
                          </m:e>
                        </m:eqArr>
                      </m:e>
                    </m:d>
                  </m:oMath>
                </a14:m>
                <a:endParaRPr lang="fr-FR" sz="20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08" y="1002040"/>
                <a:ext cx="8424936" cy="16820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4661520" y="995117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chemeClr val="accent4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fr-FR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20" y="995117"/>
                <a:ext cx="432048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/>
              <p:cNvSpPr txBox="1"/>
              <p:nvPr/>
            </p:nvSpPr>
            <p:spPr>
              <a:xfrm>
                <a:off x="4661520" y="1658406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chemeClr val="accent4"/>
                          </a:solidFill>
                          <a:latin typeface="Cambria Math"/>
                        </a:rPr>
                        <m:t>…</m:t>
                      </m:r>
                    </m:oMath>
                  </m:oMathPara>
                </a14:m>
                <a:endParaRPr lang="fr-FR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5" name="ZoneTexte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520" y="1658406"/>
                <a:ext cx="432048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3695576" y="190934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chemeClr val="accent4"/>
                          </a:solidFill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fr-FR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576" y="1909345"/>
                <a:ext cx="576064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671240" y="190934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chemeClr val="accent4"/>
                          </a:solidFill>
                          <a:latin typeface="Cambria Math"/>
                        </a:rPr>
                        <m:t>⋮</m:t>
                      </m:r>
                    </m:oMath>
                  </m:oMathPara>
                </a14:m>
                <a:endParaRPr lang="fr-FR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40" y="1909345"/>
                <a:ext cx="576064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827584" y="3429000"/>
                <a:ext cx="7632848" cy="2567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3200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Chaque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3200" i="1" smtClean="0">
                            <a:solidFill>
                              <a:schemeClr val="accent4">
                                <a:lumMod val="25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FR" sz="3200" b="0" i="1" smtClean="0">
                            <a:solidFill>
                              <a:schemeClr val="accent4">
                                <a:lumMod val="25000"/>
                              </a:schemeClr>
                            </a:solidFill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fr-FR" sz="3200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 est un nombre complexe .</a:t>
                </a:r>
              </a:p>
              <a:p>
                <a:endParaRPr lang="fr-FR" sz="3200" dirty="0" smtClean="0">
                  <a:solidFill>
                    <a:schemeClr val="accent4">
                      <a:lumMod val="25000"/>
                    </a:schemeClr>
                  </a:solidFill>
                </a:endParaRPr>
              </a:p>
              <a:p>
                <a:r>
                  <a:rPr lang="fr-FR" sz="3200" dirty="0" smtClean="0">
                    <a:solidFill>
                      <a:schemeClr val="accent4">
                        <a:lumMod val="25000"/>
                      </a:schemeClr>
                    </a:solidFill>
                  </a:rPr>
                  <a:t>Le module de cette valeur nous donne un renseignement sur l’amplitude de la fréquence qui lui correspond .</a:t>
                </a:r>
                <a:endParaRPr lang="fr-FR" sz="3200" dirty="0">
                  <a:solidFill>
                    <a:schemeClr val="accent4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429000"/>
                <a:ext cx="7632848" cy="2567947"/>
              </a:xfrm>
              <a:prstGeom prst="rect">
                <a:avLst/>
              </a:prstGeom>
              <a:blipFill rotWithShape="1">
                <a:blip r:embed="rId7"/>
                <a:stretch>
                  <a:fillRect l="-2077" t="-2375" b="-68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17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39552" y="476672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accent6"/>
                </a:solidFill>
              </a:rPr>
              <a:t>On propose un Code Matlab qui permet calculer la matrice DFT et l’utiliser ensuite pour calculer la transformé de Fourier discrète d’un vecteur de données :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61132" y="1558793"/>
            <a:ext cx="5539060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Fonction pour calculer la Matrice DFT 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4098" name="Picture 2" descr="C:\Users\Youness_BEN\Desktop\presentations\Nouveau dossier\DFT\fonction_d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65" y="2348880"/>
            <a:ext cx="8514869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18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39552" y="476672"/>
            <a:ext cx="8064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accent6"/>
                </a:solidFill>
              </a:rPr>
              <a:t>On propose un Code Matlab qui permet calculer la matrice DFT et l’utiliser ensuite pour effectuer la transformé de Fourier discrète sur un vecteur de données :</a:t>
            </a:r>
            <a:endParaRPr lang="fr-FR" sz="2000" dirty="0">
              <a:solidFill>
                <a:schemeClr val="accent6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61132" y="1558793"/>
            <a:ext cx="5539060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Scripte pour tester la fonction: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5122" name="Picture 2" descr="C:\Users\Youness_BEN\Desktop\presentations\Nouveau dossier\DFT\Script_d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32" y="2276873"/>
            <a:ext cx="7212597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71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493204" y="620688"/>
            <a:ext cx="8229600" cy="5616624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 smtClean="0">
                <a:solidFill>
                  <a:schemeClr val="accent2"/>
                </a:solidFill>
              </a:rPr>
              <a:t>Cette méthode de calcule qu’on vient de voir est</a:t>
            </a:r>
          </a:p>
          <a:p>
            <a:pPr algn="l"/>
            <a:r>
              <a:rPr lang="fr-FR" dirty="0" smtClean="0">
                <a:solidFill>
                  <a:schemeClr val="accent2"/>
                </a:solidFill>
              </a:rPr>
              <a:t>Couteuse et prend beaucoup de temps vue le nombre d’opération qu’on doit effectuer ( </a:t>
            </a:r>
            <a:r>
              <a:rPr lang="fr-FR" b="1" dirty="0">
                <a:solidFill>
                  <a:schemeClr val="accent5"/>
                </a:solidFill>
              </a:rPr>
              <a:t>n*n</a:t>
            </a:r>
            <a:r>
              <a:rPr lang="fr-FR" dirty="0" smtClean="0">
                <a:solidFill>
                  <a:schemeClr val="accent5"/>
                </a:solidFill>
              </a:rPr>
              <a:t> </a:t>
            </a:r>
            <a:r>
              <a:rPr lang="fr-FR" dirty="0" smtClean="0">
                <a:solidFill>
                  <a:schemeClr val="accent2"/>
                </a:solidFill>
              </a:rPr>
              <a:t>opération pour un</a:t>
            </a:r>
            <a:r>
              <a:rPr lang="fr-FR" dirty="0">
                <a:solidFill>
                  <a:schemeClr val="accent2"/>
                </a:solidFill>
              </a:rPr>
              <a:t> </a:t>
            </a:r>
            <a:r>
              <a:rPr lang="fr-FR" dirty="0" smtClean="0">
                <a:solidFill>
                  <a:schemeClr val="accent2"/>
                </a:solidFill>
              </a:rPr>
              <a:t>vecteur contenant </a:t>
            </a:r>
            <a:r>
              <a:rPr lang="fr-FR" b="1" dirty="0" smtClean="0">
                <a:solidFill>
                  <a:schemeClr val="accent5"/>
                </a:solidFill>
              </a:rPr>
              <a:t>n</a:t>
            </a:r>
            <a:r>
              <a:rPr lang="fr-FR" dirty="0" smtClean="0">
                <a:solidFill>
                  <a:schemeClr val="accent2"/>
                </a:solidFill>
              </a:rPr>
              <a:t> donnée).</a:t>
            </a:r>
          </a:p>
          <a:p>
            <a:pPr algn="l"/>
            <a:endParaRPr lang="fr-FR" dirty="0">
              <a:solidFill>
                <a:schemeClr val="accent2"/>
              </a:solidFill>
            </a:endParaRPr>
          </a:p>
          <a:p>
            <a:pPr algn="l"/>
            <a:r>
              <a:rPr lang="fr-FR" dirty="0" smtClean="0">
                <a:solidFill>
                  <a:schemeClr val="accent2"/>
                </a:solidFill>
              </a:rPr>
              <a:t>Il existe une façon plus rapide pour effectuer la DFT en moins de temps , c’est la </a:t>
            </a:r>
            <a:r>
              <a:rPr lang="fr-FR" b="1" dirty="0" smtClean="0">
                <a:solidFill>
                  <a:schemeClr val="accent5"/>
                </a:solidFill>
              </a:rPr>
              <a:t>Transformée de Fourier Rapide</a:t>
            </a:r>
            <a:r>
              <a:rPr lang="fr-FR" dirty="0" smtClean="0">
                <a:solidFill>
                  <a:schemeClr val="accent2"/>
                </a:solidFill>
              </a:rPr>
              <a:t> ou </a:t>
            </a:r>
            <a:r>
              <a:rPr lang="fr-FR" b="1" dirty="0" err="1" smtClean="0">
                <a:solidFill>
                  <a:schemeClr val="accent5"/>
                </a:solidFill>
              </a:rPr>
              <a:t>Fast</a:t>
            </a:r>
            <a:r>
              <a:rPr lang="fr-FR" b="1" dirty="0" smtClean="0">
                <a:solidFill>
                  <a:schemeClr val="accent5"/>
                </a:solidFill>
              </a:rPr>
              <a:t> Fourier </a:t>
            </a:r>
            <a:r>
              <a:rPr lang="fr-FR" b="1" dirty="0" err="1" smtClean="0">
                <a:solidFill>
                  <a:schemeClr val="accent5"/>
                </a:solidFill>
              </a:rPr>
              <a:t>Transform</a:t>
            </a:r>
            <a:r>
              <a:rPr lang="fr-FR" b="1" dirty="0" smtClean="0">
                <a:solidFill>
                  <a:schemeClr val="accent5"/>
                </a:solidFill>
              </a:rPr>
              <a:t> (FFT)</a:t>
            </a:r>
            <a:r>
              <a:rPr lang="fr-FR" dirty="0" smtClean="0">
                <a:solidFill>
                  <a:schemeClr val="accent2"/>
                </a:solidFill>
              </a:rPr>
              <a:t>.</a:t>
            </a:r>
          </a:p>
          <a:p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28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  <a:solidFill>
            <a:schemeClr val="accent5"/>
          </a:solidFill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FR" dirty="0" smtClean="0">
                <a:solidFill>
                  <a:schemeClr val="accent4"/>
                </a:solidFill>
              </a:rPr>
              <a:t>La Transformé de Fourier Rapide (FFT).</a:t>
            </a:r>
            <a:endParaRPr lang="fr-F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33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467544" y="548680"/>
            <a:ext cx="8229600" cy="5832648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CA" sz="11200" dirty="0">
                <a:solidFill>
                  <a:schemeClr val="accent6"/>
                </a:solidFill>
              </a:rPr>
              <a:t>La transformée de Fourier discrète est importante dans le traitement de signal  .</a:t>
            </a:r>
            <a:br>
              <a:rPr lang="fr-CA" sz="11200" dirty="0">
                <a:solidFill>
                  <a:schemeClr val="accent6"/>
                </a:solidFill>
              </a:rPr>
            </a:br>
            <a:r>
              <a:rPr lang="fr-CA" sz="11200" dirty="0">
                <a:solidFill>
                  <a:schemeClr val="accent6"/>
                </a:solidFill>
              </a:rPr>
              <a:t>calculer cette dernière en utilisant la méthode classique (DFT) est généralement très lent , surtout pour des données de tailles gigantesques , qu’on rencontre souvent dans  l’informatique.</a:t>
            </a:r>
            <a:br>
              <a:rPr lang="fr-CA" sz="11200" dirty="0">
                <a:solidFill>
                  <a:schemeClr val="accent6"/>
                </a:solidFill>
              </a:rPr>
            </a:br>
            <a:r>
              <a:rPr lang="fr-CA" sz="11200" dirty="0">
                <a:solidFill>
                  <a:schemeClr val="accent6"/>
                </a:solidFill>
              </a:rPr>
              <a:t>Nous avons besoin donc d’une méthode plus rapide pour faire ceci .</a:t>
            </a:r>
            <a:br>
              <a:rPr lang="fr-CA" sz="11200" dirty="0">
                <a:solidFill>
                  <a:schemeClr val="accent6"/>
                </a:solidFill>
              </a:rPr>
            </a:br>
            <a:r>
              <a:rPr lang="fr-CA" sz="11200" dirty="0"/>
              <a:t/>
            </a:r>
            <a:br>
              <a:rPr lang="fr-CA" sz="11200" dirty="0"/>
            </a:br>
            <a:r>
              <a:rPr lang="fr-CA" sz="11200" dirty="0"/>
              <a:t/>
            </a:r>
            <a:br>
              <a:rPr lang="fr-CA" sz="11200" dirty="0"/>
            </a:br>
            <a:r>
              <a:rPr lang="fr-CA" sz="11200" dirty="0">
                <a:solidFill>
                  <a:schemeClr val="accent6"/>
                </a:solidFill>
              </a:rPr>
              <a:t>La Transformée de Fourier Rapide (</a:t>
            </a:r>
            <a:r>
              <a:rPr lang="fr-CA" sz="11200" dirty="0" err="1">
                <a:solidFill>
                  <a:schemeClr val="accent6"/>
                </a:solidFill>
              </a:rPr>
              <a:t>Fast</a:t>
            </a:r>
            <a:r>
              <a:rPr lang="fr-CA" sz="11200" dirty="0">
                <a:solidFill>
                  <a:schemeClr val="accent6"/>
                </a:solidFill>
              </a:rPr>
              <a:t> Fourier </a:t>
            </a:r>
            <a:r>
              <a:rPr lang="fr-CA" sz="11200" dirty="0" err="1">
                <a:solidFill>
                  <a:schemeClr val="accent6"/>
                </a:solidFill>
              </a:rPr>
              <a:t>Transform</a:t>
            </a:r>
            <a:r>
              <a:rPr lang="fr-CA" sz="11200" dirty="0">
                <a:solidFill>
                  <a:schemeClr val="accent6"/>
                </a:solidFill>
              </a:rPr>
              <a:t>) est développée en 1965 par Cooley et </a:t>
            </a:r>
            <a:r>
              <a:rPr lang="fr-CA" sz="11200" dirty="0" err="1">
                <a:solidFill>
                  <a:schemeClr val="accent6"/>
                </a:solidFill>
              </a:rPr>
              <a:t>tucky</a:t>
            </a:r>
            <a:r>
              <a:rPr lang="fr-CA" sz="11200" dirty="0">
                <a:solidFill>
                  <a:schemeClr val="accent6"/>
                </a:solidFill>
              </a:rPr>
              <a:t> , elle est également dite Cooley-</a:t>
            </a:r>
            <a:r>
              <a:rPr lang="fr-CA" sz="11200" dirty="0" err="1">
                <a:solidFill>
                  <a:schemeClr val="accent6"/>
                </a:solidFill>
              </a:rPr>
              <a:t>Tucky</a:t>
            </a:r>
            <a:r>
              <a:rPr lang="fr-CA" sz="11200" dirty="0">
                <a:solidFill>
                  <a:schemeClr val="accent6"/>
                </a:solidFill>
              </a:rPr>
              <a:t> algorithm.sa complexité est de l’ordre O(</a:t>
            </a:r>
            <a:r>
              <a:rPr lang="fr-CA" sz="11200" dirty="0" err="1">
                <a:solidFill>
                  <a:schemeClr val="accent6"/>
                </a:solidFill>
              </a:rPr>
              <a:t>n.Log</a:t>
            </a:r>
            <a:r>
              <a:rPr lang="fr-CA" sz="11200" dirty="0">
                <a:solidFill>
                  <a:schemeClr val="accent6"/>
                </a:solidFill>
              </a:rPr>
              <a:t>(n)) donc il est très rapide par rapport</a:t>
            </a:r>
            <a:br>
              <a:rPr lang="fr-CA" sz="11200" dirty="0">
                <a:solidFill>
                  <a:schemeClr val="accent6"/>
                </a:solidFill>
              </a:rPr>
            </a:br>
            <a:r>
              <a:rPr lang="fr-CA" sz="11200" dirty="0">
                <a:solidFill>
                  <a:schemeClr val="accent6"/>
                </a:solidFill>
              </a:rPr>
              <a:t>a la définition classique du TFD .</a:t>
            </a:r>
            <a:r>
              <a:rPr lang="fr-CA" sz="6000" dirty="0">
                <a:solidFill>
                  <a:schemeClr val="accent6"/>
                </a:solidFill>
              </a:rPr>
              <a:t/>
            </a:r>
            <a:br>
              <a:rPr lang="fr-CA" sz="6000" dirty="0">
                <a:solidFill>
                  <a:schemeClr val="accent6"/>
                </a:solidFill>
              </a:rPr>
            </a:br>
            <a:r>
              <a:rPr lang="fr-CA" sz="6000" dirty="0"/>
              <a:t/>
            </a:r>
            <a:br>
              <a:rPr lang="fr-CA" sz="6000" dirty="0"/>
            </a:br>
            <a:r>
              <a:rPr lang="fr-CA" dirty="0"/>
              <a:t/>
            </a:r>
            <a:br>
              <a:rPr lang="fr-CA" dirty="0"/>
            </a:br>
            <a:r>
              <a:rPr lang="fr-CA" sz="1200" dirty="0"/>
              <a:t/>
            </a:r>
            <a:br>
              <a:rPr lang="fr-CA" sz="1200" dirty="0"/>
            </a:br>
            <a:r>
              <a:rPr lang="fr-CA" dirty="0"/>
              <a:t> </a:t>
            </a:r>
            <a:br>
              <a:rPr lang="fr-CA" dirty="0"/>
            </a:br>
            <a:endParaRPr lang="fr-FR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63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481710" y="2132856"/>
            <a:ext cx="8229600" cy="2304256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CA" sz="11200" dirty="0">
                <a:solidFill>
                  <a:schemeClr val="accent6"/>
                </a:solidFill>
              </a:rPr>
              <a:t>Cet algorithme a conduit  a une révolution dans le traitement du signal. </a:t>
            </a:r>
            <a:br>
              <a:rPr lang="fr-CA" sz="11200" dirty="0">
                <a:solidFill>
                  <a:schemeClr val="accent6"/>
                </a:solidFill>
              </a:rPr>
            </a:br>
            <a:r>
              <a:rPr lang="fr-CA" sz="11200" dirty="0">
                <a:solidFill>
                  <a:schemeClr val="accent6"/>
                </a:solidFill>
              </a:rPr>
              <a:t/>
            </a:r>
            <a:br>
              <a:rPr lang="fr-CA" sz="11200" dirty="0">
                <a:solidFill>
                  <a:schemeClr val="accent6"/>
                </a:solidFill>
              </a:rPr>
            </a:br>
            <a:r>
              <a:rPr lang="fr-CA" sz="11200" dirty="0">
                <a:solidFill>
                  <a:schemeClr val="accent6"/>
                </a:solidFill>
              </a:rPr>
              <a:t>Dans ce qui suit , nous allons découvrir ensemble le principe derrière cet algorithme et comment il peut diminuer le temps de calcule .</a:t>
            </a:r>
            <a:r>
              <a:rPr lang="fr-CA" sz="11200" dirty="0"/>
              <a:t/>
            </a:r>
            <a:br>
              <a:rPr lang="fr-CA" sz="11200" dirty="0"/>
            </a:br>
            <a:r>
              <a:rPr lang="fr-CA" sz="6000" dirty="0"/>
              <a:t/>
            </a:r>
            <a:br>
              <a:rPr lang="fr-CA" sz="6000" dirty="0"/>
            </a:br>
            <a:r>
              <a:rPr lang="fr-CA" sz="6000" dirty="0">
                <a:solidFill>
                  <a:schemeClr val="accent6"/>
                </a:solidFill>
              </a:rPr>
              <a:t/>
            </a:r>
            <a:br>
              <a:rPr lang="fr-CA" sz="6000" dirty="0">
                <a:solidFill>
                  <a:schemeClr val="accent6"/>
                </a:solidFill>
              </a:rPr>
            </a:br>
            <a:r>
              <a:rPr lang="fr-CA" sz="6000" dirty="0"/>
              <a:t/>
            </a:r>
            <a:br>
              <a:rPr lang="fr-CA" sz="6000" dirty="0"/>
            </a:br>
            <a:r>
              <a:rPr lang="fr-CA" dirty="0"/>
              <a:t/>
            </a:r>
            <a:br>
              <a:rPr lang="fr-CA" dirty="0"/>
            </a:br>
            <a:r>
              <a:rPr lang="fr-CA" sz="1200" dirty="0"/>
              <a:t/>
            </a:r>
            <a:br>
              <a:rPr lang="fr-CA" sz="1200" dirty="0"/>
            </a:br>
            <a:r>
              <a:rPr lang="fr-CA" dirty="0"/>
              <a:t> </a:t>
            </a:r>
            <a:br>
              <a:rPr lang="fr-CA" dirty="0"/>
            </a:br>
            <a:endParaRPr lang="fr-FR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5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95536" y="404664"/>
            <a:ext cx="8352928" cy="144655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CA" sz="4400" dirty="0">
                <a:solidFill>
                  <a:schemeClr val="accent5"/>
                </a:solidFill>
              </a:rPr>
              <a:t>La formule de la </a:t>
            </a:r>
            <a:r>
              <a:rPr lang="fr-CA" sz="4400" dirty="0" smtClean="0">
                <a:solidFill>
                  <a:schemeClr val="accent5"/>
                </a:solidFill>
              </a:rPr>
              <a:t>Transformé de Fourier Rapide</a:t>
            </a:r>
            <a:endParaRPr lang="fr-FR" sz="4400" b="1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611560" y="2208650"/>
                <a:ext cx="7992888" cy="61157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800" b="1" dirty="0">
                    <a:solidFill>
                      <a:schemeClr val="accent6"/>
                    </a:solidFill>
                  </a:rPr>
                  <a:t>(k</a:t>
                </a:r>
                <a:r>
                  <a:rPr lang="el-GR" sz="2800" b="1" dirty="0">
                    <a:solidFill>
                      <a:schemeClr val="accent6"/>
                    </a:solidFill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CA" sz="2800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800" b="1" i="1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FR" sz="28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CA" sz="28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FR" sz="2800" b="1" dirty="0" smtClean="0"/>
                  <a:t>                  </a:t>
                </a:r>
                <a:r>
                  <a:rPr lang="fr-FR" sz="2400" b="1" dirty="0" smtClean="0"/>
                  <a:t>formule DFT classique</a:t>
                </a:r>
                <a:endParaRPr lang="fr-FR" sz="2400" b="1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208650"/>
                <a:ext cx="7992888" cy="611578"/>
              </a:xfrm>
              <a:prstGeom prst="rect">
                <a:avLst/>
              </a:prstGeom>
              <a:blipFill rotWithShape="1">
                <a:blip r:embed="rId2"/>
                <a:stretch>
                  <a:fillRect t="-1942" b="-17476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611560" y="5157192"/>
                <a:ext cx="7992888" cy="603178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800" b="1" dirty="0">
                    <a:solidFill>
                      <a:schemeClr val="accent6"/>
                    </a:solidFill>
                  </a:rPr>
                  <a:t>(k</a:t>
                </a:r>
                <a:r>
                  <a:rPr lang="el-GR" sz="2800" b="1" dirty="0">
                    <a:solidFill>
                      <a:schemeClr val="accent6"/>
                    </a:solidFill>
                  </a:rPr>
                  <a:t>)=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CA" sz="2800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𝒑𝒂𝒊𝒓</m:t>
                        </m:r>
                      </m:sub>
                      <m:sup/>
                      <m:e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800" b="1" i="1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800" b="1" dirty="0">
                    <a:solidFill>
                      <a:schemeClr val="accent6"/>
                    </a:solidFill>
                  </a:rPr>
                  <a:t>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CA" sz="2800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𝒊𝒎𝒑𝒂𝒊𝒓𝒆</m:t>
                        </m:r>
                      </m:sub>
                      <m:sup/>
                      <m:e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800" b="1" i="1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8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CA" sz="28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fr-CA" sz="28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157192"/>
                <a:ext cx="7992888" cy="603178"/>
              </a:xfrm>
              <a:prstGeom prst="rect">
                <a:avLst/>
              </a:prstGeom>
              <a:blipFill rotWithShape="1">
                <a:blip r:embed="rId3"/>
                <a:stretch>
                  <a:fillRect t="-2970" b="-18812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eur droit avec flèche 8"/>
          <p:cNvCxnSpPr>
            <a:stCxn id="2" idx="2"/>
            <a:endCxn id="7" idx="0"/>
          </p:cNvCxnSpPr>
          <p:nvPr/>
        </p:nvCxnSpPr>
        <p:spPr>
          <a:xfrm>
            <a:off x="4608004" y="2820228"/>
            <a:ext cx="0" cy="2336964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/>
          <p:cNvSpPr txBox="1"/>
          <p:nvPr/>
        </p:nvSpPr>
        <p:spPr>
          <a:xfrm>
            <a:off x="5004048" y="3284984"/>
            <a:ext cx="3096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/>
                </a:solidFill>
              </a:rPr>
              <a:t>Séparation des éléments du vecteur de donnée avec les indices pairs et les éléments avec les indices impaires. </a:t>
            </a:r>
            <a:endParaRPr lang="fr-FR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467544" y="3351240"/>
                <a:ext cx="3744416" cy="411651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sz="2000" b="1" u="sng" dirty="0" smtClean="0">
                    <a:solidFill>
                      <a:schemeClr val="accent4"/>
                    </a:solidFill>
                  </a:rPr>
                  <a:t>Nous rappelons que </a:t>
                </a:r>
                <a:r>
                  <a:rPr lang="fr-FR" sz="2000" b="1" dirty="0" smtClean="0">
                    <a:solidFill>
                      <a:schemeClr val="accent4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b="1" i="1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fr-CA" sz="2000" b="1" dirty="0">
                    <a:solidFill>
                      <a:schemeClr val="accent4"/>
                    </a:solidFill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000" b="1" i="1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0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fr-FR" sz="2000" dirty="0" smtClean="0"/>
                  <a:t>  </a:t>
                </a:r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351240"/>
                <a:ext cx="3744416" cy="411651"/>
              </a:xfrm>
              <a:prstGeom prst="rect">
                <a:avLst/>
              </a:prstGeom>
              <a:blipFill rotWithShape="1">
                <a:blip r:embed="rId4"/>
                <a:stretch>
                  <a:fillRect l="-1792" t="-4478" b="-268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0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682781" y="188639"/>
                <a:ext cx="7704856" cy="584775"/>
              </a:xfrm>
              <a:prstGeom prst="rect">
                <a:avLst/>
              </a:prstGeom>
              <a:solidFill>
                <a:schemeClr val="accent4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CA" sz="3200" b="1" dirty="0" smtClean="0">
                    <a:solidFill>
                      <a:schemeClr val="accent5"/>
                    </a:solidFill>
                  </a:rPr>
                  <a:t>Propriétés </a:t>
                </a:r>
                <a:r>
                  <a:rPr lang="fr-CA" sz="3200" b="1" dirty="0">
                    <a:solidFill>
                      <a:schemeClr val="accent5"/>
                    </a:solidFill>
                  </a:rPr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3200" b="1" i="1">
                            <a:solidFill>
                              <a:schemeClr val="accent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fr-CA" sz="32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fr-CA" sz="3200" b="1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fr-FR" sz="3200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CA" sz="32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81" y="188639"/>
                <a:ext cx="7704856" cy="584775"/>
              </a:xfrm>
              <a:prstGeom prst="rect">
                <a:avLst/>
              </a:prstGeom>
              <a:blipFill rotWithShape="1">
                <a:blip r:embed="rId2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A3F289C7-6D54-43EE-9270-B6A49D39930D}"/>
              </a:ext>
            </a:extLst>
          </p:cNvPr>
          <p:cNvSpPr/>
          <p:nvPr/>
        </p:nvSpPr>
        <p:spPr>
          <a:xfrm>
            <a:off x="1115616" y="1268760"/>
            <a:ext cx="2928938" cy="58805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périodicité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E671C7C-662A-4F5F-8F88-B72FFABAE5BB}"/>
              </a:ext>
            </a:extLst>
          </p:cNvPr>
          <p:cNvSpPr/>
          <p:nvPr/>
        </p:nvSpPr>
        <p:spPr>
          <a:xfrm>
            <a:off x="1115616" y="2348880"/>
            <a:ext cx="2928938" cy="58805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symétrie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DE47616-AF5A-4DB6-B03C-B8EC8A5C44BD}"/>
              </a:ext>
            </a:extLst>
          </p:cNvPr>
          <p:cNvSpPr/>
          <p:nvPr/>
        </p:nvSpPr>
        <p:spPr>
          <a:xfrm>
            <a:off x="1115616" y="3603558"/>
            <a:ext cx="2928938" cy="58805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800" b="1" dirty="0"/>
              <a:t>puissance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="" xmlns:a16="http://schemas.microsoft.com/office/drawing/2014/main" id="{EA1D4291-D24C-4DDC-B1C9-ABCD01518FF9}"/>
                  </a:ext>
                </a:extLst>
              </p:cNvPr>
              <p:cNvSpPr/>
              <p:nvPr/>
            </p:nvSpPr>
            <p:spPr>
              <a:xfrm>
                <a:off x="4860032" y="2348880"/>
                <a:ext cx="2928938" cy="588055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fr-FR" sz="2800" b="1" i="0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CA" sz="2800" b="1" dirty="0">
                    <a:solidFill>
                      <a:schemeClr val="accent4"/>
                    </a:solidFill>
                  </a:rPr>
                  <a:t>=-</a:t>
                </a:r>
                <a:r>
                  <a:rPr lang="fr-CA" sz="2800" b="1" dirty="0">
                    <a:solidFill>
                      <a:schemeClr val="accent4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fr-CA" sz="28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A1D4291-D24C-4DDC-B1C9-ABCD01518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2348880"/>
                <a:ext cx="2928938" cy="588055"/>
              </a:xfrm>
              <a:prstGeom prst="rect">
                <a:avLst/>
              </a:prstGeom>
              <a:blipFill rotWithShape="1">
                <a:blip r:embed="rId3"/>
                <a:stretch>
                  <a:fillRect b="-227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id="{A73C78A6-FC10-48E4-9E05-07E87B6C63B9}"/>
                  </a:ext>
                </a:extLst>
              </p:cNvPr>
              <p:cNvSpPr/>
              <p:nvPr/>
            </p:nvSpPr>
            <p:spPr>
              <a:xfrm>
                <a:off x="4860032" y="1268759"/>
                <a:ext cx="2928938" cy="588055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𝑵</m:t>
                            </m:r>
                          </m:sub>
                        </m:sSub>
                        <m:r>
                          <a:rPr lang="fr-FR" sz="2800" b="1" i="0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fr-CA" sz="2800" b="1" dirty="0">
                    <a:solidFill>
                      <a:schemeClr val="accent4"/>
                    </a:solidFill>
                  </a:rPr>
                  <a:t>=</a:t>
                </a:r>
                <a:r>
                  <a:rPr lang="fr-CA" sz="2800" b="1" dirty="0">
                    <a:solidFill>
                      <a:schemeClr val="accent4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fr-CA" sz="28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73C78A6-FC10-48E4-9E05-07E87B6C63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1268759"/>
                <a:ext cx="2928938" cy="588055"/>
              </a:xfrm>
              <a:prstGeom prst="rect">
                <a:avLst/>
              </a:prstGeom>
              <a:blipFill rotWithShape="1">
                <a:blip r:embed="rId4"/>
                <a:stretch>
                  <a:fillRect b="-227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="" xmlns:a16="http://schemas.microsoft.com/office/drawing/2014/main" id="{AB2A25E9-5044-4A0B-953A-EB87F55EB3FD}"/>
                  </a:ext>
                </a:extLst>
              </p:cNvPr>
              <p:cNvSpPr/>
              <p:nvPr/>
            </p:nvSpPr>
            <p:spPr>
              <a:xfrm>
                <a:off x="4860032" y="3633033"/>
                <a:ext cx="2928938" cy="588055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i="0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CA" sz="2800" b="1" dirty="0">
                    <a:solidFill>
                      <a:schemeClr val="accent4"/>
                    </a:solidFill>
                  </a:rPr>
                  <a:t>=</a:t>
                </a:r>
                <a:r>
                  <a:rPr lang="fr-CA" sz="2800" b="1" dirty="0">
                    <a:solidFill>
                      <a:schemeClr val="accent4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800" b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/>
                    </m:sSup>
                  </m:oMath>
                </a14:m>
                <a:endParaRPr lang="fr-CA" sz="28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B2A25E9-5044-4A0B-953A-EB87F55EB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3633033"/>
                <a:ext cx="2928938" cy="588055"/>
              </a:xfrm>
              <a:prstGeom prst="rect">
                <a:avLst/>
              </a:prstGeom>
              <a:blipFill rotWithShape="1">
                <a:blip r:embed="rId5"/>
                <a:stretch>
                  <a:fillRect b="-23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space réservé du contenu 2"/>
          <p:cNvSpPr txBox="1">
            <a:spLocks/>
          </p:cNvSpPr>
          <p:nvPr/>
        </p:nvSpPr>
        <p:spPr>
          <a:xfrm>
            <a:off x="682781" y="4509120"/>
            <a:ext cx="7704856" cy="1944216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CA" sz="11200" dirty="0"/>
              <a:t/>
            </a:r>
            <a:br>
              <a:rPr lang="fr-CA" sz="11200" dirty="0"/>
            </a:br>
            <a:r>
              <a:rPr lang="fr-CA" sz="6000" dirty="0"/>
              <a:t/>
            </a:r>
            <a:br>
              <a:rPr lang="fr-CA" sz="6000" dirty="0"/>
            </a:br>
            <a:r>
              <a:rPr lang="fr-CA" sz="6000" dirty="0">
                <a:solidFill>
                  <a:schemeClr val="accent6"/>
                </a:solidFill>
              </a:rPr>
              <a:t/>
            </a:r>
            <a:br>
              <a:rPr lang="fr-CA" sz="6000" dirty="0">
                <a:solidFill>
                  <a:schemeClr val="accent6"/>
                </a:solidFill>
              </a:rPr>
            </a:br>
            <a:r>
              <a:rPr lang="fr-CA" sz="6000" dirty="0"/>
              <a:t/>
            </a:r>
            <a:br>
              <a:rPr lang="fr-CA" sz="6000" dirty="0"/>
            </a:br>
            <a:r>
              <a:rPr lang="fr-CA" dirty="0"/>
              <a:t/>
            </a:r>
            <a:br>
              <a:rPr lang="fr-CA" dirty="0"/>
            </a:br>
            <a:r>
              <a:rPr lang="fr-CA" sz="1200" dirty="0"/>
              <a:t/>
            </a:r>
            <a:br>
              <a:rPr lang="fr-CA" sz="1200" dirty="0"/>
            </a:br>
            <a:r>
              <a:rPr lang="fr-CA" dirty="0"/>
              <a:t> </a:t>
            </a:r>
            <a:br>
              <a:rPr lang="fr-CA" dirty="0"/>
            </a:br>
            <a:endParaRPr lang="fr-FR" sz="4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27584" y="4653136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accent6"/>
                </a:solidFill>
              </a:rPr>
              <a:t>Nous allons utiliser ces propriétés pour simplifier d’avantage l’écriture qu’on vient d’obtenir :</a:t>
            </a:r>
            <a:endParaRPr lang="fr-FR" sz="2400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115616" y="5689363"/>
                <a:ext cx="6408712" cy="530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400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400" b="1" dirty="0">
                    <a:solidFill>
                      <a:schemeClr val="accent6"/>
                    </a:solidFill>
                  </a:rPr>
                  <a:t>(k</a:t>
                </a:r>
                <a:r>
                  <a:rPr lang="el-GR" sz="2400" b="1" dirty="0">
                    <a:solidFill>
                      <a:schemeClr val="accent6"/>
                    </a:solidFill>
                  </a:rPr>
                  <a:t>)=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CA" sz="2400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𝒑𝒂𝒊𝒓</m:t>
                        </m:r>
                      </m:sub>
                      <m:sup/>
                      <m:e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400" b="1" i="1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400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400" b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4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400" b="1" dirty="0">
                    <a:solidFill>
                      <a:schemeClr val="accent6"/>
                    </a:solidFill>
                  </a:rPr>
                  <a:t>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fr-CA" sz="2400" b="1" i="1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𝒊𝒎𝒑𝒂𝒊𝒓𝒆</m:t>
                        </m:r>
                      </m:sub>
                      <m:sup/>
                      <m:e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400" b="1" i="1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400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4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400" b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4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4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CA" sz="24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fr-CA" sz="24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689363"/>
                <a:ext cx="6408712" cy="530273"/>
              </a:xfrm>
              <a:prstGeom prst="rect">
                <a:avLst/>
              </a:prstGeom>
              <a:blipFill rotWithShape="1">
                <a:blip r:embed="rId6"/>
                <a:stretch>
                  <a:fillRect t="-4598" b="-172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142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5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="" xmlns:a16="http://schemas.microsoft.com/office/drawing/2014/main" id="{C51ABEF0-201D-425D-847F-D09CDC70A2EB}"/>
                  </a:ext>
                </a:extLst>
              </p:cNvPr>
              <p:cNvSpPr/>
              <p:nvPr/>
            </p:nvSpPr>
            <p:spPr>
              <a:xfrm>
                <a:off x="765297" y="5142104"/>
                <a:ext cx="6810238" cy="73698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000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000" b="1" dirty="0">
                    <a:solidFill>
                      <a:schemeClr val="accent6"/>
                    </a:solidFill>
                  </a:rPr>
                  <a:t>(k</a:t>
                </a:r>
                <a:r>
                  <a:rPr lang="el-GR" sz="2000" b="1" dirty="0">
                    <a:solidFill>
                      <a:schemeClr val="accent6"/>
                    </a:solidFill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p>
                      <m:sSupPr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000" b="1" i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000" b="1" dirty="0">
                    <a:solidFill>
                      <a:schemeClr val="accent6"/>
                    </a:solidFill>
                  </a:rPr>
                  <a:t>+.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  <m:r>
                      <a:rPr lang="fr-CA" sz="2000" b="1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.</m:t>
                    </m:r>
                    <m:nary>
                      <m:naryPr>
                        <m:chr m:val="∑"/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000" b="1" i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fr-CA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51ABEF0-201D-425D-847F-D09CDC70A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97" y="5142104"/>
                <a:ext cx="6810238" cy="736980"/>
              </a:xfrm>
              <a:prstGeom prst="rect">
                <a:avLst/>
              </a:prstGeom>
              <a:blipFill rotWithShape="1">
                <a:blip r:embed="rId2"/>
                <a:stretch>
                  <a:fillRect t="-41129" b="-741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="" xmlns:a16="http://schemas.microsoft.com/office/drawing/2014/main" id="{70C82A05-6514-455B-A605-FFF0728A245F}"/>
                  </a:ext>
                </a:extLst>
              </p:cNvPr>
              <p:cNvSpPr/>
              <p:nvPr/>
            </p:nvSpPr>
            <p:spPr>
              <a:xfrm>
                <a:off x="765297" y="3213891"/>
                <a:ext cx="6810238" cy="73698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000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000" b="1" dirty="0">
                    <a:solidFill>
                      <a:schemeClr val="accent6"/>
                    </a:solidFill>
                  </a:rPr>
                  <a:t>(k</a:t>
                </a:r>
                <a:r>
                  <a:rPr lang="el-GR" sz="2000" b="1" dirty="0">
                    <a:solidFill>
                      <a:schemeClr val="accent6"/>
                    </a:solidFill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p>
                      <m:sSupPr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000" b="1" i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000" b="1" dirty="0">
                    <a:solidFill>
                      <a:schemeClr val="accent6"/>
                    </a:solidFill>
                  </a:rPr>
                  <a:t>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000" b="1" i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000" b="1" dirty="0">
                    <a:solidFill>
                      <a:schemeClr val="accent6"/>
                    </a:solidFill>
                  </a:rPr>
                  <a:t>.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bSup>
                  </m:oMath>
                </a14:m>
                <a:endParaRPr lang="fr-CA" sz="20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0C82A05-6514-455B-A605-FFF0728A24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97" y="3213891"/>
                <a:ext cx="6810238" cy="736980"/>
              </a:xfrm>
              <a:prstGeom prst="rect">
                <a:avLst/>
              </a:prstGeom>
              <a:blipFill rotWithShape="1">
                <a:blip r:embed="rId3"/>
                <a:stretch>
                  <a:fillRect t="-40000" b="-736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="" xmlns:a16="http://schemas.microsoft.com/office/drawing/2014/main" id="{8CC5A3D5-D8DC-4BF1-8938-7AFC2784D832}"/>
                  </a:ext>
                </a:extLst>
              </p:cNvPr>
              <p:cNvSpPr/>
              <p:nvPr/>
            </p:nvSpPr>
            <p:spPr>
              <a:xfrm>
                <a:off x="732410" y="1375824"/>
                <a:ext cx="6810237" cy="73698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000" b="1" i="1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0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000" b="1" dirty="0">
                    <a:solidFill>
                      <a:schemeClr val="accent6"/>
                    </a:solidFill>
                  </a:rPr>
                  <a:t>(k</a:t>
                </a:r>
                <a:r>
                  <a:rPr lang="el-GR" sz="2000" b="1" dirty="0">
                    <a:solidFill>
                      <a:schemeClr val="accent6"/>
                    </a:solidFill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000" b="1" i="1" smtClean="0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000" b="1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000" b="1" i="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000" b="1" dirty="0">
                    <a:solidFill>
                      <a:schemeClr val="accent6"/>
                    </a:solidFill>
                  </a:rPr>
                  <a:t>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000" b="1" i="1">
                                <a:solidFill>
                                  <a:schemeClr val="accent6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0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000" b="1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  <m:sup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CA" sz="2000" b="1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).</m:t>
                        </m:r>
                        <m:r>
                          <a:rPr lang="fr-CA" sz="2000" b="1" i="1" u="none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fr-CA" sz="20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CC5A3D5-D8DC-4BF1-8938-7AFC2784D8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10" y="1375824"/>
                <a:ext cx="6810237" cy="736980"/>
              </a:xfrm>
              <a:prstGeom prst="rect">
                <a:avLst/>
              </a:prstGeom>
              <a:blipFill rotWithShape="1">
                <a:blip r:embed="rId4"/>
                <a:stretch>
                  <a:fillRect t="-40800" b="-728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="" xmlns:a16="http://schemas.microsoft.com/office/drawing/2014/main" id="{35556731-D253-4512-9183-34931A70C000}"/>
                  </a:ext>
                </a:extLst>
              </p:cNvPr>
              <p:cNvSpPr/>
              <p:nvPr/>
            </p:nvSpPr>
            <p:spPr>
              <a:xfrm>
                <a:off x="6989748" y="2348880"/>
                <a:ext cx="2088232" cy="588055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fr-CA" sz="2400" b="1" i="1" u="none" smtClean="0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4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4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4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400" b="1" i="0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4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CA" sz="2400" b="1" dirty="0">
                    <a:solidFill>
                      <a:schemeClr val="accent4"/>
                    </a:solidFill>
                  </a:rPr>
                  <a:t>=</a:t>
                </a:r>
                <a:r>
                  <a:rPr lang="fr-CA" sz="2400" b="1" dirty="0">
                    <a:solidFill>
                      <a:schemeClr val="accent4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400" b="1" i="1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400" b="1" i="1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4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400" b="1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fr-CA" sz="24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CA" sz="24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fr-FR" sz="2400" b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/>
                    </m:sSup>
                  </m:oMath>
                </a14:m>
                <a:endParaRPr lang="fr-CA" sz="24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5556731-D253-4512-9183-34931A70C0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748" y="2348880"/>
                <a:ext cx="2088232" cy="588055"/>
              </a:xfrm>
              <a:prstGeom prst="rect">
                <a:avLst/>
              </a:prstGeom>
              <a:blipFill rotWithShape="1">
                <a:blip r:embed="rId5"/>
                <a:stretch>
                  <a:fillRect b="-108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="" xmlns:a16="http://schemas.microsoft.com/office/drawing/2014/main" id="{33D9B550-E88D-47C7-9CF2-B46DBD53F5CA}"/>
                  </a:ext>
                </a:extLst>
              </p:cNvPr>
              <p:cNvSpPr/>
              <p:nvPr/>
            </p:nvSpPr>
            <p:spPr>
              <a:xfrm>
                <a:off x="765299" y="301969"/>
                <a:ext cx="6810236" cy="73698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fr-CA" sz="2800" b="0" i="0" u="none" dirty="0">
                    <a:solidFill>
                      <a:schemeClr val="tx1"/>
                    </a:solidFill>
                  </a:rPr>
                  <a:t>(k</a:t>
                </a:r>
                <a:r>
                  <a:rPr lang="el-GR" sz="2800" b="0" i="0" u="none" dirty="0">
                    <a:solidFill>
                      <a:schemeClr val="tx1"/>
                    </a:solidFill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sSup>
                      <m:sSupPr>
                        <m:ctrlPr>
                          <a:rPr lang="fr-CA" sz="2800" b="0" i="1" u="none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fr-FR" sz="2800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fr-CA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CA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fr-CA" sz="2800" dirty="0"/>
              </a:p>
              <a:p>
                <a:pPr algn="ctr"/>
                <a:endParaRPr lang="fr-CA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3D9B550-E88D-47C7-9CF2-B46DBD53F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99" y="301969"/>
                <a:ext cx="6810236" cy="736980"/>
              </a:xfrm>
              <a:prstGeom prst="rect">
                <a:avLst/>
              </a:prstGeom>
              <a:blipFill rotWithShape="1">
                <a:blip r:embed="rId6"/>
                <a:stretch>
                  <a:fillRect t="-112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89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2DCE4EF-6116-46FC-8011-F526F7549E9F}"/>
              </a:ext>
            </a:extLst>
          </p:cNvPr>
          <p:cNvSpPr/>
          <p:nvPr/>
        </p:nvSpPr>
        <p:spPr>
          <a:xfrm>
            <a:off x="335377" y="3480887"/>
            <a:ext cx="2047237" cy="5875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accent6"/>
                </a:solidFill>
              </a:rPr>
              <a:t>1 Calcul d’une TFD(n)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E4DC4EFE-DA76-4E4E-B371-DF367D7C866D}"/>
              </a:ext>
            </a:extLst>
          </p:cNvPr>
          <p:cNvSpPr/>
          <p:nvPr/>
        </p:nvSpPr>
        <p:spPr>
          <a:xfrm>
            <a:off x="3179858" y="3519904"/>
            <a:ext cx="2137981" cy="5875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accent6"/>
                </a:solidFill>
              </a:rPr>
              <a:t>2 Calculs d’une TFD(n/ 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8424697-407C-49E1-9473-9DA10B81EA83}"/>
              </a:ext>
            </a:extLst>
          </p:cNvPr>
          <p:cNvSpPr/>
          <p:nvPr/>
        </p:nvSpPr>
        <p:spPr>
          <a:xfrm>
            <a:off x="6226961" y="5461136"/>
            <a:ext cx="2047237" cy="5875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accent6"/>
                </a:solidFill>
              </a:rPr>
              <a:t>n/2 Calculs d’une TFD(2)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21CF7AF-0D90-41C8-8045-684F5CAB1B1B}"/>
              </a:ext>
            </a:extLst>
          </p:cNvPr>
          <p:cNvSpPr/>
          <p:nvPr/>
        </p:nvSpPr>
        <p:spPr>
          <a:xfrm>
            <a:off x="6197171" y="3505377"/>
            <a:ext cx="2047237" cy="5875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accent6"/>
                </a:solidFill>
              </a:rPr>
              <a:t>4 Calculs d’une TFD(n/4)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="" xmlns:a16="http://schemas.microsoft.com/office/drawing/2014/main" id="{D6FBB45C-4780-45A3-9698-6ADACB17C899}"/>
              </a:ext>
            </a:extLst>
          </p:cNvPr>
          <p:cNvCxnSpPr/>
          <p:nvPr/>
        </p:nvCxnSpPr>
        <p:spPr>
          <a:xfrm>
            <a:off x="2382614" y="3813679"/>
            <a:ext cx="786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="" xmlns:a16="http://schemas.microsoft.com/office/drawing/2014/main" id="{1A653638-AF0D-4359-9D5E-FF1AD2DF280E}"/>
              </a:ext>
            </a:extLst>
          </p:cNvPr>
          <p:cNvCxnSpPr/>
          <p:nvPr/>
        </p:nvCxnSpPr>
        <p:spPr>
          <a:xfrm>
            <a:off x="5317839" y="3830388"/>
            <a:ext cx="879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="" xmlns:a16="http://schemas.microsoft.com/office/drawing/2014/main" id="{00F4886A-37E5-44B8-9AD7-0B3EFFB5EAD3}"/>
              </a:ext>
            </a:extLst>
          </p:cNvPr>
          <p:cNvCxnSpPr/>
          <p:nvPr/>
        </p:nvCxnSpPr>
        <p:spPr>
          <a:xfrm>
            <a:off x="7567834" y="5171100"/>
            <a:ext cx="0" cy="26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="" xmlns:a16="http://schemas.microsoft.com/office/drawing/2014/main" id="{258497DF-26F8-49D1-AFD0-2C4B180F94D1}"/>
              </a:ext>
            </a:extLst>
          </p:cNvPr>
          <p:cNvCxnSpPr/>
          <p:nvPr/>
        </p:nvCxnSpPr>
        <p:spPr>
          <a:xfrm>
            <a:off x="7554118" y="4092926"/>
            <a:ext cx="0" cy="26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="" xmlns:a16="http://schemas.microsoft.com/office/drawing/2014/main" id="{FA06BED2-0342-4B27-BF3C-2099475A24A5}"/>
              </a:ext>
            </a:extLst>
          </p:cNvPr>
          <p:cNvCxnSpPr/>
          <p:nvPr/>
        </p:nvCxnSpPr>
        <p:spPr>
          <a:xfrm>
            <a:off x="7567834" y="4435258"/>
            <a:ext cx="0" cy="26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="" xmlns:a16="http://schemas.microsoft.com/office/drawing/2014/main" id="{F15B11E5-BF4F-4C69-824E-C6BEE299880C}"/>
              </a:ext>
            </a:extLst>
          </p:cNvPr>
          <p:cNvCxnSpPr/>
          <p:nvPr/>
        </p:nvCxnSpPr>
        <p:spPr>
          <a:xfrm>
            <a:off x="7567834" y="4807299"/>
            <a:ext cx="0" cy="26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="" xmlns:a16="http://schemas.microsoft.com/office/drawing/2014/main" id="{EFBA0C8F-DE7B-4700-A356-0E57E23C9E0C}"/>
                  </a:ext>
                </a:extLst>
              </p:cNvPr>
              <p:cNvSpPr/>
              <p:nvPr/>
            </p:nvSpPr>
            <p:spPr>
              <a:xfrm>
                <a:off x="528312" y="629554"/>
                <a:ext cx="5243513" cy="736980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b="1" i="1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8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800" b="1" i="0" u="none" dirty="0">
                    <a:solidFill>
                      <a:schemeClr val="accent4"/>
                    </a:solidFill>
                  </a:rPr>
                  <a:t>(k</a:t>
                </a:r>
                <a:r>
                  <a:rPr lang="el-GR" sz="2800" b="1" i="0" u="none" dirty="0">
                    <a:solidFill>
                      <a:schemeClr val="accent4"/>
                    </a:solidFill>
                  </a:rPr>
                  <a:t>)</a:t>
                </a:r>
                <a:r>
                  <a:rPr lang="fr-CA" sz="2800" b="1" i="0" u="none" dirty="0" smtClean="0">
                    <a:solidFill>
                      <a:schemeClr val="accent4"/>
                    </a:solidFill>
                  </a:rPr>
                  <a:t>=</a:t>
                </a:r>
                <a:r>
                  <a:rPr lang="fr-CA" sz="2800" b="1" i="0" u="none" dirty="0" err="1" smtClean="0">
                    <a:solidFill>
                      <a:schemeClr val="accent4"/>
                    </a:solidFill>
                  </a:rPr>
                  <a:t>Xpaire</a:t>
                </a:r>
                <a:r>
                  <a:rPr lang="fr-CA" sz="2800" b="1" i="0" u="none" dirty="0" smtClean="0">
                    <a:solidFill>
                      <a:schemeClr val="accent4"/>
                    </a:solidFill>
                  </a:rPr>
                  <a:t> </a:t>
                </a:r>
                <a:r>
                  <a:rPr lang="fr-CA" sz="2800" b="1" i="0" u="none" dirty="0">
                    <a:solidFill>
                      <a:schemeClr val="accent4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i="0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800" b="1" dirty="0" smtClean="0">
                    <a:solidFill>
                      <a:schemeClr val="accent4"/>
                    </a:solidFill>
                  </a:rPr>
                  <a:t> Ximpaire</a:t>
                </a:r>
                <a:endParaRPr lang="fr-CA" sz="2800" b="1" dirty="0">
                  <a:solidFill>
                    <a:schemeClr val="accent4"/>
                  </a:solidFill>
                </a:endParaRPr>
              </a:p>
              <a:p>
                <a:pPr algn="ctr"/>
                <a:endParaRPr lang="fr-CA" dirty="0"/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FBA0C8F-DE7B-4700-A356-0E57E23C9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12" y="629554"/>
                <a:ext cx="5243513" cy="736980"/>
              </a:xfrm>
              <a:prstGeom prst="rect">
                <a:avLst/>
              </a:prstGeom>
              <a:blipFill rotWithShape="1">
                <a:blip r:embed="rId2"/>
                <a:stretch>
                  <a:fillRect t="-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AB748BB2-9936-4283-B6DC-9E015B6F1765}"/>
              </a:ext>
            </a:extLst>
          </p:cNvPr>
          <p:cNvSpPr/>
          <p:nvPr/>
        </p:nvSpPr>
        <p:spPr>
          <a:xfrm>
            <a:off x="529097" y="1404326"/>
            <a:ext cx="5242728" cy="7369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400" b="1" dirty="0" err="1" smtClean="0">
                <a:solidFill>
                  <a:schemeClr val="accent4"/>
                </a:solidFill>
              </a:rPr>
              <a:t>Xpaire</a:t>
            </a:r>
            <a:r>
              <a:rPr lang="fr-CA" sz="2400" b="1" dirty="0" smtClean="0">
                <a:solidFill>
                  <a:schemeClr val="accent4"/>
                </a:solidFill>
              </a:rPr>
              <a:t> </a:t>
            </a:r>
            <a:r>
              <a:rPr lang="fr-CA" sz="2400" b="1" dirty="0">
                <a:solidFill>
                  <a:schemeClr val="accent4"/>
                </a:solidFill>
              </a:rPr>
              <a:t>et </a:t>
            </a:r>
            <a:r>
              <a:rPr lang="fr-CA" sz="2400" b="1" dirty="0" err="1" smtClean="0">
                <a:solidFill>
                  <a:schemeClr val="accent4"/>
                </a:solidFill>
              </a:rPr>
              <a:t>Ximpaire</a:t>
            </a:r>
            <a:r>
              <a:rPr lang="fr-CA" sz="2400" b="1" dirty="0" smtClean="0">
                <a:solidFill>
                  <a:schemeClr val="accent4"/>
                </a:solidFill>
              </a:rPr>
              <a:t> </a:t>
            </a:r>
            <a:r>
              <a:rPr lang="fr-CA" sz="2400" b="1" dirty="0">
                <a:solidFill>
                  <a:schemeClr val="accent4"/>
                </a:solidFill>
              </a:rPr>
              <a:t>son de taille n/2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528312" y="106334"/>
            <a:ext cx="7716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accent6"/>
                </a:solidFill>
              </a:rPr>
              <a:t>On trouve enfin la formule suivante : </a:t>
            </a:r>
            <a:endParaRPr lang="fr-FR" dirty="0"/>
          </a:p>
        </p:txBody>
      </p:sp>
      <p:sp>
        <p:nvSpPr>
          <p:cNvPr id="33" name="ZoneTexte 32"/>
          <p:cNvSpPr txBox="1"/>
          <p:nvPr/>
        </p:nvSpPr>
        <p:spPr>
          <a:xfrm>
            <a:off x="527008" y="2276872"/>
            <a:ext cx="8221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Si on prend </a:t>
            </a:r>
            <a:r>
              <a:rPr lang="fr-FR" dirty="0" err="1" smtClean="0"/>
              <a:t>Xpaire</a:t>
            </a:r>
            <a:r>
              <a:rPr lang="fr-FR" dirty="0" smtClean="0"/>
              <a:t> </a:t>
            </a:r>
            <a:r>
              <a:rPr lang="fr-FR" dirty="0" smtClean="0"/>
              <a:t>et </a:t>
            </a:r>
            <a:r>
              <a:rPr lang="fr-FR" dirty="0" smtClean="0"/>
              <a:t>impaire </a:t>
            </a:r>
            <a:r>
              <a:rPr lang="fr-FR" dirty="0" smtClean="0"/>
              <a:t>on leurs applique la même méthode , on va avoir la même formule mais cette fois-ci , la taille de la somme sera n/4 , puis n/8 etc...</a:t>
            </a:r>
          </a:p>
          <a:p>
            <a:r>
              <a:rPr lang="fr-CA" dirty="0" smtClean="0">
                <a:solidFill>
                  <a:schemeClr val="accent6"/>
                </a:solidFill>
              </a:rPr>
              <a:t>Notre formule est donc récursive!!</a:t>
            </a:r>
            <a:endParaRPr lang="fr-CA" dirty="0">
              <a:solidFill>
                <a:schemeClr val="accent6"/>
              </a:solidFill>
            </a:endParaRPr>
          </a:p>
          <a:p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ZoneTexte 33"/>
              <p:cNvSpPr txBox="1"/>
              <p:nvPr/>
            </p:nvSpPr>
            <p:spPr>
              <a:xfrm>
                <a:off x="580942" y="4224513"/>
                <a:ext cx="519861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000" b="1" u="sng" dirty="0" smtClean="0">
                    <a:solidFill>
                      <a:schemeClr val="accent3"/>
                    </a:solidFill>
                  </a:rPr>
                  <a:t>Remarque:</a:t>
                </a:r>
              </a:p>
              <a:p>
                <a:r>
                  <a:rPr lang="fr-FR" sz="2000" dirty="0" smtClean="0">
                    <a:solidFill>
                      <a:schemeClr val="accent3"/>
                    </a:solidFill>
                  </a:rPr>
                  <a:t>Pour utiliser la FFT , la taille de l’échantillon doit obligatoirement être une puissance de 2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fr-FR" sz="2000" b="0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=2</m:t>
                        </m:r>
                      </m:e>
                      <m:sup>
                        <m:r>
                          <a:rPr lang="fr-FR" sz="2000" b="0" i="1" smtClean="0">
                            <a:solidFill>
                              <a:schemeClr val="accent3"/>
                            </a:solidFill>
                            <a:latin typeface="Cambria Math"/>
                          </a:rPr>
                          <m:t>𝑝</m:t>
                        </m:r>
                      </m:sup>
                    </m:sSup>
                    <m:r>
                      <a:rPr lang="fr-FR" sz="2000" b="0" i="1" smtClean="0">
                        <a:solidFill>
                          <a:schemeClr val="accent3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fr-FR" sz="2000" dirty="0" smtClean="0">
                    <a:solidFill>
                      <a:schemeClr val="accent3"/>
                    </a:solidFill>
                  </a:rPr>
                  <a:t>.</a:t>
                </a:r>
              </a:p>
              <a:p>
                <a:r>
                  <a:rPr lang="fr-FR" sz="2000" dirty="0" smtClean="0">
                    <a:solidFill>
                      <a:schemeClr val="accent3"/>
                    </a:solidFill>
                  </a:rPr>
                  <a:t>Si jamais n n’est pas une puissance de 2 on complète l’</a:t>
                </a:r>
                <a:r>
                  <a:rPr lang="fr-FR" sz="2000" dirty="0">
                    <a:solidFill>
                      <a:schemeClr val="accent3"/>
                    </a:solidFill>
                  </a:rPr>
                  <a:t>é</a:t>
                </a:r>
                <a:r>
                  <a:rPr lang="fr-FR" sz="2000" dirty="0" smtClean="0">
                    <a:solidFill>
                      <a:schemeClr val="accent3"/>
                    </a:solidFill>
                  </a:rPr>
                  <a:t>chantillon avec des zéros Just qu'avoir la taille souhaitée.</a:t>
                </a:r>
                <a:endParaRPr lang="fr-FR" sz="2000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2" y="4224513"/>
                <a:ext cx="5198618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1172" t="-1355" r="-586" b="-379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14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itre 1">
                <a:extLst>
                  <a:ext uri="{FF2B5EF4-FFF2-40B4-BE49-F238E27FC236}">
                    <a16:creationId xmlns="" xmlns:a16="http://schemas.microsoft.com/office/drawing/2014/main" id="{51C2EB8E-5788-4E4E-811D-1CA924F8A9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1520" y="764704"/>
                <a:ext cx="8640960" cy="511256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vert="horz" lIns="91440" tIns="45720" rIns="91440" bIns="45720" rtlCol="0" anchor="ctr">
                <a:normAutofit fontScale="97500" lnSpcReduction="10000"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fr-FR" dirty="0" smtClean="0">
                    <a:solidFill>
                      <a:schemeClr val="accent4"/>
                    </a:solidFill>
                    <a:latin typeface="Arial" panose="020B0604020202020204" pitchFamily="34" charset="0"/>
                  </a:rPr>
                  <a:t>On a donc l'expression récursive de la transformée de Fourier Rapide :</a:t>
                </a:r>
                <a:br>
                  <a:rPr lang="fr-FR" dirty="0" smtClean="0">
                    <a:solidFill>
                      <a:schemeClr val="accent4"/>
                    </a:solidFill>
                    <a:latin typeface="Arial" panose="020B0604020202020204" pitchFamily="34" charset="0"/>
                  </a:rPr>
                </a:br>
                <a:r>
                  <a:rPr lang="fr-FR" dirty="0" smtClean="0">
                    <a:solidFill>
                      <a:schemeClr val="accent4"/>
                    </a:solidFill>
                    <a:latin typeface="Arial" panose="020B0604020202020204" pitchFamily="34" charset="0"/>
                  </a:rPr>
                  <a:t/>
                </a:r>
                <a:br>
                  <a:rPr lang="fr-FR" dirty="0" smtClean="0">
                    <a:solidFill>
                      <a:schemeClr val="accent4"/>
                    </a:solidFill>
                    <a:latin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fr-CA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i="1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fr-CA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fr-FR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fr-CA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Sup>
                                <m:sSubSupPr>
                                  <m:ctrlP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i="1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fr-FR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fr-CA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i="1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fr-CA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  <m:r>
                                <a:rPr lang="fr-CA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Sup>
                                <m:sSubSupPr>
                                  <m:ctrlP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i="1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i="1" smtClean="0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num>
                                    <m:den>
                                      <m:r>
                                        <a:rPr lang="fr-CA" i="1">
                                          <a:solidFill>
                                            <a:schemeClr val="accent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i="1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i="1" smtClean="0">
                                      <a:solidFill>
                                        <a:schemeClr val="accent4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fr-CA" dirty="0"/>
              </a:p>
            </p:txBody>
          </p:sp>
        </mc:Choice>
        <mc:Fallback>
          <p:sp>
            <p:nvSpPr>
              <p:cNvPr id="18" name="Titr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1C2EB8E-5788-4E4E-811D-1CA924F8A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64704"/>
                <a:ext cx="8640960" cy="5112568"/>
              </a:xfrm>
              <a:prstGeom prst="rect">
                <a:avLst/>
              </a:prstGeom>
              <a:blipFill rotWithShape="1">
                <a:blip r:embed="rId2"/>
                <a:stretch>
                  <a:fillRect r="-11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41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="" xmlns:a16="http://schemas.microsoft.com/office/drawing/2014/main" id="{C989BB62-2B7F-45C1-B49E-C7CE1C9B8E7F}"/>
              </a:ext>
            </a:extLst>
          </p:cNvPr>
          <p:cNvSpPr txBox="1">
            <a:spLocks/>
          </p:cNvSpPr>
          <p:nvPr/>
        </p:nvSpPr>
        <p:spPr>
          <a:xfrm>
            <a:off x="539552" y="212782"/>
            <a:ext cx="8280920" cy="1325563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dirty="0" smtClean="0">
                <a:solidFill>
                  <a:schemeClr val="accent5"/>
                </a:solidFill>
              </a:rPr>
              <a:t>Structure de papillon pour n=2</a:t>
            </a:r>
            <a:endParaRPr lang="fr-CA" dirty="0">
              <a:solidFill>
                <a:schemeClr val="accent5"/>
              </a:solidFill>
            </a:endParaRPr>
          </a:p>
        </p:txBody>
      </p:sp>
      <p:pic>
        <p:nvPicPr>
          <p:cNvPr id="4" name="Espace réservé du contenu 4">
            <a:extLst>
              <a:ext uri="{FF2B5EF4-FFF2-40B4-BE49-F238E27FC236}">
                <a16:creationId xmlns="" xmlns:a16="http://schemas.microsoft.com/office/drawing/2014/main" id="{7F481AC0-9A6B-4F23-A2B1-765B7E8D9F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304702"/>
            <a:ext cx="7848872" cy="24386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="" xmlns:a16="http://schemas.microsoft.com/office/drawing/2014/main" id="{9780D072-E1F6-4B77-A4C4-89E5172D8D4F}"/>
                  </a:ext>
                </a:extLst>
              </p:cNvPr>
              <p:cNvSpPr txBox="1"/>
              <p:nvPr/>
            </p:nvSpPr>
            <p:spPr>
              <a:xfrm>
                <a:off x="2372072" y="1700808"/>
                <a:ext cx="4615879" cy="1358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fr-FR" sz="2000" b="1" i="1" smtClean="0">
                              <a:solidFill>
                                <a:srgbClr val="000000"/>
                              </a:solidFill>
                              <a:effectLst/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20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̂"/>
                                  <m:ctrlPr>
                                    <a:rPr lang="fr-FR" sz="20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fr-CA" sz="20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sz="20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num>
                                    <m:den>
                                      <m: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fr-CA" sz="20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fr-FR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p>
                              </m:sSubSup>
                              <m:r>
                                <a:rPr lang="fr-CA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Sup>
                                <m:sSubSupPr>
                                  <m:ctrlP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sz="20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num>
                                    <m:den>
                                      <m:r>
                                        <a:rPr lang="fr-CA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fr-FR" sz="20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fr-CA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num>
                                    <m:den>
                                      <m: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fr-CA" sz="20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sz="20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num>
                                    <m:den>
                                      <m:r>
                                        <a:rPr lang="fr-CA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  <m:r>
                                <a:rPr lang="fr-CA" sz="20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p>
                              </m:sSubSup>
                              <m:r>
                                <a:rPr lang="fr-CA" sz="20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Sup>
                                <m:sSubSupPr>
                                  <m:ctrlP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fr-FR" sz="2000" i="1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CA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f>
                                    <m:fPr>
                                      <m:ctrlPr>
                                        <a:rPr lang="fr-CA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CA" sz="20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num>
                                    <m:den>
                                      <m:r>
                                        <a:rPr lang="fr-CA" sz="20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sub>
                                <m:sup>
                                  <m: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fr-CA" sz="2000" b="1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fr-CA" sz="20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fr-CA" sz="2000" b="1" dirty="0"/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780D072-E1F6-4B77-A4C4-89E5172D8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072" y="1700808"/>
                <a:ext cx="4615879" cy="135883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09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="" xmlns:a16="http://schemas.microsoft.com/office/drawing/2014/main" id="{C989BB62-2B7F-45C1-B49E-C7CE1C9B8E7F}"/>
              </a:ext>
            </a:extLst>
          </p:cNvPr>
          <p:cNvSpPr txBox="1">
            <a:spLocks/>
          </p:cNvSpPr>
          <p:nvPr/>
        </p:nvSpPr>
        <p:spPr>
          <a:xfrm>
            <a:off x="539552" y="212782"/>
            <a:ext cx="8280920" cy="1325563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dirty="0" smtClean="0">
                <a:solidFill>
                  <a:schemeClr val="accent5"/>
                </a:solidFill>
              </a:rPr>
              <a:t>Structure de papillon pour n=4</a:t>
            </a:r>
            <a:endParaRPr lang="fr-CA" dirty="0">
              <a:solidFill>
                <a:schemeClr val="accent5"/>
              </a:solidFill>
            </a:endParaRPr>
          </a:p>
        </p:txBody>
      </p:sp>
      <p:pic>
        <p:nvPicPr>
          <p:cNvPr id="6" name="Espace réservé du contenu 4">
            <a:extLst>
              <a:ext uri="{FF2B5EF4-FFF2-40B4-BE49-F238E27FC236}">
                <a16:creationId xmlns="" xmlns:a16="http://schemas.microsoft.com/office/drawing/2014/main" id="{CD8F8A4A-405E-44BE-8100-CE66D3BC2B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16832"/>
            <a:ext cx="8280920" cy="3496560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="" xmlns:a16="http://schemas.microsoft.com/office/drawing/2014/main" id="{93618553-D620-4085-830E-80AEA7960689}"/>
              </a:ext>
            </a:extLst>
          </p:cNvPr>
          <p:cNvSpPr txBox="1">
            <a:spLocks/>
          </p:cNvSpPr>
          <p:nvPr/>
        </p:nvSpPr>
        <p:spPr>
          <a:xfrm>
            <a:off x="449363" y="5733256"/>
            <a:ext cx="8345242" cy="879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dirty="0"/>
              <a:t>Comment on a classe les échantillonnes au départ?</a:t>
            </a:r>
          </a:p>
        </p:txBody>
      </p:sp>
    </p:spTree>
    <p:extLst>
      <p:ext uri="{BB962C8B-B14F-4D97-AF65-F5344CB8AC3E}">
        <p14:creationId xmlns:p14="http://schemas.microsoft.com/office/powerpoint/2010/main" val="97557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="" xmlns:a16="http://schemas.microsoft.com/office/drawing/2014/main" id="{5B2E1F6B-D941-4F3C-8896-7DEC2F1D9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479" y="1931012"/>
            <a:ext cx="7343775" cy="3543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id="{6653B727-2EF3-4F65-8E8F-8CEC103A9CC1}"/>
                  </a:ext>
                </a:extLst>
              </p:cNvPr>
              <p:cNvSpPr/>
              <p:nvPr/>
            </p:nvSpPr>
            <p:spPr>
              <a:xfrm>
                <a:off x="1142479" y="692696"/>
                <a:ext cx="5243513" cy="792088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2800" b="1" i="1" smtClean="0">
                            <a:solidFill>
                              <a:schemeClr val="accent4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fr-CA" sz="28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fr-CA" sz="2800" b="1" i="0" u="none" dirty="0">
                    <a:solidFill>
                      <a:schemeClr val="accent4"/>
                    </a:solidFill>
                  </a:rPr>
                  <a:t>(k</a:t>
                </a:r>
                <a:r>
                  <a:rPr lang="el-GR" sz="2800" b="1" i="0" u="none" dirty="0">
                    <a:solidFill>
                      <a:schemeClr val="accent4"/>
                    </a:solidFill>
                  </a:rPr>
                  <a:t>)</a:t>
                </a:r>
                <a:r>
                  <a:rPr lang="fr-CA" sz="2800" b="1" i="0" u="none" dirty="0">
                    <a:solidFill>
                      <a:schemeClr val="accent4"/>
                    </a:solidFill>
                  </a:rPr>
                  <a:t>=Paire(k)+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800" b="1" i="1" u="none" smtClean="0">
                            <a:solidFill>
                              <a:schemeClr val="accent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2800" b="1" i="1" smtClean="0">
                                <a:solidFill>
                                  <a:schemeClr val="accent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fr-CA" sz="2800" b="1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fr-FR" sz="2800" b="1" i="0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fr-CA" sz="2800" b="1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fr-CA" sz="2800" b="1" dirty="0">
                    <a:solidFill>
                      <a:schemeClr val="accent4"/>
                    </a:solidFill>
                  </a:rPr>
                  <a:t>*</a:t>
                </a:r>
                <a:r>
                  <a:rPr lang="fr-CA" sz="2800" b="1" dirty="0" smtClean="0">
                    <a:solidFill>
                      <a:schemeClr val="accent4"/>
                    </a:solidFill>
                  </a:rPr>
                  <a:t>Impaire(k</a:t>
                </a:r>
                <a:r>
                  <a:rPr lang="fr-CA" sz="2800" dirty="0" smtClean="0">
                    <a:solidFill>
                      <a:schemeClr val="accent4"/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653B727-2EF3-4F65-8E8F-8CEC103A9C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479" y="692696"/>
                <a:ext cx="5243513" cy="792088"/>
              </a:xfrm>
              <a:prstGeom prst="rect">
                <a:avLst/>
              </a:prstGeom>
              <a:blipFill rotWithShape="1">
                <a:blip r:embed="rId3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28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4">
            <a:extLst>
              <a:ext uri="{FF2B5EF4-FFF2-40B4-BE49-F238E27FC236}">
                <a16:creationId xmlns="" xmlns:a16="http://schemas.microsoft.com/office/drawing/2014/main" id="{2CC363F6-399A-4DCE-9D33-050C5D6F3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79726"/>
            <a:ext cx="8498045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61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space réservé du contenu 4">
            <a:extLst>
              <a:ext uri="{FF2B5EF4-FFF2-40B4-BE49-F238E27FC236}">
                <a16:creationId xmlns="" xmlns:a16="http://schemas.microsoft.com/office/drawing/2014/main" id="{2405612C-7FA1-49C3-A15D-B48B0F0CC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548680"/>
            <a:ext cx="8655696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>
            <a:extLst>
              <a:ext uri="{FF2B5EF4-FFF2-40B4-BE49-F238E27FC236}">
                <a16:creationId xmlns="" xmlns:a16="http://schemas.microsoft.com/office/drawing/2014/main" id="{DC90B889-02B5-4334-A328-D97B236AEBE4}"/>
              </a:ext>
            </a:extLst>
          </p:cNvPr>
          <p:cNvSpPr txBox="1">
            <a:spLocks/>
          </p:cNvSpPr>
          <p:nvPr/>
        </p:nvSpPr>
        <p:spPr>
          <a:xfrm>
            <a:off x="755576" y="404664"/>
            <a:ext cx="8054280" cy="760413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b="1" dirty="0" smtClean="0">
                <a:solidFill>
                  <a:schemeClr val="accent4"/>
                </a:solidFill>
              </a:rPr>
              <a:t>-ordonnancement de indices </a:t>
            </a:r>
            <a:endParaRPr lang="fr-CA" b="1" dirty="0">
              <a:solidFill>
                <a:schemeClr val="accent4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3A945D9A-CAD3-4658-8C5F-41EF3A764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02" y="1628800"/>
            <a:ext cx="7448856" cy="440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9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="" xmlns:a16="http://schemas.microsoft.com/office/drawing/2014/main" id="{7746E4A0-A7CF-4CB8-BCAB-77933CE8D8CF}"/>
              </a:ext>
            </a:extLst>
          </p:cNvPr>
          <p:cNvSpPr txBox="1">
            <a:spLocks/>
          </p:cNvSpPr>
          <p:nvPr/>
        </p:nvSpPr>
        <p:spPr>
          <a:xfrm>
            <a:off x="755574" y="35743"/>
            <a:ext cx="7624253" cy="132556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dirty="0" smtClean="0">
                <a:solidFill>
                  <a:schemeClr val="accent5"/>
                </a:solidFill>
              </a:rPr>
              <a:t>Structure de papillon pour n=8</a:t>
            </a:r>
            <a:endParaRPr lang="fr-CA" dirty="0">
              <a:solidFill>
                <a:schemeClr val="accent5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="" xmlns:a16="http://schemas.microsoft.com/office/drawing/2014/main" id="{BAFCDEF9-5ACB-473B-BD87-C9A3B99F3D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70961" y="72467"/>
            <a:ext cx="4993479" cy="762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4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="" xmlns:a16="http://schemas.microsoft.com/office/drawing/2014/main" id="{7746E4A0-A7CF-4CB8-BCAB-77933CE8D8CF}"/>
              </a:ext>
            </a:extLst>
          </p:cNvPr>
          <p:cNvSpPr txBox="1">
            <a:spLocks/>
          </p:cNvSpPr>
          <p:nvPr/>
        </p:nvSpPr>
        <p:spPr>
          <a:xfrm>
            <a:off x="763755" y="116632"/>
            <a:ext cx="7624253" cy="132556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dirty="0">
                <a:solidFill>
                  <a:schemeClr val="accent5"/>
                </a:solidFill>
              </a:rPr>
              <a:t>Implémentation de l </a:t>
            </a:r>
            <a:r>
              <a:rPr lang="fr-CA" dirty="0" smtClean="0">
                <a:solidFill>
                  <a:schemeClr val="accent5"/>
                </a:solidFill>
              </a:rPr>
              <a:t>FFT </a:t>
            </a:r>
            <a:r>
              <a:rPr lang="fr-CA" dirty="0">
                <a:solidFill>
                  <a:schemeClr val="accent5"/>
                </a:solidFill>
              </a:rPr>
              <a:t>sur python</a:t>
            </a:r>
            <a:endParaRPr lang="fr-CA" dirty="0">
              <a:solidFill>
                <a:schemeClr val="accent5"/>
              </a:solidFill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="" xmlns:a16="http://schemas.microsoft.com/office/drawing/2014/main" id="{9730D360-8E5E-4FAE-B7CF-63A2CC040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44" y="1700808"/>
            <a:ext cx="8595874" cy="451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8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  <a:solidFill>
            <a:schemeClr val="accent5"/>
          </a:solidFill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FR" dirty="0" smtClean="0">
                <a:solidFill>
                  <a:schemeClr val="accent4"/>
                </a:solidFill>
              </a:rPr>
              <a:t>Utilisation de La DFT pour la compression d’image et d’audio</a:t>
            </a:r>
            <a:endParaRPr lang="fr-F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97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  <a:solidFill>
            <a:schemeClr val="accent6"/>
          </a:solidFill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FR" dirty="0" smtClean="0">
                <a:solidFill>
                  <a:schemeClr val="accent4"/>
                </a:solidFill>
              </a:rPr>
              <a:t>Compression </a:t>
            </a:r>
            <a:r>
              <a:rPr lang="fr-FR" dirty="0" smtClean="0">
                <a:solidFill>
                  <a:schemeClr val="accent4"/>
                </a:solidFill>
              </a:rPr>
              <a:t>d’Audio</a:t>
            </a:r>
            <a:endParaRPr lang="fr-F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16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755576" y="548680"/>
            <a:ext cx="7704856" cy="5688632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7200" dirty="0"/>
          </a:p>
          <a:p>
            <a:r>
              <a:rPr lang="fr-FR" sz="7400" dirty="0" smtClean="0">
                <a:solidFill>
                  <a:schemeClr val="accent6"/>
                </a:solidFill>
              </a:rPr>
              <a:t>Un </a:t>
            </a:r>
            <a:r>
              <a:rPr lang="fr-FR" sz="7400" dirty="0">
                <a:solidFill>
                  <a:schemeClr val="accent6"/>
                </a:solidFill>
              </a:rPr>
              <a:t>signal audio est une variation d’amplitude au cours du temps , donc on peut le considérer comme une fonction </a:t>
            </a:r>
            <a:r>
              <a:rPr lang="fr-FR" sz="7400" dirty="0" smtClean="0">
                <a:solidFill>
                  <a:schemeClr val="accent6"/>
                </a:solidFill>
              </a:rPr>
              <a:t>où l’amplitude est l’image du temps</a:t>
            </a:r>
            <a:r>
              <a:rPr lang="fr-FR" sz="7400" dirty="0">
                <a:solidFill>
                  <a:schemeClr val="accent6"/>
                </a:solidFill>
              </a:rPr>
              <a:t>.</a:t>
            </a:r>
          </a:p>
          <a:p>
            <a:endParaRPr lang="fr-FR" sz="7400" dirty="0">
              <a:solidFill>
                <a:schemeClr val="accent6"/>
              </a:solidFill>
            </a:endParaRPr>
          </a:p>
          <a:p>
            <a:r>
              <a:rPr lang="fr-FR" sz="7400" dirty="0">
                <a:solidFill>
                  <a:schemeClr val="accent6"/>
                </a:solidFill>
              </a:rPr>
              <a:t>Pour compresser ce signal , dans le domaine temporel on ne peut pas savoir les parties qui on une grande influence sur l’information .</a:t>
            </a:r>
          </a:p>
          <a:p>
            <a:endParaRPr lang="fr-FR" sz="7400" dirty="0">
              <a:solidFill>
                <a:schemeClr val="accent6"/>
              </a:solidFill>
            </a:endParaRPr>
          </a:p>
          <a:p>
            <a:r>
              <a:rPr lang="fr-FR" sz="7400" dirty="0">
                <a:solidFill>
                  <a:schemeClr val="accent6"/>
                </a:solidFill>
              </a:rPr>
              <a:t>Par contre dans le domaine fréquentiel , tout cela devient claire! </a:t>
            </a:r>
            <a:endParaRPr lang="fr-FR" sz="7400" dirty="0" smtClean="0">
              <a:solidFill>
                <a:schemeClr val="accent6"/>
              </a:solidFill>
            </a:endParaRPr>
          </a:p>
          <a:p>
            <a:endParaRPr lang="fr-FR" sz="7400" dirty="0" smtClean="0">
              <a:solidFill>
                <a:schemeClr val="accent6"/>
              </a:solidFill>
            </a:endParaRPr>
          </a:p>
          <a:p>
            <a:r>
              <a:rPr lang="fr-FR" sz="7400" dirty="0" smtClean="0">
                <a:solidFill>
                  <a:schemeClr val="accent6"/>
                </a:solidFill>
              </a:rPr>
              <a:t>Dans ce qui suit , nous allons utiliser Matlab pour représenter le spectre de n’importe quel signal audio et éliminer les parties avec les puissances négligeable , qui occupent de l’espace dans la machine mais n’ont pas une grande influence sur l’information.</a:t>
            </a:r>
          </a:p>
          <a:p>
            <a:endParaRPr lang="fr-FR" sz="7400" dirty="0">
              <a:solidFill>
                <a:schemeClr val="accent6"/>
              </a:solidFill>
            </a:endParaRPr>
          </a:p>
          <a:p>
            <a:endParaRPr lang="fr-FR" sz="7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1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11560" y="332656"/>
            <a:ext cx="5827092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Scripte pour </a:t>
            </a:r>
            <a:r>
              <a:rPr lang="fr-FR" sz="2400" b="1" dirty="0" smtClean="0">
                <a:solidFill>
                  <a:schemeClr val="accent4"/>
                </a:solidFill>
              </a:rPr>
              <a:t>générer le spectre d’un audio: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1026" name="Picture 2" descr="C:\Users\Youness_BEN\Desktop\presentations\Nouveau dossier\compresion\scripte pour affichage du spect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35166"/>
            <a:ext cx="7992887" cy="475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34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11560" y="332656"/>
            <a:ext cx="5827092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Résultat: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2050" name="Picture 2" descr="C:\Users\Youness_BEN\Desktop\presentations\Nouveau dossier\compresion\spectreAudio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24744"/>
            <a:ext cx="7776864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347864" y="5373216"/>
            <a:ext cx="936104" cy="5760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5004048" y="5331974"/>
            <a:ext cx="936104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avec flèche 12"/>
          <p:cNvCxnSpPr>
            <a:endCxn id="7" idx="0"/>
          </p:cNvCxnSpPr>
          <p:nvPr/>
        </p:nvCxnSpPr>
        <p:spPr>
          <a:xfrm>
            <a:off x="3059832" y="3681028"/>
            <a:ext cx="2412268" cy="16509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endCxn id="2" idx="0"/>
          </p:cNvCxnSpPr>
          <p:nvPr/>
        </p:nvCxnSpPr>
        <p:spPr>
          <a:xfrm>
            <a:off x="3059832" y="3681028"/>
            <a:ext cx="756084" cy="16921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1951381" y="2132856"/>
            <a:ext cx="1617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On peut constater que dans ces parties il y en a des fréquences de basse énergie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5148064" y="2132856"/>
            <a:ext cx="2088232" cy="147732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4"/>
                </a:solidFill>
              </a:rPr>
              <a:t>Notre objectif maintenant et de trouver une façon pour éliminer ces fréquences. </a:t>
            </a:r>
            <a:endParaRPr lang="fr-FR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43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6" grpId="0"/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1560" y="332656"/>
            <a:ext cx="7704856" cy="83099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Scripte pour éliminer les fréquences dont l’amplitude est négligeable: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3075" name="Picture 3" descr="C:\Users\Youness_BEN\Desktop\presentations\Nouveau dossier\compresion\scripte nouveau specte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7704856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11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1560" y="332656"/>
            <a:ext cx="7704856" cy="83099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Comparaison du spectre avant et le spectre après la compression 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4098" name="Picture 2" descr="C:\Users\Youness_BEN\Desktop\presentations\Nouveau dossier\compresion\spectreAudi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484785"/>
            <a:ext cx="7704856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3415192" y="2348880"/>
            <a:ext cx="2592288" cy="1754326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4"/>
                </a:solidFill>
              </a:rPr>
              <a:t>Il n y a pas une grande différence ,mais si on agrandi ,on pourra voir ce qui se passe clairement.</a:t>
            </a:r>
          </a:p>
          <a:p>
            <a:endParaRPr lang="fr-FR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74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1560" y="332656"/>
            <a:ext cx="7704856" cy="83099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Comparaison du spectre avant et le spectre après la compression 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5122" name="Picture 2" descr="C:\Users\Youness_BEN\Desktop\presentations\Nouveau dossier\compresion\graphcomparais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19982"/>
            <a:ext cx="7704855" cy="498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178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  <a:solidFill>
            <a:schemeClr val="accent6"/>
          </a:solidFill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FR" dirty="0" smtClean="0">
                <a:solidFill>
                  <a:schemeClr val="accent4"/>
                </a:solidFill>
              </a:rPr>
              <a:t>Compression d’image</a:t>
            </a:r>
            <a:endParaRPr lang="fr-FR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62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pic>
        <p:nvPicPr>
          <p:cNvPr id="5" name="Picture 2" descr="C:\Users\Youness_BEN\Desktop\présentation traitement de signal\M6_2DImageDigitalRepresentati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7632847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755576" y="188640"/>
            <a:ext cx="7632848" cy="144655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5"/>
                </a:solidFill>
              </a:rPr>
              <a:t>Représentation d’une image dans une machine</a:t>
            </a:r>
            <a:endParaRPr lang="fr-FR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45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493204" y="476672"/>
            <a:ext cx="8229600" cy="5760640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>
                <a:solidFill>
                  <a:schemeClr val="accent3"/>
                </a:solidFill>
              </a:rPr>
              <a:t>Les images sont représenté sous forme d’une </a:t>
            </a:r>
            <a:r>
              <a:rPr lang="fr-FR" b="1" dirty="0">
                <a:solidFill>
                  <a:schemeClr val="accent5"/>
                </a:solidFill>
              </a:rPr>
              <a:t>matrice</a:t>
            </a:r>
            <a:r>
              <a:rPr lang="fr-FR" dirty="0">
                <a:solidFill>
                  <a:schemeClr val="accent3"/>
                </a:solidFill>
              </a:rPr>
              <a:t>, telle que, à chaque élément de cette </a:t>
            </a:r>
            <a:r>
              <a:rPr lang="fr-FR" b="1" dirty="0">
                <a:solidFill>
                  <a:schemeClr val="accent5"/>
                </a:solidFill>
              </a:rPr>
              <a:t>matrice </a:t>
            </a:r>
            <a:r>
              <a:rPr lang="fr-FR" dirty="0">
                <a:solidFill>
                  <a:schemeClr val="accent3"/>
                </a:solidFill>
              </a:rPr>
              <a:t>on associe une valeur qui est interprétée en suite dans l’afficheur par un niveau entre le blanc et le noir (image noir et blanc).</a:t>
            </a:r>
          </a:p>
          <a:p>
            <a:pPr algn="l"/>
            <a:endParaRPr lang="fr-FR" dirty="0">
              <a:solidFill>
                <a:schemeClr val="accent3"/>
              </a:solidFill>
            </a:endParaRPr>
          </a:p>
          <a:p>
            <a:pPr algn="l"/>
            <a:r>
              <a:rPr lang="fr-FR" dirty="0">
                <a:solidFill>
                  <a:schemeClr val="accent3"/>
                </a:solidFill>
              </a:rPr>
              <a:t>C’est la même histoire pour les images en </a:t>
            </a:r>
            <a:r>
              <a:rPr lang="fr-FR" dirty="0" smtClean="0">
                <a:solidFill>
                  <a:schemeClr val="accent3"/>
                </a:solidFill>
              </a:rPr>
              <a:t>couleurs , </a:t>
            </a:r>
            <a:r>
              <a:rPr lang="fr-FR" dirty="0">
                <a:solidFill>
                  <a:schemeClr val="accent3"/>
                </a:solidFill>
              </a:rPr>
              <a:t>sauf cette fois ci chaque élément de </a:t>
            </a:r>
            <a:r>
              <a:rPr lang="fr-FR" dirty="0" smtClean="0">
                <a:solidFill>
                  <a:schemeClr val="accent3"/>
                </a:solidFill>
              </a:rPr>
              <a:t>cette </a:t>
            </a:r>
            <a:r>
              <a:rPr lang="fr-FR" dirty="0">
                <a:solidFill>
                  <a:schemeClr val="accent3"/>
                </a:solidFill>
              </a:rPr>
              <a:t>matrice est un triplet au lieu d’une seule valeur (rouge , vert , bleu).</a:t>
            </a:r>
          </a:p>
          <a:p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69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500225" y="2204864"/>
            <a:ext cx="8229600" cy="1872208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 smtClean="0">
                <a:solidFill>
                  <a:schemeClr val="accent3"/>
                </a:solidFill>
              </a:rPr>
              <a:t>Donc une image est une fonction qui prend un point de l’espace (</a:t>
            </a:r>
            <a:r>
              <a:rPr lang="fr-FR" dirty="0" err="1" smtClean="0">
                <a:solidFill>
                  <a:schemeClr val="accent3"/>
                </a:solidFill>
              </a:rPr>
              <a:t>x,y</a:t>
            </a:r>
            <a:r>
              <a:rPr lang="fr-FR" dirty="0" smtClean="0">
                <a:solidFill>
                  <a:schemeClr val="accent3"/>
                </a:solidFill>
              </a:rPr>
              <a:t>) , et lui associe un niveau entre le noir et le blanc ou une couleur.</a:t>
            </a:r>
            <a:endParaRPr lang="fr-FR" dirty="0">
              <a:solidFill>
                <a:schemeClr val="accent3"/>
              </a:solidFill>
            </a:endParaRPr>
          </a:p>
          <a:p>
            <a:endParaRPr lang="fr-F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56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755576" y="188640"/>
            <a:ext cx="7632848" cy="144655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5"/>
                </a:solidFill>
              </a:rPr>
              <a:t>Fonction périodique à deux variables</a:t>
            </a:r>
            <a:endParaRPr lang="fr-FR" sz="4400" b="1" dirty="0">
              <a:solidFill>
                <a:schemeClr val="accent5"/>
              </a:solidFill>
            </a:endParaRPr>
          </a:p>
        </p:txBody>
      </p:sp>
      <p:pic>
        <p:nvPicPr>
          <p:cNvPr id="4" name="Picture 2" descr="C:\Users\Youness_BEN\Desktop\présentation traitement de signal\fonction 2 var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41" y="1772816"/>
            <a:ext cx="4554440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5364088" y="1772816"/>
            <a:ext cx="331236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6">
                    <a:lumMod val="75000"/>
                  </a:schemeClr>
                </a:solidFill>
              </a:rPr>
              <a:t>F(X,Y) = cos(X)sin(Y)</a:t>
            </a:r>
          </a:p>
          <a:p>
            <a:endParaRPr lang="fr-FR" sz="28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fr-FR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sz="2800" b="1" dirty="0">
                <a:solidFill>
                  <a:schemeClr val="accent6">
                    <a:lumMod val="75000"/>
                  </a:schemeClr>
                </a:solidFill>
              </a:rPr>
              <a:t>On remarque que la période n’est plus un intervalle ,c’est un air!!</a:t>
            </a:r>
          </a:p>
          <a:p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164172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Youness_BEN\Desktop\présentation traitement de signal\du haut fonction 2va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48" y="476672"/>
            <a:ext cx="4297197" cy="322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4932040" y="476672"/>
            <a:ext cx="34563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accent6">
                    <a:lumMod val="75000"/>
                  </a:schemeClr>
                </a:solidFill>
              </a:rPr>
              <a:t>Si on observe la figure précédente du haut , </a:t>
            </a:r>
          </a:p>
          <a:p>
            <a:r>
              <a:rPr lang="fr-FR" sz="3200" dirty="0">
                <a:solidFill>
                  <a:schemeClr val="accent6">
                    <a:lumMod val="75000"/>
                  </a:schemeClr>
                </a:solidFill>
              </a:rPr>
              <a:t>On peut voir la période clairement 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298448" y="4077072"/>
            <a:ext cx="845001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accent6">
                    <a:lumMod val="50000"/>
                  </a:schemeClr>
                </a:solidFill>
              </a:rPr>
              <a:t>La différence des couleurs  nous donne un renseignement sur le niveau (dans notre cas le plus bas niveaux est représenté en violet et le plus haut en jaune) , ceci va nous être utile pour comprendre comment le spectre d’une image est représenté.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385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1560" y="332656"/>
            <a:ext cx="7704856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Scripte Matlab pour générer le spectre d’une image 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6146" name="Picture 2" descr="C:\Users\Youness_BEN\Desktop\presentations\Nouveau dossier\compresion\scriptepourimgspect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7704856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83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1560" y="332656"/>
            <a:ext cx="7704856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Résultat: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7170" name="Picture 2" descr="C:\Users\Youness_BEN\Desktop\presentations\Nouveau dossier\compresion\spectreLo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7704856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72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 txBox="1">
            <a:spLocks/>
          </p:cNvSpPr>
          <p:nvPr/>
        </p:nvSpPr>
        <p:spPr>
          <a:xfrm>
            <a:off x="755576" y="548680"/>
            <a:ext cx="7704856" cy="5688632"/>
          </a:xfrm>
          <a:prstGeom prst="rect">
            <a:avLst/>
          </a:prstGeom>
          <a:gradFill flip="none" rotWithShape="1">
            <a:gsLst>
              <a:gs pos="0">
                <a:schemeClr val="bg1">
                  <a:tint val="66000"/>
                  <a:satMod val="160000"/>
                </a:schemeClr>
              </a:gs>
              <a:gs pos="50000">
                <a:schemeClr val="bg1">
                  <a:tint val="44500"/>
                  <a:satMod val="160000"/>
                </a:schemeClr>
              </a:gs>
              <a:gs pos="100000">
                <a:schemeClr val="bg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3600" dirty="0" smtClean="0">
              <a:solidFill>
                <a:schemeClr val="accent6"/>
              </a:solidFill>
            </a:endParaRPr>
          </a:p>
          <a:p>
            <a:r>
              <a:rPr lang="fr-FR" sz="3600" dirty="0" smtClean="0">
                <a:solidFill>
                  <a:schemeClr val="accent6"/>
                </a:solidFill>
              </a:rPr>
              <a:t>Pour compresser une image , on procédé de la même façon qu’on a utilisé pour l’audio .</a:t>
            </a:r>
          </a:p>
          <a:p>
            <a:endParaRPr lang="fr-FR" sz="3600" dirty="0">
              <a:solidFill>
                <a:schemeClr val="accent6"/>
              </a:solidFill>
            </a:endParaRPr>
          </a:p>
          <a:p>
            <a:r>
              <a:rPr lang="fr-FR" sz="3600" dirty="0" smtClean="0">
                <a:solidFill>
                  <a:schemeClr val="accent6"/>
                </a:solidFill>
              </a:rPr>
              <a:t>On élimine les fréquences avec amplitudes négligeables</a:t>
            </a:r>
          </a:p>
          <a:p>
            <a:endParaRPr lang="fr-FR" sz="7400" dirty="0">
              <a:solidFill>
                <a:schemeClr val="accent6"/>
              </a:solidFill>
            </a:endParaRPr>
          </a:p>
          <a:p>
            <a:endParaRPr lang="fr-FR" sz="7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46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1560" y="332656"/>
            <a:ext cx="7704856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Scripte pour compression d’image: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8194" name="Picture 2" descr="C:\Users\Youness_BEN\Desktop\presentations\Nouveau dossier\compresion\scripte de compress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7704856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28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1600" y="2132856"/>
            <a:ext cx="7920880" cy="424847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accent6"/>
                </a:solidFill>
              </a:rPr>
              <a:t>	</a:t>
            </a:r>
            <a:endParaRPr lang="fr-FR" dirty="0" smtClean="0">
              <a:solidFill>
                <a:schemeClr val="accent6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11560" y="332656"/>
            <a:ext cx="7704856" cy="461665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4"/>
                </a:solidFill>
              </a:rPr>
              <a:t>Résultat: </a:t>
            </a:r>
            <a:endParaRPr lang="fr-FR" sz="2400" b="1" dirty="0">
              <a:solidFill>
                <a:schemeClr val="accent4"/>
              </a:solidFill>
            </a:endParaRPr>
          </a:p>
        </p:txBody>
      </p:sp>
      <p:pic>
        <p:nvPicPr>
          <p:cNvPr id="9219" name="Picture 3" descr="C:\Users\Youness_BEN\Desktop\presentations\Nouveau dossier\compresion\fig com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268760"/>
            <a:ext cx="7704857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332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1259632" y="490075"/>
            <a:ext cx="6336704" cy="144655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4"/>
                </a:solidFill>
              </a:rPr>
              <a:t>Merci pour votre attention!!</a:t>
            </a:r>
            <a:endParaRPr lang="fr-FR" sz="4400" b="1" dirty="0">
              <a:solidFill>
                <a:schemeClr val="accent4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259632" y="2204864"/>
            <a:ext cx="6336704" cy="313932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5400" dirty="0" smtClean="0">
                <a:solidFill>
                  <a:schemeClr val="accent5">
                    <a:lumMod val="50000"/>
                  </a:schemeClr>
                </a:solidFill>
              </a:rPr>
              <a:t>Si vous avez des questions n’hésitez pas à les poser.</a:t>
            </a:r>
            <a:endParaRPr lang="fr-FR" sz="4400" dirty="0" smtClean="0">
              <a:solidFill>
                <a:schemeClr val="accent6"/>
              </a:solidFill>
            </a:endParaRPr>
          </a:p>
          <a:p>
            <a:r>
              <a:rPr lang="fr-FR" dirty="0"/>
              <a:t>	</a:t>
            </a:r>
            <a:r>
              <a:rPr lang="fr-FR" dirty="0" smtClean="0"/>
              <a:t>			</a:t>
            </a:r>
          </a:p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65567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telecom">
      <a:dk1>
        <a:srgbClr val="806667"/>
      </a:dk1>
      <a:lt1>
        <a:srgbClr val="A99BA8"/>
      </a:lt1>
      <a:dk2>
        <a:srgbClr val="E7CEC9"/>
      </a:dk2>
      <a:lt2>
        <a:srgbClr val="EEECE1"/>
      </a:lt2>
      <a:accent1>
        <a:srgbClr val="918697"/>
      </a:accent1>
      <a:accent2>
        <a:srgbClr val="433A3F"/>
      </a:accent2>
      <a:accent3>
        <a:srgbClr val="061518"/>
      </a:accent3>
      <a:accent4>
        <a:srgbClr val="FBF6F0"/>
      </a:accent4>
      <a:accent5>
        <a:srgbClr val="D0784A"/>
      </a:accent5>
      <a:accent6>
        <a:srgbClr val="54606E"/>
      </a:accent6>
      <a:hlink>
        <a:srgbClr val="4A505E"/>
      </a:hlink>
      <a:folHlink>
        <a:srgbClr val="E8A4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2079</TotalTime>
  <Words>2755</Words>
  <Application>Microsoft Office PowerPoint</Application>
  <PresentationFormat>Affichage à l'écran (4:3)</PresentationFormat>
  <Paragraphs>229</Paragraphs>
  <Slides>63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63</vt:i4>
      </vt:variant>
    </vt:vector>
  </HeadingPairs>
  <TitlesOfParts>
    <vt:vector size="64" baseType="lpstr">
      <vt:lpstr>Thème Office</vt:lpstr>
      <vt:lpstr>Présentation PowerPoint</vt:lpstr>
      <vt:lpstr>La Transformé de Fourier Discrète</vt:lpstr>
      <vt:lpstr>Rappelle sur les Séries de Fourier</vt:lpstr>
      <vt:lpstr>Séries de Fourier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La Transformé de Fourier Discrète (DFT).</vt:lpstr>
      <vt:lpstr>Représentation des signaux Dans une machine.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La Transformé de Fourier Rapide (FFT).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Utilisation de La DFT pour la compression d’image et d’audio</vt:lpstr>
      <vt:lpstr>Compression d’Audio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Compression d’image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Télécommunication Moderne</dc:title>
  <dc:creator>Youness_BEN</dc:creator>
  <cp:lastModifiedBy>Youness_BEN</cp:lastModifiedBy>
  <cp:revision>127</cp:revision>
  <dcterms:created xsi:type="dcterms:W3CDTF">2021-01-09T16:19:21Z</dcterms:created>
  <dcterms:modified xsi:type="dcterms:W3CDTF">2021-03-03T21:26:33Z</dcterms:modified>
</cp:coreProperties>
</file>