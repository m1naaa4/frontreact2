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27" r:id="rId33"/>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6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6109"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93877468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9bba96578_0_3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9bba9657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06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76cd54fe0b_0_22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76cd54fe0b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5477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6cd54fe0b_0_25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76cd54fe0b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94734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76cd54fe0b_0_38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76cd54fe0b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276149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9c16939530_0_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9c1693953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4217723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9bba96578_0_21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9bba96578_0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2707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9bba96578_0_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9bba9657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1163908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7dfafe7bfc_4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7dfafe7bfc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21488763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6ef5b8dbb3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6ef5b8db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lnSpc>
                <a:spcPct val="115000"/>
              </a:lnSpc>
              <a:spcBef>
                <a:spcPts val="0"/>
              </a:spcBef>
              <a:spcAft>
                <a:spcPts val="0"/>
              </a:spcAft>
              <a:buClr>
                <a:schemeClr val="dk2"/>
              </a:buClr>
              <a:buSzPts val="1200"/>
              <a:buChar char="●"/>
            </a:pPr>
            <a:endParaRPr/>
          </a:p>
        </p:txBody>
      </p:sp>
    </p:spTree>
    <p:extLst>
      <p:ext uri="{BB962C8B-B14F-4D97-AF65-F5344CB8AC3E}">
        <p14:creationId xmlns:p14="http://schemas.microsoft.com/office/powerpoint/2010/main" val="1814083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76cd54fe0b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76cd54fe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7963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9bba96578_0_6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9bba96578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879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76cd54fe0b_0_1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76cd54fe0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3686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76cd54fe0b_0_2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76cd54fe0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5729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c03e54e5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9c03e54e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3701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9c03e54e5_0_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9c03e54e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8947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76cd54fe0b_0_7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76cd54fe0b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2677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76cd54fe0b_0_10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76cd54fe0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6523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76cd54fe0b_0_44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76cd54fe0b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039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76cd54fe0b_0_5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76cd54fe0b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57273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76cd54fe0b_0_8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76cd54fe0b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9291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76cd54fe0b_0_11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76cd54fe0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3083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9bba96578_0_11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9bba96578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290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76cd54fe0b_0_32: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76cd54fe0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1103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847038934d_0_6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847038934d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025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47038934d_0_2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847038934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64157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847038934d_0_89: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847038934d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7511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847038934d_0_4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847038934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8920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9bba96578_0_143: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9bba96578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3523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963109c0a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963109c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81262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6f0727a520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6f0727a5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0772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963109c0a_0_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2963109c0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14051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b00aceaa9e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9" name="Google Shape;1019;gb00aceaa9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5111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827306"/>
            <a:ext cx="8520600" cy="2280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149028"/>
            <a:ext cx="8520600" cy="880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280528"/>
            <a:ext cx="8520600" cy="3795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280528"/>
            <a:ext cx="3999900" cy="379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280528"/>
            <a:ext cx="3999900" cy="379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94472"/>
            <a:ext cx="8520600" cy="636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617333"/>
            <a:ext cx="2808000" cy="839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544000"/>
            <a:ext cx="2808000" cy="35328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500167"/>
            <a:ext cx="6367800" cy="4545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39"/>
            <a:ext cx="4572000" cy="57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370194"/>
            <a:ext cx="4045200" cy="16470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114528"/>
            <a:ext cx="4045200" cy="1372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804528"/>
            <a:ext cx="3837000" cy="41058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700639"/>
            <a:ext cx="5998800" cy="672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229028"/>
            <a:ext cx="8520600" cy="21819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502472"/>
            <a:ext cx="8520600" cy="1445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5181352"/>
            <a:ext cx="548700" cy="4374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94472"/>
            <a:ext cx="8520600" cy="6363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280528"/>
            <a:ext cx="8520600" cy="3795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5181352"/>
            <a:ext cx="548700" cy="4374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wweeddoo.com/" TargetMode="External"/><Relationship Id="rId3" Type="http://schemas.openxmlformats.org/officeDocument/2006/relationships/hyperlink" Target="https://vc4a.com/" TargetMode="External"/><Relationship Id="rId7" Type="http://schemas.openxmlformats.org/officeDocument/2006/relationships/hyperlink" Target="https://www.f6s.co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adalidda.com/" TargetMode="External"/><Relationship Id="rId11" Type="http://schemas.openxmlformats.org/officeDocument/2006/relationships/image" Target="../media/image3.png"/><Relationship Id="rId5" Type="http://schemas.openxmlformats.org/officeDocument/2006/relationships/hyperlink" Target="https://lafrenchtech-aixmarseille.fr/concours-et-appels-a-candidatures-startup/" TargetMode="External"/><Relationship Id="rId10" Type="http://schemas.openxmlformats.org/officeDocument/2006/relationships/hyperlink" Target="https://challenges.vivatechnology.com/en/challenges/" TargetMode="External"/><Relationship Id="rId4" Type="http://schemas.openxmlformats.org/officeDocument/2006/relationships/hyperlink" Target="https://www.crunchbase.com/" TargetMode="External"/><Relationship Id="rId9" Type="http://schemas.openxmlformats.org/officeDocument/2006/relationships/hyperlink" Target="https://www.bpifrance.fr/A-la-une/Appels-a-projets-concour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a:stretch/>
        </p:blipFill>
        <p:spPr>
          <a:xfrm>
            <a:off x="2675288" y="2254900"/>
            <a:ext cx="3793427" cy="2783125"/>
          </a:xfrm>
          <a:prstGeom prst="rect">
            <a:avLst/>
          </a:prstGeom>
          <a:noFill/>
          <a:ln>
            <a:noFill/>
          </a:ln>
        </p:spPr>
      </p:pic>
      <p:pic>
        <p:nvPicPr>
          <p:cNvPr id="55" name="Google Shape;55;p13"/>
          <p:cNvPicPr preferRelativeResize="0"/>
          <p:nvPr/>
        </p:nvPicPr>
        <p:blipFill rotWithShape="1">
          <a:blip r:embed="rId4">
            <a:alphaModFix/>
          </a:blip>
          <a:srcRect t="13316" b="13316"/>
          <a:stretch/>
        </p:blipFill>
        <p:spPr>
          <a:xfrm>
            <a:off x="3180750" y="676975"/>
            <a:ext cx="2782502" cy="2041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PRÉSENTATION</a:t>
            </a:r>
            <a:endParaRPr/>
          </a:p>
        </p:txBody>
      </p:sp>
      <p:grpSp>
        <p:nvGrpSpPr>
          <p:cNvPr id="61" name="Google Shape;61;p14"/>
          <p:cNvGrpSpPr/>
          <p:nvPr/>
        </p:nvGrpSpPr>
        <p:grpSpPr>
          <a:xfrm>
            <a:off x="8467500" y="-18375"/>
            <a:ext cx="676500" cy="676500"/>
            <a:chOff x="8467500" y="-18375"/>
            <a:chExt cx="676500" cy="676500"/>
          </a:xfrm>
        </p:grpSpPr>
        <p:sp>
          <p:nvSpPr>
            <p:cNvPr id="62" name="Google Shape;62;p14"/>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 name="Google Shape;63;p14"/>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64" name="Google Shape;64;p14"/>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0" y="418200"/>
            <a:ext cx="9144000" cy="13476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fr" sz="1200" b="1">
                <a:solidFill>
                  <a:srgbClr val="000000"/>
                </a:solidFill>
              </a:rPr>
              <a:t>BUT DE LA PLATEFORME</a:t>
            </a:r>
            <a:endParaRPr sz="1200">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200">
                <a:solidFill>
                  <a:srgbClr val="000000"/>
                </a:solidFill>
              </a:rPr>
              <a:t>Permettre aux entrepreneurs de trouver des opportunités de financement et d’accompagnements pour leurs projets</a:t>
            </a:r>
            <a:endParaRPr sz="1200">
              <a:solidFill>
                <a:srgbClr val="000000"/>
              </a:solidFill>
            </a:endParaRPr>
          </a:p>
          <a:p>
            <a:pPr marL="0" lvl="0" indent="0" algn="ctr" rtl="0">
              <a:lnSpc>
                <a:spcPct val="115000"/>
              </a:lnSpc>
              <a:spcBef>
                <a:spcPts val="0"/>
              </a:spcBef>
              <a:spcAft>
                <a:spcPts val="0"/>
              </a:spcAft>
              <a:buClr>
                <a:schemeClr val="dk1"/>
              </a:buClr>
              <a:buSzPts val="1100"/>
              <a:buFont typeface="Arial"/>
              <a:buNone/>
            </a:pPr>
            <a:endParaRPr sz="1200">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200" b="1">
                <a:solidFill>
                  <a:srgbClr val="000000"/>
                </a:solidFill>
              </a:rPr>
              <a:t>RÔLES IDENTIFIÉS SUR LA PLATEFORME </a:t>
            </a:r>
            <a:endParaRPr sz="1200" b="1">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200">
                <a:solidFill>
                  <a:srgbClr val="000000"/>
                </a:solidFill>
              </a:rPr>
              <a:t>À savoir qu’il n'y a qu’un seul profil et non plusieurs profils, mais pouvant être identifiés selon le type d’offres qu’ils publient</a:t>
            </a:r>
            <a:r>
              <a:rPr lang="fr" sz="1200" b="1">
                <a:solidFill>
                  <a:srgbClr val="000000"/>
                </a:solidFill>
              </a:rPr>
              <a:t> </a:t>
            </a:r>
            <a:endParaRPr sz="1200" b="1">
              <a:solidFill>
                <a:srgbClr val="000000"/>
              </a:solidFill>
            </a:endParaRPr>
          </a:p>
        </p:txBody>
      </p:sp>
      <p:sp>
        <p:nvSpPr>
          <p:cNvPr id="70" name="Google Shape;70;p15"/>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PRÉSENTATION</a:t>
            </a:r>
            <a:endParaRPr b="1">
              <a:solidFill>
                <a:srgbClr val="000000"/>
              </a:solidFill>
            </a:endParaRPr>
          </a:p>
        </p:txBody>
      </p:sp>
      <p:grpSp>
        <p:nvGrpSpPr>
          <p:cNvPr id="71" name="Google Shape;71;p15"/>
          <p:cNvGrpSpPr/>
          <p:nvPr/>
        </p:nvGrpSpPr>
        <p:grpSpPr>
          <a:xfrm>
            <a:off x="8467500" y="-18375"/>
            <a:ext cx="676500" cy="676500"/>
            <a:chOff x="8467500" y="-18375"/>
            <a:chExt cx="676500" cy="676500"/>
          </a:xfrm>
        </p:grpSpPr>
        <p:sp>
          <p:nvSpPr>
            <p:cNvPr id="72" name="Google Shape;72;p15"/>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3" name="Google Shape;73;p15"/>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74" name="Google Shape;74;p15"/>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75" name="Google Shape;75;p15"/>
          <p:cNvSpPr txBox="1">
            <a:spLocks noGrp="1"/>
          </p:cNvSpPr>
          <p:nvPr>
            <p:ph type="body" idx="1"/>
          </p:nvPr>
        </p:nvSpPr>
        <p:spPr>
          <a:xfrm>
            <a:off x="620100" y="2120075"/>
            <a:ext cx="1805400" cy="5577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01CA4C"/>
                </a:solidFill>
              </a:rPr>
              <a:t>PORTEUR DE PROJET</a:t>
            </a:r>
            <a:endParaRPr sz="1100" b="1">
              <a:solidFill>
                <a:srgbClr val="01CA4C"/>
              </a:solidFill>
            </a:endParaRPr>
          </a:p>
        </p:txBody>
      </p:sp>
      <p:sp>
        <p:nvSpPr>
          <p:cNvPr id="76" name="Google Shape;76;p15"/>
          <p:cNvSpPr txBox="1">
            <a:spLocks noGrp="1"/>
          </p:cNvSpPr>
          <p:nvPr>
            <p:ph type="body" idx="1"/>
          </p:nvPr>
        </p:nvSpPr>
        <p:spPr>
          <a:xfrm>
            <a:off x="2652900" y="2108450"/>
            <a:ext cx="1805400" cy="5577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01CA4C"/>
                </a:solidFill>
              </a:rPr>
              <a:t>BAILLEUR </a:t>
            </a:r>
            <a:endParaRPr sz="1100" b="1">
              <a:solidFill>
                <a:srgbClr val="01CA4C"/>
              </a:solidFill>
            </a:endParaRPr>
          </a:p>
          <a:p>
            <a:pPr marL="0" lvl="0" indent="0" algn="ctr" rtl="0">
              <a:lnSpc>
                <a:spcPct val="115000"/>
              </a:lnSpc>
              <a:spcBef>
                <a:spcPts val="0"/>
              </a:spcBef>
              <a:spcAft>
                <a:spcPts val="0"/>
              </a:spcAft>
              <a:buClr>
                <a:schemeClr val="dk1"/>
              </a:buClr>
              <a:buSzPts val="1100"/>
              <a:buFont typeface="Arial"/>
              <a:buNone/>
            </a:pPr>
            <a:r>
              <a:rPr lang="fr" sz="1100" b="1">
                <a:solidFill>
                  <a:srgbClr val="01CA4C"/>
                </a:solidFill>
              </a:rPr>
              <a:t>DE FONDS</a:t>
            </a:r>
            <a:endParaRPr sz="1100" b="1">
              <a:solidFill>
                <a:srgbClr val="01CA4C"/>
              </a:solidFill>
            </a:endParaRPr>
          </a:p>
        </p:txBody>
      </p:sp>
      <p:sp>
        <p:nvSpPr>
          <p:cNvPr id="77" name="Google Shape;77;p15"/>
          <p:cNvSpPr txBox="1">
            <a:spLocks noGrp="1"/>
          </p:cNvSpPr>
          <p:nvPr>
            <p:ph type="body" idx="1"/>
          </p:nvPr>
        </p:nvSpPr>
        <p:spPr>
          <a:xfrm>
            <a:off x="4685700" y="2108450"/>
            <a:ext cx="1805400" cy="5577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01CA4C"/>
                </a:solidFill>
              </a:rPr>
              <a:t>ACCOMPAGNATEUR</a:t>
            </a:r>
            <a:endParaRPr sz="1100" b="1">
              <a:solidFill>
                <a:srgbClr val="01CA4C"/>
              </a:solidFill>
            </a:endParaRPr>
          </a:p>
        </p:txBody>
      </p:sp>
      <p:sp>
        <p:nvSpPr>
          <p:cNvPr id="78" name="Google Shape;78;p15"/>
          <p:cNvSpPr txBox="1">
            <a:spLocks noGrp="1"/>
          </p:cNvSpPr>
          <p:nvPr>
            <p:ph type="body" idx="1"/>
          </p:nvPr>
        </p:nvSpPr>
        <p:spPr>
          <a:xfrm>
            <a:off x="6718500" y="2108450"/>
            <a:ext cx="1805400" cy="5577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01CA4C"/>
                </a:solidFill>
              </a:rPr>
              <a:t>VISITEUR</a:t>
            </a:r>
            <a:endParaRPr sz="1100" b="1">
              <a:solidFill>
                <a:srgbClr val="01CA4C"/>
              </a:solidFill>
            </a:endParaRPr>
          </a:p>
        </p:txBody>
      </p:sp>
      <p:sp>
        <p:nvSpPr>
          <p:cNvPr id="79" name="Google Shape;79;p15"/>
          <p:cNvSpPr txBox="1">
            <a:spLocks noGrp="1"/>
          </p:cNvSpPr>
          <p:nvPr>
            <p:ph type="body" idx="1"/>
          </p:nvPr>
        </p:nvSpPr>
        <p:spPr>
          <a:xfrm>
            <a:off x="620100" y="2739289"/>
            <a:ext cx="1805400" cy="6627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Profil qui publie un projet Business</a:t>
            </a:r>
            <a:endParaRPr sz="1100">
              <a:solidFill>
                <a:srgbClr val="000000"/>
              </a:solidFill>
            </a:endParaRPr>
          </a:p>
        </p:txBody>
      </p:sp>
      <p:sp>
        <p:nvSpPr>
          <p:cNvPr id="80" name="Google Shape;80;p15"/>
          <p:cNvSpPr txBox="1">
            <a:spLocks noGrp="1"/>
          </p:cNvSpPr>
          <p:nvPr>
            <p:ph type="body" idx="1"/>
          </p:nvPr>
        </p:nvSpPr>
        <p:spPr>
          <a:xfrm>
            <a:off x="2652900" y="2725475"/>
            <a:ext cx="1805400" cy="6627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Profil qui publie une offre d’investissement</a:t>
            </a:r>
            <a:endParaRPr sz="1100">
              <a:solidFill>
                <a:srgbClr val="000000"/>
              </a:solidFill>
            </a:endParaRPr>
          </a:p>
        </p:txBody>
      </p:sp>
      <p:sp>
        <p:nvSpPr>
          <p:cNvPr id="81" name="Google Shape;81;p15"/>
          <p:cNvSpPr txBox="1">
            <a:spLocks noGrp="1"/>
          </p:cNvSpPr>
          <p:nvPr>
            <p:ph type="body" idx="1"/>
          </p:nvPr>
        </p:nvSpPr>
        <p:spPr>
          <a:xfrm>
            <a:off x="4685700" y="2725475"/>
            <a:ext cx="1805400" cy="6627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Profil qui publie une offre d’accompagnement</a:t>
            </a:r>
            <a:endParaRPr sz="1100">
              <a:solidFill>
                <a:srgbClr val="000000"/>
              </a:solidFill>
            </a:endParaRPr>
          </a:p>
        </p:txBody>
      </p:sp>
      <p:sp>
        <p:nvSpPr>
          <p:cNvPr id="82" name="Google Shape;82;p15"/>
          <p:cNvSpPr txBox="1">
            <a:spLocks noGrp="1"/>
          </p:cNvSpPr>
          <p:nvPr>
            <p:ph type="body" idx="1"/>
          </p:nvPr>
        </p:nvSpPr>
        <p:spPr>
          <a:xfrm>
            <a:off x="6718500" y="2725475"/>
            <a:ext cx="1805400" cy="6627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Profil qui n’a publié aucune offre pour le moment</a:t>
            </a:r>
            <a:endParaRPr sz="1100">
              <a:solidFill>
                <a:srgbClr val="000000"/>
              </a:solidFill>
            </a:endParaRPr>
          </a:p>
        </p:txBody>
      </p:sp>
      <p:sp>
        <p:nvSpPr>
          <p:cNvPr id="83" name="Google Shape;83;p15"/>
          <p:cNvSpPr txBox="1">
            <a:spLocks noGrp="1"/>
          </p:cNvSpPr>
          <p:nvPr>
            <p:ph type="body" idx="1"/>
          </p:nvPr>
        </p:nvSpPr>
        <p:spPr>
          <a:xfrm>
            <a:off x="620100" y="3475597"/>
            <a:ext cx="1805400" cy="13476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Est intéressé par les offres d’investissement publiés par les </a:t>
            </a:r>
            <a:r>
              <a:rPr lang="fr" sz="1100" b="1">
                <a:solidFill>
                  <a:srgbClr val="000000"/>
                </a:solidFill>
              </a:rPr>
              <a:t>Bailleurs de fonds</a:t>
            </a:r>
            <a:r>
              <a:rPr lang="fr" sz="1100">
                <a:solidFill>
                  <a:srgbClr val="000000"/>
                </a:solidFill>
              </a:rPr>
              <a:t>, et les offres d’accompagnement des </a:t>
            </a:r>
            <a:r>
              <a:rPr lang="fr" sz="1100" b="1">
                <a:solidFill>
                  <a:srgbClr val="000000"/>
                </a:solidFill>
              </a:rPr>
              <a:t>accompagnateurs</a:t>
            </a:r>
            <a:endParaRPr sz="1100" b="1">
              <a:solidFill>
                <a:srgbClr val="000000"/>
              </a:solidFill>
            </a:endParaRPr>
          </a:p>
        </p:txBody>
      </p:sp>
      <p:sp>
        <p:nvSpPr>
          <p:cNvPr id="84" name="Google Shape;84;p15"/>
          <p:cNvSpPr txBox="1">
            <a:spLocks noGrp="1"/>
          </p:cNvSpPr>
          <p:nvPr>
            <p:ph type="body" idx="1"/>
          </p:nvPr>
        </p:nvSpPr>
        <p:spPr>
          <a:xfrm>
            <a:off x="2652900" y="3447500"/>
            <a:ext cx="1805400" cy="13476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Est intéressé par les projets d’entreprises publiés par les </a:t>
            </a:r>
            <a:r>
              <a:rPr lang="fr" sz="1100" b="1">
                <a:solidFill>
                  <a:srgbClr val="000000"/>
                </a:solidFill>
              </a:rPr>
              <a:t>porteurs de projet</a:t>
            </a:r>
            <a:endParaRPr sz="1100" b="1">
              <a:solidFill>
                <a:srgbClr val="000000"/>
              </a:solidFill>
            </a:endParaRPr>
          </a:p>
        </p:txBody>
      </p:sp>
      <p:sp>
        <p:nvSpPr>
          <p:cNvPr id="85" name="Google Shape;85;p15"/>
          <p:cNvSpPr txBox="1">
            <a:spLocks noGrp="1"/>
          </p:cNvSpPr>
          <p:nvPr>
            <p:ph type="body" idx="1"/>
          </p:nvPr>
        </p:nvSpPr>
        <p:spPr>
          <a:xfrm>
            <a:off x="4685700" y="3447500"/>
            <a:ext cx="1805400" cy="13476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Est intéressé par les projets d’entreprises publiés par les </a:t>
            </a:r>
            <a:r>
              <a:rPr lang="fr" sz="1100" b="1">
                <a:solidFill>
                  <a:schemeClr val="dk1"/>
                </a:solidFill>
              </a:rPr>
              <a:t>porteurs de projet</a:t>
            </a:r>
            <a:endParaRPr sz="1100">
              <a:solidFill>
                <a:srgbClr val="000000"/>
              </a:solidFill>
            </a:endParaRPr>
          </a:p>
        </p:txBody>
      </p:sp>
      <p:sp>
        <p:nvSpPr>
          <p:cNvPr id="86" name="Google Shape;86;p15"/>
          <p:cNvSpPr txBox="1">
            <a:spLocks noGrp="1"/>
          </p:cNvSpPr>
          <p:nvPr>
            <p:ph type="body" idx="1"/>
          </p:nvPr>
        </p:nvSpPr>
        <p:spPr>
          <a:xfrm>
            <a:off x="6718500" y="3447500"/>
            <a:ext cx="1805400" cy="13476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Est intéressé par tous les contenus sans préférence particulière.</a:t>
            </a:r>
            <a:endParaRPr sz="1100">
              <a:solidFill>
                <a:srgbClr val="000000"/>
              </a:solidFill>
            </a:endParaRPr>
          </a:p>
        </p:txBody>
      </p:sp>
      <p:sp>
        <p:nvSpPr>
          <p:cNvPr id="87" name="Google Shape;87;p15"/>
          <p:cNvSpPr txBox="1">
            <a:spLocks noGrp="1"/>
          </p:cNvSpPr>
          <p:nvPr>
            <p:ph type="body" idx="1"/>
          </p:nvPr>
        </p:nvSpPr>
        <p:spPr>
          <a:xfrm>
            <a:off x="826350" y="1775483"/>
            <a:ext cx="13929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OFFRE PROJET BUSINESS</a:t>
            </a:r>
            <a:endParaRPr sz="800" b="1">
              <a:solidFill>
                <a:srgbClr val="000000"/>
              </a:solidFill>
            </a:endParaRPr>
          </a:p>
        </p:txBody>
      </p:sp>
      <p:sp>
        <p:nvSpPr>
          <p:cNvPr id="88" name="Google Shape;88;p15"/>
          <p:cNvSpPr txBox="1">
            <a:spLocks noGrp="1"/>
          </p:cNvSpPr>
          <p:nvPr>
            <p:ph type="body" idx="1"/>
          </p:nvPr>
        </p:nvSpPr>
        <p:spPr>
          <a:xfrm>
            <a:off x="2962267" y="1775471"/>
            <a:ext cx="13929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OFFRE DE FINANCEMENT</a:t>
            </a:r>
            <a:endParaRPr sz="800" b="1">
              <a:solidFill>
                <a:srgbClr val="000000"/>
              </a:solidFill>
            </a:endParaRPr>
          </a:p>
        </p:txBody>
      </p:sp>
      <p:sp>
        <p:nvSpPr>
          <p:cNvPr id="89" name="Google Shape;89;p15"/>
          <p:cNvSpPr txBox="1">
            <a:spLocks noGrp="1"/>
          </p:cNvSpPr>
          <p:nvPr>
            <p:ph type="body" idx="1"/>
          </p:nvPr>
        </p:nvSpPr>
        <p:spPr>
          <a:xfrm>
            <a:off x="4891958" y="1775471"/>
            <a:ext cx="13929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OFFRE D’ACCOMPAGNEMENT</a:t>
            </a:r>
            <a:endParaRPr sz="800" b="1">
              <a:solidFill>
                <a:srgbClr val="000000"/>
              </a:solidFill>
            </a:endParaRPr>
          </a:p>
        </p:txBody>
      </p:sp>
      <p:sp>
        <p:nvSpPr>
          <p:cNvPr id="90" name="Google Shape;90;p15"/>
          <p:cNvSpPr txBox="1">
            <a:spLocks noGrp="1"/>
          </p:cNvSpPr>
          <p:nvPr>
            <p:ph type="body" idx="1"/>
          </p:nvPr>
        </p:nvSpPr>
        <p:spPr>
          <a:xfrm>
            <a:off x="6951475" y="1775471"/>
            <a:ext cx="13929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a:t>
            </a:r>
            <a:endParaRPr sz="800" b="1">
              <a:solidFill>
                <a:srgbClr val="000000"/>
              </a:solidFill>
            </a:endParaRPr>
          </a:p>
        </p:txBody>
      </p:sp>
      <p:sp>
        <p:nvSpPr>
          <p:cNvPr id="91" name="Google Shape;91;p15"/>
          <p:cNvSpPr txBox="1">
            <a:spLocks noGrp="1"/>
          </p:cNvSpPr>
          <p:nvPr>
            <p:ph type="body" idx="1"/>
          </p:nvPr>
        </p:nvSpPr>
        <p:spPr>
          <a:xfrm>
            <a:off x="620100" y="4872001"/>
            <a:ext cx="1805400" cy="843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Exemples:</a:t>
            </a:r>
            <a:endParaRPr sz="1100">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Auto Entrepreneur, PME lancée, Idée de projet…Etc.</a:t>
            </a:r>
            <a:endParaRPr sz="1100">
              <a:solidFill>
                <a:srgbClr val="000000"/>
              </a:solidFill>
            </a:endParaRPr>
          </a:p>
        </p:txBody>
      </p:sp>
      <p:sp>
        <p:nvSpPr>
          <p:cNvPr id="92" name="Google Shape;92;p15"/>
          <p:cNvSpPr txBox="1">
            <a:spLocks noGrp="1"/>
          </p:cNvSpPr>
          <p:nvPr>
            <p:ph type="body" idx="1"/>
          </p:nvPr>
        </p:nvSpPr>
        <p:spPr>
          <a:xfrm>
            <a:off x="2652900" y="4854425"/>
            <a:ext cx="1805400" cy="8607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Exemples:</a:t>
            </a:r>
            <a:endParaRPr sz="1100">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Fonds d’investissement, Incubateur, Entreprise privée, Angel… Etc</a:t>
            </a:r>
            <a:endParaRPr sz="1100">
              <a:solidFill>
                <a:srgbClr val="000000"/>
              </a:solidFill>
            </a:endParaRPr>
          </a:p>
        </p:txBody>
      </p:sp>
      <p:sp>
        <p:nvSpPr>
          <p:cNvPr id="93" name="Google Shape;93;p15"/>
          <p:cNvSpPr txBox="1">
            <a:spLocks noGrp="1"/>
          </p:cNvSpPr>
          <p:nvPr>
            <p:ph type="body" idx="1"/>
          </p:nvPr>
        </p:nvSpPr>
        <p:spPr>
          <a:xfrm>
            <a:off x="4685700" y="4854425"/>
            <a:ext cx="1805400" cy="8607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b="1">
                <a:solidFill>
                  <a:schemeClr val="dk1"/>
                </a:solidFill>
              </a:rPr>
              <a:t>Exemples:</a:t>
            </a:r>
            <a:endParaRPr sz="1100" b="1">
              <a:solidFill>
                <a:schemeClr val="dk1"/>
              </a:solidFill>
            </a:endParaRPr>
          </a:p>
          <a:p>
            <a:pPr marL="0" lvl="0" indent="0" algn="ctr" rtl="0">
              <a:spcBef>
                <a:spcPts val="0"/>
              </a:spcBef>
              <a:spcAft>
                <a:spcPts val="0"/>
              </a:spcAft>
              <a:buClr>
                <a:schemeClr val="dk1"/>
              </a:buClr>
              <a:buSzPts val="1100"/>
              <a:buFont typeface="Arial"/>
              <a:buNone/>
            </a:pPr>
            <a:r>
              <a:rPr lang="fr" sz="1100">
                <a:solidFill>
                  <a:schemeClr val="dk1"/>
                </a:solidFill>
              </a:rPr>
              <a:t>Mentor, Coach privé, Association...Etc</a:t>
            </a:r>
            <a:endParaRPr sz="1100">
              <a:solidFill>
                <a:schemeClr val="dk1"/>
              </a:solidFill>
            </a:endParaRPr>
          </a:p>
        </p:txBody>
      </p:sp>
      <p:sp>
        <p:nvSpPr>
          <p:cNvPr id="94" name="Google Shape;94;p15"/>
          <p:cNvSpPr txBox="1">
            <a:spLocks noGrp="1"/>
          </p:cNvSpPr>
          <p:nvPr>
            <p:ph type="body" idx="1"/>
          </p:nvPr>
        </p:nvSpPr>
        <p:spPr>
          <a:xfrm>
            <a:off x="6718500" y="4854425"/>
            <a:ext cx="1805400" cy="8607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000000"/>
                </a:solidFill>
              </a:rPr>
              <a:t>Exemples:</a:t>
            </a:r>
            <a:endParaRPr sz="1100" b="1">
              <a:solidFill>
                <a:srgbClr val="000000"/>
              </a:solidFill>
            </a:endParaRPr>
          </a:p>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Étudiants, Travailleurs… Etat...Etc</a:t>
            </a:r>
            <a:endParaRPr sz="11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6"/>
          <p:cNvSpPr txBox="1">
            <a:spLocks noGrp="1"/>
          </p:cNvSpPr>
          <p:nvPr>
            <p:ph type="body" idx="1"/>
          </p:nvPr>
        </p:nvSpPr>
        <p:spPr>
          <a:xfrm>
            <a:off x="-125" y="98325"/>
            <a:ext cx="5970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RÉCAPITULATIF DES PAGES PRINCIPALES</a:t>
            </a:r>
            <a:endParaRPr b="1">
              <a:solidFill>
                <a:srgbClr val="000000"/>
              </a:solidFill>
            </a:endParaRPr>
          </a:p>
        </p:txBody>
      </p:sp>
      <p:grpSp>
        <p:nvGrpSpPr>
          <p:cNvPr id="100" name="Google Shape;100;p16"/>
          <p:cNvGrpSpPr/>
          <p:nvPr/>
        </p:nvGrpSpPr>
        <p:grpSpPr>
          <a:xfrm>
            <a:off x="8467500" y="-18375"/>
            <a:ext cx="676500" cy="676500"/>
            <a:chOff x="8467500" y="-18375"/>
            <a:chExt cx="676500" cy="676500"/>
          </a:xfrm>
        </p:grpSpPr>
        <p:sp>
          <p:nvSpPr>
            <p:cNvPr id="101" name="Google Shape;101;p16"/>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 name="Google Shape;102;p16"/>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103" name="Google Shape;103;p16"/>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104" name="Google Shape;104;p16"/>
          <p:cNvSpPr txBox="1">
            <a:spLocks noGrp="1"/>
          </p:cNvSpPr>
          <p:nvPr>
            <p:ph type="body" idx="1"/>
          </p:nvPr>
        </p:nvSpPr>
        <p:spPr>
          <a:xfrm>
            <a:off x="2613275" y="1372012"/>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b="1">
                <a:solidFill>
                  <a:srgbClr val="FFFFFF"/>
                </a:solidFill>
              </a:rPr>
              <a:t>PAGES D’</a:t>
            </a:r>
            <a:r>
              <a:rPr lang="fr" sz="1100" b="1">
                <a:solidFill>
                  <a:srgbClr val="00CA4C"/>
                </a:solidFill>
              </a:rPr>
              <a:t>EXPLORATION</a:t>
            </a:r>
            <a:r>
              <a:rPr lang="fr" sz="1100" b="1">
                <a:solidFill>
                  <a:srgbClr val="FFFFFF"/>
                </a:solidFill>
              </a:rPr>
              <a:t> DES OFFRES</a:t>
            </a:r>
            <a:endParaRPr sz="1100" b="1">
              <a:solidFill>
                <a:srgbClr val="FFFFFF"/>
              </a:solidFill>
            </a:endParaRPr>
          </a:p>
        </p:txBody>
      </p:sp>
      <p:sp>
        <p:nvSpPr>
          <p:cNvPr id="105" name="Google Shape;105;p16"/>
          <p:cNvSpPr txBox="1">
            <a:spLocks noGrp="1"/>
          </p:cNvSpPr>
          <p:nvPr>
            <p:ph type="body" idx="1"/>
          </p:nvPr>
        </p:nvSpPr>
        <p:spPr>
          <a:xfrm>
            <a:off x="464607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b="1">
                <a:solidFill>
                  <a:srgbClr val="FFFFFF"/>
                </a:solidFill>
              </a:rPr>
              <a:t>PAGES DE </a:t>
            </a:r>
            <a:r>
              <a:rPr lang="fr" sz="1100" b="1">
                <a:solidFill>
                  <a:srgbClr val="00CA4C"/>
                </a:solidFill>
              </a:rPr>
              <a:t>CONSULTATION</a:t>
            </a:r>
            <a:r>
              <a:rPr lang="fr" sz="1100" b="1">
                <a:solidFill>
                  <a:srgbClr val="FFFFFF"/>
                </a:solidFill>
              </a:rPr>
              <a:t> DES OFFRES</a:t>
            </a:r>
            <a:endParaRPr sz="1100" b="1">
              <a:solidFill>
                <a:srgbClr val="FFFFFF"/>
              </a:solidFill>
            </a:endParaRPr>
          </a:p>
        </p:txBody>
      </p:sp>
      <p:sp>
        <p:nvSpPr>
          <p:cNvPr id="106" name="Google Shape;106;p16"/>
          <p:cNvSpPr txBox="1">
            <a:spLocks noGrp="1"/>
          </p:cNvSpPr>
          <p:nvPr>
            <p:ph type="body" idx="1"/>
          </p:nvPr>
        </p:nvSpPr>
        <p:spPr>
          <a:xfrm>
            <a:off x="58047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FFFFFF"/>
                </a:solidFill>
              </a:rPr>
              <a:t>PAGES DE </a:t>
            </a:r>
            <a:r>
              <a:rPr lang="fr" sz="1100" b="1">
                <a:solidFill>
                  <a:srgbClr val="00CA4C"/>
                </a:solidFill>
              </a:rPr>
              <a:t>PUBLICATION </a:t>
            </a:r>
            <a:r>
              <a:rPr lang="fr" sz="1100" b="1">
                <a:solidFill>
                  <a:srgbClr val="FFFFFF"/>
                </a:solidFill>
              </a:rPr>
              <a:t>DES OFFRES</a:t>
            </a:r>
            <a:endParaRPr sz="1100" b="1">
              <a:solidFill>
                <a:srgbClr val="FFFFFF"/>
              </a:solidFill>
            </a:endParaRPr>
          </a:p>
        </p:txBody>
      </p:sp>
      <p:sp>
        <p:nvSpPr>
          <p:cNvPr id="107" name="Google Shape;107;p16"/>
          <p:cNvSpPr txBox="1">
            <a:spLocks noGrp="1"/>
          </p:cNvSpPr>
          <p:nvPr>
            <p:ph type="body" idx="1"/>
          </p:nvPr>
        </p:nvSpPr>
        <p:spPr>
          <a:xfrm>
            <a:off x="674522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FFFFFF"/>
                </a:solidFill>
              </a:rPr>
              <a:t>AUTRES PAGES</a:t>
            </a:r>
            <a:endParaRPr sz="1100" b="1">
              <a:solidFill>
                <a:srgbClr val="FFFFFF"/>
              </a:solidFill>
            </a:endParaRPr>
          </a:p>
        </p:txBody>
      </p:sp>
      <p:sp>
        <p:nvSpPr>
          <p:cNvPr id="108" name="Google Shape;108;p16"/>
          <p:cNvSpPr txBox="1">
            <a:spLocks noGrp="1"/>
          </p:cNvSpPr>
          <p:nvPr>
            <p:ph type="body" idx="1"/>
          </p:nvPr>
        </p:nvSpPr>
        <p:spPr>
          <a:xfrm>
            <a:off x="4646075" y="226284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Page d’un projet Business</a:t>
            </a:r>
            <a:endParaRPr sz="1100">
              <a:solidFill>
                <a:srgbClr val="000000"/>
              </a:solidFill>
            </a:endParaRPr>
          </a:p>
        </p:txBody>
      </p:sp>
      <p:sp>
        <p:nvSpPr>
          <p:cNvPr id="109" name="Google Shape;109;p16"/>
          <p:cNvSpPr txBox="1">
            <a:spLocks noGrp="1"/>
          </p:cNvSpPr>
          <p:nvPr>
            <p:ph type="body" idx="1"/>
          </p:nvPr>
        </p:nvSpPr>
        <p:spPr>
          <a:xfrm>
            <a:off x="6745225" y="2262846"/>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Login et SignUp</a:t>
            </a:r>
            <a:endParaRPr sz="1100">
              <a:solidFill>
                <a:srgbClr val="000000"/>
              </a:solidFill>
            </a:endParaRPr>
          </a:p>
        </p:txBody>
      </p:sp>
      <p:sp>
        <p:nvSpPr>
          <p:cNvPr id="110" name="Google Shape;110;p16"/>
          <p:cNvSpPr txBox="1">
            <a:spLocks noGrp="1"/>
          </p:cNvSpPr>
          <p:nvPr>
            <p:ph type="body" idx="1"/>
          </p:nvPr>
        </p:nvSpPr>
        <p:spPr>
          <a:xfrm>
            <a:off x="3297575" y="1034512"/>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11" name="Google Shape;111;p16"/>
          <p:cNvSpPr txBox="1">
            <a:spLocks noGrp="1"/>
          </p:cNvSpPr>
          <p:nvPr>
            <p:ph type="body" idx="1"/>
          </p:nvPr>
        </p:nvSpPr>
        <p:spPr>
          <a:xfrm>
            <a:off x="5330375"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12" name="Google Shape;112;p16"/>
          <p:cNvSpPr txBox="1">
            <a:spLocks noGrp="1"/>
          </p:cNvSpPr>
          <p:nvPr>
            <p:ph type="body" idx="1"/>
          </p:nvPr>
        </p:nvSpPr>
        <p:spPr>
          <a:xfrm>
            <a:off x="1264770"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13" name="Google Shape;113;p16"/>
          <p:cNvSpPr txBox="1">
            <a:spLocks noGrp="1"/>
          </p:cNvSpPr>
          <p:nvPr>
            <p:ph type="body" idx="1"/>
          </p:nvPr>
        </p:nvSpPr>
        <p:spPr>
          <a:xfrm>
            <a:off x="7429517"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5</a:t>
            </a:r>
            <a:endParaRPr sz="800" b="1">
              <a:solidFill>
                <a:srgbClr val="000000"/>
              </a:solidFill>
            </a:endParaRPr>
          </a:p>
        </p:txBody>
      </p:sp>
      <p:sp>
        <p:nvSpPr>
          <p:cNvPr id="114" name="Google Shape;114;p16"/>
          <p:cNvSpPr txBox="1">
            <a:spLocks noGrp="1"/>
          </p:cNvSpPr>
          <p:nvPr>
            <p:ph type="body" idx="1"/>
          </p:nvPr>
        </p:nvSpPr>
        <p:spPr>
          <a:xfrm>
            <a:off x="4646075" y="2771370"/>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Page d’une offre de financement</a:t>
            </a:r>
            <a:endParaRPr sz="1100">
              <a:solidFill>
                <a:srgbClr val="000000"/>
              </a:solidFill>
            </a:endParaRPr>
          </a:p>
        </p:txBody>
      </p:sp>
      <p:sp>
        <p:nvSpPr>
          <p:cNvPr id="115" name="Google Shape;115;p16"/>
          <p:cNvSpPr txBox="1">
            <a:spLocks noGrp="1"/>
          </p:cNvSpPr>
          <p:nvPr>
            <p:ph type="body" idx="1"/>
          </p:nvPr>
        </p:nvSpPr>
        <p:spPr>
          <a:xfrm>
            <a:off x="4646075" y="327989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Page d’une offre d’accompagnement</a:t>
            </a:r>
            <a:endParaRPr sz="1100">
              <a:solidFill>
                <a:srgbClr val="000000"/>
              </a:solidFill>
            </a:endParaRPr>
          </a:p>
        </p:txBody>
      </p:sp>
      <p:sp>
        <p:nvSpPr>
          <p:cNvPr id="116" name="Google Shape;116;p16"/>
          <p:cNvSpPr txBox="1">
            <a:spLocks noGrp="1"/>
          </p:cNvSpPr>
          <p:nvPr>
            <p:ph type="body" idx="1"/>
          </p:nvPr>
        </p:nvSpPr>
        <p:spPr>
          <a:xfrm>
            <a:off x="2613275" y="226284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Liste des projets Business</a:t>
            </a:r>
            <a:endParaRPr sz="1100">
              <a:solidFill>
                <a:srgbClr val="000000"/>
              </a:solidFill>
            </a:endParaRPr>
          </a:p>
        </p:txBody>
      </p:sp>
      <p:sp>
        <p:nvSpPr>
          <p:cNvPr id="117" name="Google Shape;117;p16"/>
          <p:cNvSpPr txBox="1">
            <a:spLocks noGrp="1"/>
          </p:cNvSpPr>
          <p:nvPr>
            <p:ph type="body" idx="1"/>
          </p:nvPr>
        </p:nvSpPr>
        <p:spPr>
          <a:xfrm>
            <a:off x="2613275" y="2771370"/>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Liste des offres de financement</a:t>
            </a:r>
            <a:endParaRPr sz="1100">
              <a:solidFill>
                <a:srgbClr val="000000"/>
              </a:solidFill>
            </a:endParaRPr>
          </a:p>
        </p:txBody>
      </p:sp>
      <p:sp>
        <p:nvSpPr>
          <p:cNvPr id="118" name="Google Shape;118;p16"/>
          <p:cNvSpPr txBox="1">
            <a:spLocks noGrp="1"/>
          </p:cNvSpPr>
          <p:nvPr>
            <p:ph type="body" idx="1"/>
          </p:nvPr>
        </p:nvSpPr>
        <p:spPr>
          <a:xfrm>
            <a:off x="2613275" y="327989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Liste des offres d’accompagnement</a:t>
            </a:r>
            <a:endParaRPr sz="1100">
              <a:solidFill>
                <a:srgbClr val="000000"/>
              </a:solidFill>
            </a:endParaRPr>
          </a:p>
        </p:txBody>
      </p:sp>
      <p:sp>
        <p:nvSpPr>
          <p:cNvPr id="119" name="Google Shape;119;p16"/>
          <p:cNvSpPr txBox="1">
            <a:spLocks noGrp="1"/>
          </p:cNvSpPr>
          <p:nvPr>
            <p:ph type="body" idx="1"/>
          </p:nvPr>
        </p:nvSpPr>
        <p:spPr>
          <a:xfrm>
            <a:off x="580475" y="226284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Publication d’un projet Business</a:t>
            </a:r>
            <a:endParaRPr sz="1100">
              <a:solidFill>
                <a:srgbClr val="000000"/>
              </a:solidFill>
            </a:endParaRPr>
          </a:p>
        </p:txBody>
      </p:sp>
      <p:sp>
        <p:nvSpPr>
          <p:cNvPr id="120" name="Google Shape;120;p16"/>
          <p:cNvSpPr txBox="1">
            <a:spLocks noGrp="1"/>
          </p:cNvSpPr>
          <p:nvPr>
            <p:ph type="body" idx="1"/>
          </p:nvPr>
        </p:nvSpPr>
        <p:spPr>
          <a:xfrm>
            <a:off x="580475" y="2771370"/>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Publication d’une offre de financement</a:t>
            </a:r>
            <a:endParaRPr sz="1100">
              <a:solidFill>
                <a:srgbClr val="000000"/>
              </a:solidFill>
            </a:endParaRPr>
          </a:p>
        </p:txBody>
      </p:sp>
      <p:sp>
        <p:nvSpPr>
          <p:cNvPr id="121" name="Google Shape;121;p16"/>
          <p:cNvSpPr txBox="1">
            <a:spLocks noGrp="1"/>
          </p:cNvSpPr>
          <p:nvPr>
            <p:ph type="body" idx="1"/>
          </p:nvPr>
        </p:nvSpPr>
        <p:spPr>
          <a:xfrm>
            <a:off x="580475" y="327989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Publication d’une offre d’accompagnement</a:t>
            </a:r>
            <a:endParaRPr sz="1100">
              <a:solidFill>
                <a:srgbClr val="000000"/>
              </a:solidFill>
            </a:endParaRPr>
          </a:p>
        </p:txBody>
      </p:sp>
      <p:sp>
        <p:nvSpPr>
          <p:cNvPr id="122" name="Google Shape;122;p16"/>
          <p:cNvSpPr txBox="1">
            <a:spLocks noGrp="1"/>
          </p:cNvSpPr>
          <p:nvPr>
            <p:ph type="body" idx="1"/>
          </p:nvPr>
        </p:nvSpPr>
        <p:spPr>
          <a:xfrm>
            <a:off x="6745225" y="2771370"/>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fr" sz="1100">
                <a:solidFill>
                  <a:schemeClr val="dk1"/>
                </a:solidFill>
              </a:rPr>
              <a:t>Profil</a:t>
            </a:r>
            <a:endParaRPr sz="1100">
              <a:solidFill>
                <a:schemeClr val="dk1"/>
              </a:solidFill>
            </a:endParaRPr>
          </a:p>
        </p:txBody>
      </p:sp>
      <p:sp>
        <p:nvSpPr>
          <p:cNvPr id="123" name="Google Shape;123;p16"/>
          <p:cNvSpPr/>
          <p:nvPr/>
        </p:nvSpPr>
        <p:spPr>
          <a:xfrm>
            <a:off x="3387425" y="4850650"/>
            <a:ext cx="257100" cy="257100"/>
          </a:xfrm>
          <a:prstGeom prst="rect">
            <a:avLst/>
          </a:prstGeom>
          <a:solidFill>
            <a:srgbClr val="B6D7A8"/>
          </a:solidFill>
          <a:ln w="952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6"/>
          <p:cNvSpPr txBox="1">
            <a:spLocks noGrp="1"/>
          </p:cNvSpPr>
          <p:nvPr>
            <p:ph type="body" idx="1"/>
          </p:nvPr>
        </p:nvSpPr>
        <p:spPr>
          <a:xfrm>
            <a:off x="3734375" y="4850650"/>
            <a:ext cx="911700" cy="2571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fr" sz="1400" b="1">
                <a:solidFill>
                  <a:srgbClr val="000000"/>
                </a:solidFill>
              </a:rPr>
              <a:t>Dispo</a:t>
            </a:r>
            <a:endParaRPr sz="1400" b="1">
              <a:solidFill>
                <a:srgbClr val="000000"/>
              </a:solidFill>
            </a:endParaRPr>
          </a:p>
        </p:txBody>
      </p:sp>
      <p:sp>
        <p:nvSpPr>
          <p:cNvPr id="125" name="Google Shape;125;p16"/>
          <p:cNvSpPr/>
          <p:nvPr/>
        </p:nvSpPr>
        <p:spPr>
          <a:xfrm>
            <a:off x="3387425" y="5190900"/>
            <a:ext cx="257100" cy="257100"/>
          </a:xfrm>
          <a:prstGeom prst="rect">
            <a:avLst/>
          </a:prstGeom>
          <a:solidFill>
            <a:srgbClr val="F4CCCC"/>
          </a:solidFill>
          <a:ln w="9525" cap="flat" cmpd="sng">
            <a:solidFill>
              <a:srgbClr val="F4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6"/>
          <p:cNvSpPr txBox="1">
            <a:spLocks noGrp="1"/>
          </p:cNvSpPr>
          <p:nvPr>
            <p:ph type="body" idx="1"/>
          </p:nvPr>
        </p:nvSpPr>
        <p:spPr>
          <a:xfrm>
            <a:off x="3734375" y="5190900"/>
            <a:ext cx="1446600" cy="2571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fr" sz="1400" b="1">
                <a:solidFill>
                  <a:srgbClr val="000000"/>
                </a:solidFill>
              </a:rPr>
              <a:t>Prévu </a:t>
            </a:r>
            <a:endParaRPr sz="1400" b="1">
              <a:solidFill>
                <a:srgbClr val="000000"/>
              </a:solidFill>
            </a:endParaRPr>
          </a:p>
        </p:txBody>
      </p:sp>
      <p:sp>
        <p:nvSpPr>
          <p:cNvPr id="127" name="Google Shape;127;p16"/>
          <p:cNvSpPr txBox="1">
            <a:spLocks noGrp="1"/>
          </p:cNvSpPr>
          <p:nvPr>
            <p:ph type="body" idx="1"/>
          </p:nvPr>
        </p:nvSpPr>
        <p:spPr>
          <a:xfrm>
            <a:off x="6745225" y="3279895"/>
            <a:ext cx="1805400" cy="443100"/>
          </a:xfrm>
          <a:prstGeom prst="rect">
            <a:avLst/>
          </a:prstGeom>
          <a:solidFill>
            <a:srgbClr val="B6D7A8"/>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fr" sz="1100">
                <a:solidFill>
                  <a:schemeClr val="dk1"/>
                </a:solidFill>
              </a:rPr>
              <a:t>Fil d’actualité</a:t>
            </a:r>
            <a:endParaRPr sz="1100">
              <a:solidFill>
                <a:schemeClr val="dk1"/>
              </a:solidFill>
            </a:endParaRPr>
          </a:p>
        </p:txBody>
      </p:sp>
      <p:sp>
        <p:nvSpPr>
          <p:cNvPr id="128" name="Google Shape;128;p16"/>
          <p:cNvSpPr txBox="1">
            <a:spLocks noGrp="1"/>
          </p:cNvSpPr>
          <p:nvPr>
            <p:ph type="body" idx="1"/>
          </p:nvPr>
        </p:nvSpPr>
        <p:spPr>
          <a:xfrm>
            <a:off x="6745225" y="3788420"/>
            <a:ext cx="1805400" cy="443100"/>
          </a:xfrm>
          <a:prstGeom prst="rect">
            <a:avLst/>
          </a:prstGeom>
          <a:solidFill>
            <a:srgbClr val="F4CCCC"/>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Paramètres</a:t>
            </a:r>
            <a:endParaRPr sz="1100">
              <a:solidFill>
                <a:srgbClr val="000000"/>
              </a:solidFill>
            </a:endParaRPr>
          </a:p>
        </p:txBody>
      </p:sp>
      <p:sp>
        <p:nvSpPr>
          <p:cNvPr id="129" name="Google Shape;129;p16"/>
          <p:cNvSpPr txBox="1">
            <a:spLocks noGrp="1"/>
          </p:cNvSpPr>
          <p:nvPr>
            <p:ph type="body" idx="1"/>
          </p:nvPr>
        </p:nvSpPr>
        <p:spPr>
          <a:xfrm>
            <a:off x="6745225" y="4310670"/>
            <a:ext cx="1805400" cy="443100"/>
          </a:xfrm>
          <a:prstGeom prst="rect">
            <a:avLst/>
          </a:prstGeom>
          <a:solidFill>
            <a:srgbClr val="F4CCCC"/>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Messagerie</a:t>
            </a:r>
            <a:endParaRPr sz="1100">
              <a:solidFill>
                <a:srgbClr val="000000"/>
              </a:solidFill>
            </a:endParaRPr>
          </a:p>
        </p:txBody>
      </p:sp>
      <p:sp>
        <p:nvSpPr>
          <p:cNvPr id="130" name="Google Shape;130;p16"/>
          <p:cNvSpPr txBox="1">
            <a:spLocks noGrp="1"/>
          </p:cNvSpPr>
          <p:nvPr>
            <p:ph type="body" idx="1"/>
          </p:nvPr>
        </p:nvSpPr>
        <p:spPr>
          <a:xfrm>
            <a:off x="6745225" y="4832920"/>
            <a:ext cx="1805400" cy="443100"/>
          </a:xfrm>
          <a:prstGeom prst="rect">
            <a:avLst/>
          </a:prstGeom>
          <a:solidFill>
            <a:srgbClr val="F4CCCC"/>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a:solidFill>
                  <a:srgbClr val="000000"/>
                </a:solidFill>
              </a:rPr>
              <a:t>Articles</a:t>
            </a:r>
            <a:endParaRPr sz="1100">
              <a:solidFill>
                <a:srgbClr val="000000"/>
              </a:solidFill>
            </a:endParaRPr>
          </a:p>
        </p:txBody>
      </p:sp>
      <p:sp>
        <p:nvSpPr>
          <p:cNvPr id="131" name="Google Shape;131;p16"/>
          <p:cNvSpPr/>
          <p:nvPr/>
        </p:nvSpPr>
        <p:spPr>
          <a:xfrm>
            <a:off x="4295075" y="3881538"/>
            <a:ext cx="2156400" cy="1150800"/>
          </a:xfrm>
          <a:prstGeom prst="wedgeRoundRectCallout">
            <a:avLst>
              <a:gd name="adj1" fmla="val 74271"/>
              <a:gd name="adj2" fmla="val -31888"/>
              <a:gd name="adj3" fmla="val 0"/>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 sz="1300" b="1">
                <a:solidFill>
                  <a:schemeClr val="accent1"/>
                </a:solidFill>
              </a:rPr>
              <a:t>Oublié de spécifier l’édition des paramètres généraux et du profil</a:t>
            </a:r>
            <a:endParaRPr sz="1300" b="1">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7"/>
          <p:cNvSpPr txBox="1">
            <a:spLocks noGrp="1"/>
          </p:cNvSpPr>
          <p:nvPr>
            <p:ph type="body" idx="1"/>
          </p:nvPr>
        </p:nvSpPr>
        <p:spPr>
          <a:xfrm>
            <a:off x="-125" y="98325"/>
            <a:ext cx="5970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RÉCAPITULATIF DES PAGES PRINCIPALES</a:t>
            </a:r>
            <a:endParaRPr b="1">
              <a:solidFill>
                <a:srgbClr val="000000"/>
              </a:solidFill>
            </a:endParaRPr>
          </a:p>
        </p:txBody>
      </p:sp>
      <p:grpSp>
        <p:nvGrpSpPr>
          <p:cNvPr id="137" name="Google Shape;137;p17"/>
          <p:cNvGrpSpPr/>
          <p:nvPr/>
        </p:nvGrpSpPr>
        <p:grpSpPr>
          <a:xfrm>
            <a:off x="8467500" y="-18375"/>
            <a:ext cx="676500" cy="676500"/>
            <a:chOff x="8467500" y="-18375"/>
            <a:chExt cx="676500" cy="676500"/>
          </a:xfrm>
        </p:grpSpPr>
        <p:sp>
          <p:nvSpPr>
            <p:cNvPr id="138" name="Google Shape;138;p17"/>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9" name="Google Shape;139;p17"/>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140" name="Google Shape;140;p17"/>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141" name="Google Shape;141;p17"/>
          <p:cNvSpPr txBox="1">
            <a:spLocks noGrp="1"/>
          </p:cNvSpPr>
          <p:nvPr>
            <p:ph type="body" idx="1"/>
          </p:nvPr>
        </p:nvSpPr>
        <p:spPr>
          <a:xfrm>
            <a:off x="2613275" y="1372012"/>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b="1">
                <a:solidFill>
                  <a:srgbClr val="FFFFFF"/>
                </a:solidFill>
              </a:rPr>
              <a:t>PAGES D’</a:t>
            </a:r>
            <a:r>
              <a:rPr lang="fr" sz="1100" b="1">
                <a:solidFill>
                  <a:srgbClr val="00CA4C"/>
                </a:solidFill>
              </a:rPr>
              <a:t>EXPLORATION</a:t>
            </a:r>
            <a:r>
              <a:rPr lang="fr" sz="1100" b="1">
                <a:solidFill>
                  <a:srgbClr val="FFFFFF"/>
                </a:solidFill>
              </a:rPr>
              <a:t> DES OFFRES</a:t>
            </a:r>
            <a:endParaRPr sz="1100" b="1">
              <a:solidFill>
                <a:srgbClr val="FFFFFF"/>
              </a:solidFill>
            </a:endParaRPr>
          </a:p>
        </p:txBody>
      </p:sp>
      <p:sp>
        <p:nvSpPr>
          <p:cNvPr id="142" name="Google Shape;142;p17"/>
          <p:cNvSpPr txBox="1">
            <a:spLocks noGrp="1"/>
          </p:cNvSpPr>
          <p:nvPr>
            <p:ph type="body" idx="1"/>
          </p:nvPr>
        </p:nvSpPr>
        <p:spPr>
          <a:xfrm>
            <a:off x="464607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b="1">
                <a:solidFill>
                  <a:srgbClr val="FFFFFF"/>
                </a:solidFill>
              </a:rPr>
              <a:t>PAGES DE </a:t>
            </a:r>
            <a:r>
              <a:rPr lang="fr" sz="1100" b="1">
                <a:solidFill>
                  <a:srgbClr val="00CA4C"/>
                </a:solidFill>
              </a:rPr>
              <a:t>CONSULTATION</a:t>
            </a:r>
            <a:r>
              <a:rPr lang="fr" sz="1100" b="1">
                <a:solidFill>
                  <a:srgbClr val="FFFFFF"/>
                </a:solidFill>
              </a:rPr>
              <a:t> DES OFFRES</a:t>
            </a:r>
            <a:endParaRPr sz="1100" b="1">
              <a:solidFill>
                <a:srgbClr val="FFFFFF"/>
              </a:solidFill>
            </a:endParaRPr>
          </a:p>
        </p:txBody>
      </p:sp>
      <p:sp>
        <p:nvSpPr>
          <p:cNvPr id="143" name="Google Shape;143;p17"/>
          <p:cNvSpPr txBox="1">
            <a:spLocks noGrp="1"/>
          </p:cNvSpPr>
          <p:nvPr>
            <p:ph type="body" idx="1"/>
          </p:nvPr>
        </p:nvSpPr>
        <p:spPr>
          <a:xfrm>
            <a:off x="58047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FFFFFF"/>
                </a:solidFill>
              </a:rPr>
              <a:t>PAGES DE </a:t>
            </a:r>
            <a:r>
              <a:rPr lang="fr" sz="1100" b="1">
                <a:solidFill>
                  <a:srgbClr val="00CA4C"/>
                </a:solidFill>
              </a:rPr>
              <a:t>PUBLICATION </a:t>
            </a:r>
            <a:r>
              <a:rPr lang="fr" sz="1100" b="1">
                <a:solidFill>
                  <a:srgbClr val="FFFFFF"/>
                </a:solidFill>
              </a:rPr>
              <a:t>DES OFFRES</a:t>
            </a:r>
            <a:endParaRPr sz="1100" b="1">
              <a:solidFill>
                <a:srgbClr val="FFFFFF"/>
              </a:solidFill>
            </a:endParaRPr>
          </a:p>
        </p:txBody>
      </p:sp>
      <p:sp>
        <p:nvSpPr>
          <p:cNvPr id="144" name="Google Shape;144;p17"/>
          <p:cNvSpPr txBox="1">
            <a:spLocks noGrp="1"/>
          </p:cNvSpPr>
          <p:nvPr>
            <p:ph type="body" idx="1"/>
          </p:nvPr>
        </p:nvSpPr>
        <p:spPr>
          <a:xfrm>
            <a:off x="6745225" y="1354437"/>
            <a:ext cx="1805400" cy="843000"/>
          </a:xfrm>
          <a:prstGeom prst="rect">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1100" b="1">
                <a:solidFill>
                  <a:srgbClr val="FFFFFF"/>
                </a:solidFill>
              </a:rPr>
              <a:t>AUTRES PAGES</a:t>
            </a:r>
            <a:endParaRPr sz="1100" b="1">
              <a:solidFill>
                <a:srgbClr val="FFFFFF"/>
              </a:solidFill>
            </a:endParaRPr>
          </a:p>
        </p:txBody>
      </p:sp>
      <p:sp>
        <p:nvSpPr>
          <p:cNvPr id="145" name="Google Shape;145;p17"/>
          <p:cNvSpPr txBox="1">
            <a:spLocks noGrp="1"/>
          </p:cNvSpPr>
          <p:nvPr>
            <p:ph type="body" idx="1"/>
          </p:nvPr>
        </p:nvSpPr>
        <p:spPr>
          <a:xfrm>
            <a:off x="6745225" y="2262846"/>
            <a:ext cx="1805400" cy="443100"/>
          </a:xfrm>
          <a:prstGeom prst="rect">
            <a:avLst/>
          </a:prstGeom>
          <a:solidFill>
            <a:srgbClr val="FFD966"/>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Sign Up - Interface mot de passe oublié / changer mot de psse</a:t>
            </a:r>
            <a:endParaRPr sz="1100">
              <a:solidFill>
                <a:srgbClr val="000000"/>
              </a:solidFill>
            </a:endParaRPr>
          </a:p>
        </p:txBody>
      </p:sp>
      <p:sp>
        <p:nvSpPr>
          <p:cNvPr id="146" name="Google Shape;146;p17"/>
          <p:cNvSpPr txBox="1">
            <a:spLocks noGrp="1"/>
          </p:cNvSpPr>
          <p:nvPr>
            <p:ph type="body" idx="1"/>
          </p:nvPr>
        </p:nvSpPr>
        <p:spPr>
          <a:xfrm>
            <a:off x="3297575" y="1034512"/>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47" name="Google Shape;147;p17"/>
          <p:cNvSpPr txBox="1">
            <a:spLocks noGrp="1"/>
          </p:cNvSpPr>
          <p:nvPr>
            <p:ph type="body" idx="1"/>
          </p:nvPr>
        </p:nvSpPr>
        <p:spPr>
          <a:xfrm>
            <a:off x="5330375"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48" name="Google Shape;148;p17"/>
          <p:cNvSpPr txBox="1">
            <a:spLocks noGrp="1"/>
          </p:cNvSpPr>
          <p:nvPr>
            <p:ph type="body" idx="1"/>
          </p:nvPr>
        </p:nvSpPr>
        <p:spPr>
          <a:xfrm>
            <a:off x="1264770"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3</a:t>
            </a:r>
            <a:endParaRPr sz="800" b="1">
              <a:solidFill>
                <a:srgbClr val="000000"/>
              </a:solidFill>
            </a:endParaRPr>
          </a:p>
        </p:txBody>
      </p:sp>
      <p:sp>
        <p:nvSpPr>
          <p:cNvPr id="149" name="Google Shape;149;p17"/>
          <p:cNvSpPr txBox="1">
            <a:spLocks noGrp="1"/>
          </p:cNvSpPr>
          <p:nvPr>
            <p:ph type="body" idx="1"/>
          </p:nvPr>
        </p:nvSpPr>
        <p:spPr>
          <a:xfrm>
            <a:off x="7429517" y="1016925"/>
            <a:ext cx="436800" cy="337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fr" sz="800" b="1">
                <a:solidFill>
                  <a:srgbClr val="000000"/>
                </a:solidFill>
              </a:rPr>
              <a:t>5</a:t>
            </a:r>
            <a:endParaRPr sz="800" b="1">
              <a:solidFill>
                <a:srgbClr val="000000"/>
              </a:solidFill>
            </a:endParaRPr>
          </a:p>
        </p:txBody>
      </p:sp>
      <p:sp>
        <p:nvSpPr>
          <p:cNvPr id="150" name="Google Shape;150;p17"/>
          <p:cNvSpPr/>
          <p:nvPr/>
        </p:nvSpPr>
        <p:spPr>
          <a:xfrm>
            <a:off x="3387425" y="4850650"/>
            <a:ext cx="257100" cy="257100"/>
          </a:xfrm>
          <a:prstGeom prst="rect">
            <a:avLst/>
          </a:prstGeom>
          <a:solidFill>
            <a:srgbClr val="B6D7A8"/>
          </a:solidFill>
          <a:ln w="9525" cap="flat" cmpd="sng">
            <a:solidFill>
              <a:srgbClr val="B6D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7"/>
          <p:cNvSpPr txBox="1">
            <a:spLocks noGrp="1"/>
          </p:cNvSpPr>
          <p:nvPr>
            <p:ph type="body" idx="1"/>
          </p:nvPr>
        </p:nvSpPr>
        <p:spPr>
          <a:xfrm>
            <a:off x="3734375" y="4850650"/>
            <a:ext cx="911700" cy="2571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fr" sz="1400" b="1">
                <a:solidFill>
                  <a:srgbClr val="000000"/>
                </a:solidFill>
              </a:rPr>
              <a:t>Dispo</a:t>
            </a:r>
            <a:endParaRPr sz="1400" b="1">
              <a:solidFill>
                <a:srgbClr val="000000"/>
              </a:solidFill>
            </a:endParaRPr>
          </a:p>
        </p:txBody>
      </p:sp>
      <p:sp>
        <p:nvSpPr>
          <p:cNvPr id="152" name="Google Shape;152;p17"/>
          <p:cNvSpPr/>
          <p:nvPr/>
        </p:nvSpPr>
        <p:spPr>
          <a:xfrm>
            <a:off x="3387425" y="5190900"/>
            <a:ext cx="257100" cy="257100"/>
          </a:xfrm>
          <a:prstGeom prst="rect">
            <a:avLst/>
          </a:prstGeom>
          <a:solidFill>
            <a:srgbClr val="F4CCCC"/>
          </a:solidFill>
          <a:ln w="9525" cap="flat" cmpd="sng">
            <a:solidFill>
              <a:srgbClr val="F4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txBox="1">
            <a:spLocks noGrp="1"/>
          </p:cNvSpPr>
          <p:nvPr>
            <p:ph type="body" idx="1"/>
          </p:nvPr>
        </p:nvSpPr>
        <p:spPr>
          <a:xfrm>
            <a:off x="3734375" y="5190900"/>
            <a:ext cx="1446600" cy="2571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fr" sz="1400" b="1">
                <a:solidFill>
                  <a:srgbClr val="000000"/>
                </a:solidFill>
              </a:rPr>
              <a:t>Prévu </a:t>
            </a:r>
            <a:endParaRPr sz="1400" b="1">
              <a:solidFill>
                <a:srgbClr val="000000"/>
              </a:solidFill>
            </a:endParaRPr>
          </a:p>
        </p:txBody>
      </p:sp>
      <p:sp>
        <p:nvSpPr>
          <p:cNvPr id="154" name="Google Shape;154;p17"/>
          <p:cNvSpPr txBox="1">
            <a:spLocks noGrp="1"/>
          </p:cNvSpPr>
          <p:nvPr>
            <p:ph type="body" idx="1"/>
          </p:nvPr>
        </p:nvSpPr>
        <p:spPr>
          <a:xfrm>
            <a:off x="2613275" y="2262846"/>
            <a:ext cx="1805400" cy="443100"/>
          </a:xfrm>
          <a:prstGeom prst="rect">
            <a:avLst/>
          </a:prstGeom>
          <a:solidFill>
            <a:srgbClr val="FFD966"/>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Interface mentor: Le revoir</a:t>
            </a:r>
            <a:endParaRPr sz="1100">
              <a:solidFill>
                <a:srgbClr val="000000"/>
              </a:solidFill>
            </a:endParaRPr>
          </a:p>
        </p:txBody>
      </p:sp>
      <p:sp>
        <p:nvSpPr>
          <p:cNvPr id="155" name="Google Shape;155;p17"/>
          <p:cNvSpPr txBox="1">
            <a:spLocks noGrp="1"/>
          </p:cNvSpPr>
          <p:nvPr>
            <p:ph type="body" idx="1"/>
          </p:nvPr>
        </p:nvSpPr>
        <p:spPr>
          <a:xfrm>
            <a:off x="6745225" y="2771371"/>
            <a:ext cx="1805400" cy="443100"/>
          </a:xfrm>
          <a:prstGeom prst="rect">
            <a:avLst/>
          </a:prstGeom>
          <a:solidFill>
            <a:srgbClr val="FFD966"/>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Interface mes offres : Le revoir + Modifier offre</a:t>
            </a:r>
            <a:endParaRPr sz="1100">
              <a:solidFill>
                <a:srgbClr val="000000"/>
              </a:solidFill>
            </a:endParaRPr>
          </a:p>
        </p:txBody>
      </p:sp>
      <p:sp>
        <p:nvSpPr>
          <p:cNvPr id="156" name="Google Shape;156;p17"/>
          <p:cNvSpPr txBox="1">
            <a:spLocks noGrp="1"/>
          </p:cNvSpPr>
          <p:nvPr>
            <p:ph type="body" idx="1"/>
          </p:nvPr>
        </p:nvSpPr>
        <p:spPr>
          <a:xfrm>
            <a:off x="6745225" y="3279896"/>
            <a:ext cx="1805400" cy="443100"/>
          </a:xfrm>
          <a:prstGeom prst="rect">
            <a:avLst/>
          </a:prstGeom>
          <a:solidFill>
            <a:srgbClr val="FFD966"/>
          </a:solid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fr" sz="1100">
                <a:solidFill>
                  <a:schemeClr val="dk1"/>
                </a:solidFill>
              </a:rPr>
              <a:t>Interface connexions : Le revoir </a:t>
            </a:r>
            <a:endParaRPr sz="11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8"/>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INSCRIPTION/CONNEXION</a:t>
            </a:r>
            <a:endParaRPr/>
          </a:p>
        </p:txBody>
      </p:sp>
      <p:grpSp>
        <p:nvGrpSpPr>
          <p:cNvPr id="162" name="Google Shape;162;p18"/>
          <p:cNvGrpSpPr/>
          <p:nvPr/>
        </p:nvGrpSpPr>
        <p:grpSpPr>
          <a:xfrm>
            <a:off x="8467500" y="-18375"/>
            <a:ext cx="676500" cy="676500"/>
            <a:chOff x="8467500" y="-18375"/>
            <a:chExt cx="676500" cy="676500"/>
          </a:xfrm>
        </p:grpSpPr>
        <p:sp>
          <p:nvSpPr>
            <p:cNvPr id="163" name="Google Shape;163;p18"/>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4" name="Google Shape;164;p18"/>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165" name="Google Shape;165;p18"/>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166" name="Google Shape;166;p18"/>
          <p:cNvPicPr preferRelativeResize="0"/>
          <p:nvPr/>
        </p:nvPicPr>
        <p:blipFill>
          <a:blip r:embed="rId4">
            <a:alphaModFix/>
          </a:blip>
          <a:stretch>
            <a:fillRect/>
          </a:stretch>
        </p:blipFill>
        <p:spPr>
          <a:xfrm>
            <a:off x="4091500" y="1492430"/>
            <a:ext cx="884776" cy="897401"/>
          </a:xfrm>
          <a:prstGeom prst="rect">
            <a:avLst/>
          </a:prstGeom>
          <a:noFill/>
          <a:ln>
            <a:noFill/>
          </a:ln>
        </p:spPr>
      </p:pic>
      <p:sp>
        <p:nvSpPr>
          <p:cNvPr id="167" name="Google Shape;167;p18"/>
          <p:cNvSpPr txBox="1">
            <a:spLocks noGrp="1"/>
          </p:cNvSpPr>
          <p:nvPr>
            <p:ph type="title"/>
          </p:nvPr>
        </p:nvSpPr>
        <p:spPr>
          <a:xfrm>
            <a:off x="464100" y="3488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200"/>
              <a:t>Au tout départ, l’internaute se connecte ou s’inscrit, par des identifiants spécifiques ou bien par intégration (Google, Facebook, Linked’In)</a:t>
            </a:r>
            <a:endParaRPr sz="1200"/>
          </a:p>
        </p:txBody>
      </p:sp>
      <p:sp>
        <p:nvSpPr>
          <p:cNvPr id="168" name="Google Shape;168;p18"/>
          <p:cNvSpPr/>
          <p:nvPr/>
        </p:nvSpPr>
        <p:spPr>
          <a:xfrm rot="-5400000">
            <a:off x="4527450" y="2346475"/>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9"/>
          <p:cNvSpPr txBox="1">
            <a:spLocks noGrp="1"/>
          </p:cNvSpPr>
          <p:nvPr>
            <p:ph type="body" idx="1"/>
          </p:nvPr>
        </p:nvSpPr>
        <p:spPr>
          <a:xfrm>
            <a:off x="311700" y="843275"/>
            <a:ext cx="3653100" cy="5151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fr" sz="1200">
                <a:solidFill>
                  <a:srgbClr val="000000"/>
                </a:solidFill>
              </a:rPr>
              <a:t>Pour se connecter au réseau DADUPA CONNECT, l'internaute a deux options:</a:t>
            </a:r>
            <a:endParaRPr sz="1200">
              <a:solidFill>
                <a:srgbClr val="000000"/>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000000"/>
              </a:solidFill>
            </a:endParaRPr>
          </a:p>
          <a:p>
            <a:pPr marL="0" lvl="0" indent="0" algn="l" rtl="0">
              <a:lnSpc>
                <a:spcPct val="115000"/>
              </a:lnSpc>
              <a:spcBef>
                <a:spcPts val="0"/>
              </a:spcBef>
              <a:spcAft>
                <a:spcPts val="0"/>
              </a:spcAft>
              <a:buClr>
                <a:schemeClr val="dk1"/>
              </a:buClr>
              <a:buSzPts val="1100"/>
              <a:buFont typeface="Arial"/>
              <a:buNone/>
            </a:pPr>
            <a:r>
              <a:rPr lang="fr" sz="1200" b="1">
                <a:solidFill>
                  <a:srgbClr val="000000"/>
                </a:solidFill>
              </a:rPr>
              <a:t>1 - S’INSCRIRE</a:t>
            </a:r>
            <a:endParaRPr sz="1200" b="1">
              <a:solidFill>
                <a:srgbClr val="000000"/>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000000"/>
              </a:solidFill>
            </a:endParaRPr>
          </a:p>
          <a:p>
            <a:pPr marL="0" lvl="0" indent="0" algn="l" rtl="0">
              <a:lnSpc>
                <a:spcPct val="115000"/>
              </a:lnSpc>
              <a:spcBef>
                <a:spcPts val="0"/>
              </a:spcBef>
              <a:spcAft>
                <a:spcPts val="0"/>
              </a:spcAft>
              <a:buNone/>
            </a:pPr>
            <a:r>
              <a:rPr lang="fr" sz="1200">
                <a:solidFill>
                  <a:srgbClr val="000000"/>
                </a:solidFill>
              </a:rPr>
              <a:t>Pour s'inscrire, l'internaute devra entrer </a:t>
            </a:r>
            <a:endParaRPr sz="1200">
              <a:solidFill>
                <a:srgbClr val="000000"/>
              </a:solidFill>
            </a:endParaRPr>
          </a:p>
          <a:p>
            <a:pPr marL="0" lvl="0" indent="0" algn="l" rtl="0">
              <a:lnSpc>
                <a:spcPct val="115000"/>
              </a:lnSpc>
              <a:spcBef>
                <a:spcPts val="0"/>
              </a:spcBef>
              <a:spcAft>
                <a:spcPts val="0"/>
              </a:spcAft>
              <a:buClr>
                <a:schemeClr val="dk1"/>
              </a:buClr>
              <a:buSzPts val="1100"/>
              <a:buFont typeface="Arial"/>
              <a:buNone/>
            </a:pPr>
            <a:r>
              <a:rPr lang="fr" sz="1200">
                <a:solidFill>
                  <a:srgbClr val="000000"/>
                </a:solidFill>
              </a:rPr>
              <a:t>les informations suivantes:</a:t>
            </a:r>
            <a:endParaRPr sz="1200">
              <a:solidFill>
                <a:srgbClr val="000000"/>
              </a:solidFill>
            </a:endParaRPr>
          </a:p>
          <a:p>
            <a:pPr marL="0" lvl="0" indent="0" algn="l" rtl="0">
              <a:lnSpc>
                <a:spcPct val="115000"/>
              </a:lnSpc>
              <a:spcBef>
                <a:spcPts val="0"/>
              </a:spcBef>
              <a:spcAft>
                <a:spcPts val="0"/>
              </a:spcAft>
              <a:buClr>
                <a:schemeClr val="dk1"/>
              </a:buClr>
              <a:buSzPts val="1100"/>
              <a:buFont typeface="Arial"/>
              <a:buNone/>
            </a:pPr>
            <a:endParaRPr sz="1200">
              <a:solidFill>
                <a:srgbClr val="000000"/>
              </a:solidFill>
            </a:endParaRPr>
          </a:p>
          <a:p>
            <a:pPr marL="457200" lvl="0" indent="-304800" algn="l" rtl="0">
              <a:lnSpc>
                <a:spcPct val="115000"/>
              </a:lnSpc>
              <a:spcBef>
                <a:spcPts val="0"/>
              </a:spcBef>
              <a:spcAft>
                <a:spcPts val="0"/>
              </a:spcAft>
              <a:buClr>
                <a:srgbClr val="000000"/>
              </a:buClr>
              <a:buSzPts val="1200"/>
              <a:buChar char="●"/>
            </a:pPr>
            <a:r>
              <a:rPr lang="fr" sz="1200">
                <a:solidFill>
                  <a:srgbClr val="000000"/>
                </a:solidFill>
              </a:rPr>
              <a:t>Nom complet</a:t>
            </a:r>
            <a:endParaRPr sz="1200">
              <a:solidFill>
                <a:srgbClr val="000000"/>
              </a:solidFill>
            </a:endParaRPr>
          </a:p>
          <a:p>
            <a:pPr marL="457200" lvl="0" indent="-304800" algn="l" rtl="0">
              <a:lnSpc>
                <a:spcPct val="115000"/>
              </a:lnSpc>
              <a:spcBef>
                <a:spcPts val="0"/>
              </a:spcBef>
              <a:spcAft>
                <a:spcPts val="0"/>
              </a:spcAft>
              <a:buClr>
                <a:srgbClr val="000000"/>
              </a:buClr>
              <a:buSzPts val="1200"/>
              <a:buChar char="●"/>
            </a:pPr>
            <a:r>
              <a:rPr lang="fr" sz="1200">
                <a:solidFill>
                  <a:srgbClr val="000000"/>
                </a:solidFill>
              </a:rPr>
              <a:t>Email ou Tel</a:t>
            </a:r>
            <a:endParaRPr sz="1200">
              <a:solidFill>
                <a:srgbClr val="000000"/>
              </a:solidFill>
            </a:endParaRPr>
          </a:p>
          <a:p>
            <a:pPr marL="0" lvl="0" indent="0" algn="l" rtl="0">
              <a:lnSpc>
                <a:spcPct val="115000"/>
              </a:lnSpc>
              <a:spcBef>
                <a:spcPts val="0"/>
              </a:spcBef>
              <a:spcAft>
                <a:spcPts val="0"/>
              </a:spcAft>
              <a:buNone/>
            </a:pPr>
            <a:endParaRPr sz="1200">
              <a:solidFill>
                <a:srgbClr val="000000"/>
              </a:solidFill>
            </a:endParaRPr>
          </a:p>
          <a:p>
            <a:pPr marL="0" lvl="0" indent="0" algn="l" rtl="0">
              <a:spcBef>
                <a:spcPts val="0"/>
              </a:spcBef>
              <a:spcAft>
                <a:spcPts val="0"/>
              </a:spcAft>
              <a:buClr>
                <a:schemeClr val="dk1"/>
              </a:buClr>
              <a:buSzPts val="1100"/>
              <a:buFont typeface="Arial"/>
              <a:buNone/>
            </a:pPr>
            <a:r>
              <a:rPr lang="fr" sz="1200" b="1">
                <a:solidFill>
                  <a:srgbClr val="000000"/>
                </a:solidFill>
              </a:rPr>
              <a:t>1 BIS - S’INSCRIRE VIA GOOGLE/ FACEBOOK/LINKEDIN</a:t>
            </a:r>
            <a:endParaRPr sz="1200" b="1">
              <a:solidFill>
                <a:srgbClr val="000000"/>
              </a:solidFill>
            </a:endParaRPr>
          </a:p>
          <a:p>
            <a:pPr marL="0" lvl="0" indent="0" algn="l" rtl="0">
              <a:spcBef>
                <a:spcPts val="0"/>
              </a:spcBef>
              <a:spcAft>
                <a:spcPts val="0"/>
              </a:spcAft>
              <a:buClr>
                <a:schemeClr val="dk1"/>
              </a:buClr>
              <a:buSzPts val="1100"/>
              <a:buFont typeface="Arial"/>
              <a:buNone/>
            </a:pP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Il peut aussi s’inscrire via un compte Google, Facebook ou bien LinkedIn</a:t>
            </a:r>
            <a:endParaRPr sz="1200">
              <a:solidFill>
                <a:srgbClr val="000000"/>
              </a:solidFill>
            </a:endParaRPr>
          </a:p>
        </p:txBody>
      </p:sp>
      <p:sp>
        <p:nvSpPr>
          <p:cNvPr id="174" name="Google Shape;174;p19"/>
          <p:cNvSpPr txBox="1">
            <a:spLocks noGrp="1"/>
          </p:cNvSpPr>
          <p:nvPr>
            <p:ph type="body" idx="1"/>
          </p:nvPr>
        </p:nvSpPr>
        <p:spPr>
          <a:xfrm>
            <a:off x="4156525" y="1483700"/>
            <a:ext cx="4355400" cy="3075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sz="1200" b="1">
                <a:solidFill>
                  <a:srgbClr val="000000"/>
                </a:solidFill>
              </a:rPr>
              <a:t>2 - CONNEXION</a:t>
            </a:r>
            <a:endParaRPr sz="1200" b="1">
              <a:solidFill>
                <a:srgbClr val="000000"/>
              </a:solidFill>
            </a:endParaRPr>
          </a:p>
          <a:p>
            <a:pPr marL="0" lvl="0" indent="0" algn="l" rtl="0">
              <a:lnSpc>
                <a:spcPct val="115000"/>
              </a:lnSpc>
              <a:spcBef>
                <a:spcPts val="0"/>
              </a:spcBef>
              <a:spcAft>
                <a:spcPts val="0"/>
              </a:spcAft>
              <a:buNone/>
            </a:pPr>
            <a:endParaRPr sz="1200">
              <a:solidFill>
                <a:srgbClr val="000000"/>
              </a:solidFill>
            </a:endParaRPr>
          </a:p>
          <a:p>
            <a:pPr marL="0" lvl="0" indent="0" algn="l" rtl="0">
              <a:lnSpc>
                <a:spcPct val="115000"/>
              </a:lnSpc>
              <a:spcBef>
                <a:spcPts val="0"/>
              </a:spcBef>
              <a:spcAft>
                <a:spcPts val="0"/>
              </a:spcAft>
              <a:buNone/>
            </a:pPr>
            <a:r>
              <a:rPr lang="fr" sz="1200">
                <a:solidFill>
                  <a:srgbClr val="000000"/>
                </a:solidFill>
              </a:rPr>
              <a:t>S’il possède déjà un compte, l’internaute peut se connecter en entrant son identifiant DADUPA CONNECT ou bien le mail, et son mot de passe.</a:t>
            </a:r>
            <a:endParaRPr sz="1200">
              <a:solidFill>
                <a:srgbClr val="000000"/>
              </a:solidFill>
            </a:endParaRPr>
          </a:p>
          <a:p>
            <a:pPr marL="0" lvl="0" indent="0" algn="l" rtl="0">
              <a:lnSpc>
                <a:spcPct val="115000"/>
              </a:lnSpc>
              <a:spcBef>
                <a:spcPts val="0"/>
              </a:spcBef>
              <a:spcAft>
                <a:spcPts val="0"/>
              </a:spcAft>
              <a:buNone/>
            </a:pPr>
            <a:endParaRPr sz="1200">
              <a:solidFill>
                <a:srgbClr val="000000"/>
              </a:solidFill>
            </a:endParaRPr>
          </a:p>
          <a:p>
            <a:pPr marL="0" lvl="0" indent="0" algn="l" rtl="0">
              <a:spcBef>
                <a:spcPts val="0"/>
              </a:spcBef>
              <a:spcAft>
                <a:spcPts val="0"/>
              </a:spcAft>
              <a:buClr>
                <a:schemeClr val="dk1"/>
              </a:buClr>
              <a:buSzPts val="1100"/>
              <a:buFont typeface="Arial"/>
              <a:buNone/>
            </a:pPr>
            <a:r>
              <a:rPr lang="fr" sz="1200" b="1">
                <a:solidFill>
                  <a:srgbClr val="000000"/>
                </a:solidFill>
              </a:rPr>
              <a:t>2 BIS - CONNEXION VIA GOOGLE/ FACEBOOK/LINKEDIN</a:t>
            </a:r>
            <a:endParaRPr sz="1200" b="1">
              <a:solidFill>
                <a:srgbClr val="000000"/>
              </a:solidFill>
            </a:endParaRPr>
          </a:p>
          <a:p>
            <a:pPr marL="0" lvl="0" indent="0" algn="l" rtl="0">
              <a:spcBef>
                <a:spcPts val="0"/>
              </a:spcBef>
              <a:spcAft>
                <a:spcPts val="0"/>
              </a:spcAft>
              <a:buClr>
                <a:schemeClr val="dk1"/>
              </a:buClr>
              <a:buSzPts val="1100"/>
              <a:buFont typeface="Arial"/>
              <a:buNone/>
            </a:pP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Il peut aussi s’inscrire via un compte Google, Facebook ou bien LinkedIn</a:t>
            </a:r>
            <a:endParaRPr sz="1200">
              <a:solidFill>
                <a:srgbClr val="000000"/>
              </a:solidFill>
            </a:endParaRPr>
          </a:p>
          <a:p>
            <a:pPr marL="0" lvl="0" indent="0" algn="l" rtl="0">
              <a:lnSpc>
                <a:spcPct val="115000"/>
              </a:lnSpc>
              <a:spcBef>
                <a:spcPts val="0"/>
              </a:spcBef>
              <a:spcAft>
                <a:spcPts val="0"/>
              </a:spcAft>
              <a:buNone/>
            </a:pPr>
            <a:endParaRPr sz="1200">
              <a:solidFill>
                <a:srgbClr val="000000"/>
              </a:solidFill>
            </a:endParaRPr>
          </a:p>
        </p:txBody>
      </p:sp>
      <p:sp>
        <p:nvSpPr>
          <p:cNvPr id="175" name="Google Shape;175;p19"/>
          <p:cNvSpPr txBox="1">
            <a:spLocks noGrp="1"/>
          </p:cNvSpPr>
          <p:nvPr>
            <p:ph type="body" idx="1"/>
          </p:nvPr>
        </p:nvSpPr>
        <p:spPr>
          <a:xfrm>
            <a:off x="566775" y="98325"/>
            <a:ext cx="48516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INSCRIPTION - ACCUEIL - STEP 1 </a:t>
            </a:r>
            <a:endParaRPr b="1">
              <a:solidFill>
                <a:srgbClr val="000000"/>
              </a:solidFill>
            </a:endParaRPr>
          </a:p>
        </p:txBody>
      </p:sp>
      <p:grpSp>
        <p:nvGrpSpPr>
          <p:cNvPr id="176" name="Google Shape;176;p19"/>
          <p:cNvGrpSpPr/>
          <p:nvPr/>
        </p:nvGrpSpPr>
        <p:grpSpPr>
          <a:xfrm>
            <a:off x="8467500" y="-18375"/>
            <a:ext cx="676500" cy="676500"/>
            <a:chOff x="8467500" y="-18375"/>
            <a:chExt cx="676500" cy="676500"/>
          </a:xfrm>
        </p:grpSpPr>
        <p:sp>
          <p:nvSpPr>
            <p:cNvPr id="177" name="Google Shape;177;p19"/>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19"/>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179" name="Google Shape;179;p19"/>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180" name="Google Shape;180;p19"/>
          <p:cNvPicPr preferRelativeResize="0"/>
          <p:nvPr/>
        </p:nvPicPr>
        <p:blipFill>
          <a:blip r:embed="rId4">
            <a:alphaModFix/>
          </a:blip>
          <a:stretch>
            <a:fillRect/>
          </a:stretch>
        </p:blipFill>
        <p:spPr>
          <a:xfrm>
            <a:off x="133550" y="124728"/>
            <a:ext cx="384785" cy="390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0"/>
          <p:cNvSpPr txBox="1">
            <a:spLocks noGrp="1"/>
          </p:cNvSpPr>
          <p:nvPr>
            <p:ph type="body" idx="1"/>
          </p:nvPr>
        </p:nvSpPr>
        <p:spPr>
          <a:xfrm>
            <a:off x="311575" y="968975"/>
            <a:ext cx="8211300" cy="44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Ensuite, une deuxième étape se propose à la personne qui vient de se connecter</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a:solidFill>
                  <a:srgbClr val="000000"/>
                </a:solidFill>
              </a:rPr>
              <a: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Vous êtes:</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 porteur de projet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 bailleur de fonds</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 accompagnateur</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 visiteur </a:t>
            </a:r>
            <a:r>
              <a:rPr lang="fr" sz="1200" b="1">
                <a:solidFill>
                  <a:srgbClr val="000000"/>
                </a:solidFill>
              </a:rPr>
              <a:t>(S’il est visiteur, Terminer)</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Votre nom et d’autres infos importantes.</a:t>
            </a:r>
            <a:endParaRPr sz="1200">
              <a:solidFill>
                <a:srgbClr val="000000"/>
              </a:solidFill>
            </a:endParaRPr>
          </a:p>
        </p:txBody>
      </p:sp>
      <p:sp>
        <p:nvSpPr>
          <p:cNvPr id="186" name="Google Shape;186;p20"/>
          <p:cNvSpPr txBox="1">
            <a:spLocks noGrp="1"/>
          </p:cNvSpPr>
          <p:nvPr>
            <p:ph type="body" idx="1"/>
          </p:nvPr>
        </p:nvSpPr>
        <p:spPr>
          <a:xfrm>
            <a:off x="566775" y="98325"/>
            <a:ext cx="4792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INSCRIPTION - ACCUEIL - STEP 2 </a:t>
            </a:r>
            <a:endParaRPr b="1">
              <a:solidFill>
                <a:srgbClr val="000000"/>
              </a:solidFill>
            </a:endParaRPr>
          </a:p>
        </p:txBody>
      </p:sp>
      <p:grpSp>
        <p:nvGrpSpPr>
          <p:cNvPr id="187" name="Google Shape;187;p20"/>
          <p:cNvGrpSpPr/>
          <p:nvPr/>
        </p:nvGrpSpPr>
        <p:grpSpPr>
          <a:xfrm>
            <a:off x="8467500" y="-18375"/>
            <a:ext cx="676500" cy="676500"/>
            <a:chOff x="8467500" y="-18375"/>
            <a:chExt cx="676500" cy="676500"/>
          </a:xfrm>
        </p:grpSpPr>
        <p:sp>
          <p:nvSpPr>
            <p:cNvPr id="188" name="Google Shape;188;p20"/>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9" name="Google Shape;189;p20"/>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190" name="Google Shape;190;p20"/>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191" name="Google Shape;191;p20"/>
          <p:cNvPicPr preferRelativeResize="0"/>
          <p:nvPr/>
        </p:nvPicPr>
        <p:blipFill>
          <a:blip r:embed="rId4">
            <a:alphaModFix/>
          </a:blip>
          <a:stretch>
            <a:fillRect/>
          </a:stretch>
        </p:blipFill>
        <p:spPr>
          <a:xfrm>
            <a:off x="133550" y="124728"/>
            <a:ext cx="384785" cy="3902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a:spLocks noGrp="1"/>
          </p:cNvSpPr>
          <p:nvPr>
            <p:ph type="body" idx="1"/>
          </p:nvPr>
        </p:nvSpPr>
        <p:spPr>
          <a:xfrm>
            <a:off x="311575" y="968975"/>
            <a:ext cx="8211300" cy="449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Ensuite, si l’inscrit est porteur de projet, investisseur ou mentor, on lui demandera ceci:</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a:solidFill>
                  <a:srgbClr val="000000"/>
                </a:solidFill>
              </a:rPr>
              <a: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Publier maintenant un projet d’entreprise ? </a:t>
            </a:r>
            <a:r>
              <a:rPr lang="fr" sz="1200">
                <a:solidFill>
                  <a:srgbClr val="B45F06"/>
                </a:solidFill>
              </a:rPr>
              <a:t>S’il est porteur de projet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chemeClr val="dk1"/>
                </a:solidFill>
              </a:rPr>
              <a:t>Publier maintenant une offre d’investissement ? </a:t>
            </a:r>
            <a:r>
              <a:rPr lang="fr" sz="1200">
                <a:solidFill>
                  <a:srgbClr val="B45F06"/>
                </a:solidFill>
              </a:rPr>
              <a:t>S’il est bailleur de fonds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Publier maintenant une offre d’accompagnement ? </a:t>
            </a:r>
            <a:r>
              <a:rPr lang="fr" sz="1200">
                <a:solidFill>
                  <a:srgbClr val="B45F06"/>
                </a:solidFill>
              </a:rPr>
              <a:t>S’il est accompagnateur</a:t>
            </a:r>
            <a:endParaRPr sz="1200">
              <a:solidFill>
                <a:schemeClr val="dk1"/>
              </a:solidFill>
            </a:endParaRPr>
          </a:p>
          <a:p>
            <a:pPr marL="457200" lvl="0" indent="-304800" algn="l" rtl="0">
              <a:spcBef>
                <a:spcPts val="0"/>
              </a:spcBef>
              <a:spcAft>
                <a:spcPts val="0"/>
              </a:spcAft>
              <a:buClr>
                <a:schemeClr val="dk1"/>
              </a:buClr>
              <a:buSzPts val="1200"/>
              <a:buChar char="●"/>
            </a:pPr>
            <a:r>
              <a:rPr lang="fr" sz="1200" b="1">
                <a:solidFill>
                  <a:schemeClr val="dk1"/>
                </a:solidFill>
              </a:rPr>
              <a:t>Non, pour le moment (skip)</a:t>
            </a:r>
            <a:endParaRPr sz="1200" b="1">
              <a:solidFill>
                <a:schemeClr val="dk1"/>
              </a:solidFill>
            </a:endParaRPr>
          </a:p>
          <a:p>
            <a:pPr marL="0" lvl="0" indent="0" algn="l" rtl="0">
              <a:spcBef>
                <a:spcPts val="0"/>
              </a:spcBef>
              <a:spcAft>
                <a:spcPts val="0"/>
              </a:spcAft>
              <a:buNone/>
            </a:pPr>
            <a:r>
              <a:rPr lang="fr" sz="1200">
                <a:solidFill>
                  <a:schemeClr val="dk1"/>
                </a:solidFill>
              </a:rPr>
              <a:t>---</a:t>
            </a:r>
            <a:endParaRPr sz="1200">
              <a:solidFill>
                <a:schemeClr val="dk1"/>
              </a:solidFill>
            </a:endParaRPr>
          </a:p>
          <a:p>
            <a:pPr marL="457200" lvl="0" indent="-304800" algn="l" rtl="0">
              <a:spcBef>
                <a:spcPts val="0"/>
              </a:spcBef>
              <a:spcAft>
                <a:spcPts val="0"/>
              </a:spcAft>
              <a:buClr>
                <a:srgbClr val="000000"/>
              </a:buClr>
              <a:buSzPts val="1200"/>
              <a:buChar char="●"/>
            </a:pPr>
            <a:r>
              <a:rPr lang="fr" sz="1200">
                <a:solidFill>
                  <a:srgbClr val="000000"/>
                </a:solidFill>
              </a:rPr>
              <a:t>Si il veut publier, rediriger vers la page de publication (étapes suivantes)</a:t>
            </a:r>
            <a:endParaRPr sz="1200">
              <a:solidFill>
                <a:srgbClr val="000000"/>
              </a:solidFill>
            </a:endParaRPr>
          </a:p>
        </p:txBody>
      </p:sp>
      <p:sp>
        <p:nvSpPr>
          <p:cNvPr id="197" name="Google Shape;197;p21"/>
          <p:cNvSpPr txBox="1">
            <a:spLocks noGrp="1"/>
          </p:cNvSpPr>
          <p:nvPr>
            <p:ph type="body" idx="1"/>
          </p:nvPr>
        </p:nvSpPr>
        <p:spPr>
          <a:xfrm>
            <a:off x="566775" y="98325"/>
            <a:ext cx="4792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INSCRIPTION - ACCUEIL - STEP 3 </a:t>
            </a:r>
            <a:endParaRPr b="1">
              <a:solidFill>
                <a:srgbClr val="000000"/>
              </a:solidFill>
            </a:endParaRPr>
          </a:p>
        </p:txBody>
      </p:sp>
      <p:grpSp>
        <p:nvGrpSpPr>
          <p:cNvPr id="198" name="Google Shape;198;p21"/>
          <p:cNvGrpSpPr/>
          <p:nvPr/>
        </p:nvGrpSpPr>
        <p:grpSpPr>
          <a:xfrm>
            <a:off x="8467500" y="-18375"/>
            <a:ext cx="676500" cy="676500"/>
            <a:chOff x="8467500" y="-18375"/>
            <a:chExt cx="676500" cy="676500"/>
          </a:xfrm>
        </p:grpSpPr>
        <p:sp>
          <p:nvSpPr>
            <p:cNvPr id="199" name="Google Shape;199;p21"/>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21"/>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01" name="Google Shape;201;p21"/>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02" name="Google Shape;202;p21"/>
          <p:cNvPicPr preferRelativeResize="0"/>
          <p:nvPr/>
        </p:nvPicPr>
        <p:blipFill>
          <a:blip r:embed="rId4">
            <a:alphaModFix/>
          </a:blip>
          <a:stretch>
            <a:fillRect/>
          </a:stretch>
        </p:blipFill>
        <p:spPr>
          <a:xfrm>
            <a:off x="133550" y="124728"/>
            <a:ext cx="384785" cy="3902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2"/>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PUBLICATION DES OFFRES</a:t>
            </a:r>
            <a:endParaRPr/>
          </a:p>
        </p:txBody>
      </p:sp>
      <p:grpSp>
        <p:nvGrpSpPr>
          <p:cNvPr id="208" name="Google Shape;208;p22"/>
          <p:cNvGrpSpPr/>
          <p:nvPr/>
        </p:nvGrpSpPr>
        <p:grpSpPr>
          <a:xfrm>
            <a:off x="8467500" y="-18375"/>
            <a:ext cx="676500" cy="676500"/>
            <a:chOff x="8467500" y="-18375"/>
            <a:chExt cx="676500" cy="676500"/>
          </a:xfrm>
        </p:grpSpPr>
        <p:sp>
          <p:nvSpPr>
            <p:cNvPr id="209" name="Google Shape;209;p22"/>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0" name="Google Shape;210;p22"/>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11" name="Google Shape;211;p22"/>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12" name="Google Shape;212;p22"/>
          <p:cNvPicPr preferRelativeResize="0"/>
          <p:nvPr/>
        </p:nvPicPr>
        <p:blipFill>
          <a:blip r:embed="rId4">
            <a:alphaModFix/>
          </a:blip>
          <a:stretch>
            <a:fillRect/>
          </a:stretch>
        </p:blipFill>
        <p:spPr>
          <a:xfrm>
            <a:off x="2664360" y="974278"/>
            <a:ext cx="1425000" cy="1425000"/>
          </a:xfrm>
          <a:prstGeom prst="rect">
            <a:avLst/>
          </a:prstGeom>
          <a:noFill/>
          <a:ln>
            <a:noFill/>
          </a:ln>
        </p:spPr>
      </p:pic>
      <p:pic>
        <p:nvPicPr>
          <p:cNvPr id="213" name="Google Shape;213;p22"/>
          <p:cNvPicPr preferRelativeResize="0"/>
          <p:nvPr/>
        </p:nvPicPr>
        <p:blipFill>
          <a:blip r:embed="rId5">
            <a:alphaModFix/>
          </a:blip>
          <a:stretch>
            <a:fillRect/>
          </a:stretch>
        </p:blipFill>
        <p:spPr>
          <a:xfrm>
            <a:off x="3882433" y="1222225"/>
            <a:ext cx="1013875" cy="1013875"/>
          </a:xfrm>
          <a:prstGeom prst="rect">
            <a:avLst/>
          </a:prstGeom>
          <a:noFill/>
          <a:ln>
            <a:noFill/>
          </a:ln>
        </p:spPr>
      </p:pic>
      <p:sp>
        <p:nvSpPr>
          <p:cNvPr id="214" name="Google Shape;214;p22"/>
          <p:cNvSpPr txBox="1">
            <a:spLocks noGrp="1"/>
          </p:cNvSpPr>
          <p:nvPr>
            <p:ph type="title"/>
          </p:nvPr>
        </p:nvSpPr>
        <p:spPr>
          <a:xfrm>
            <a:off x="464100" y="3488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200"/>
              <a:t>Une fois inscrit ou connecté, l’internaute peut publier </a:t>
            </a:r>
            <a:endParaRPr sz="1200"/>
          </a:p>
          <a:p>
            <a:pPr marL="0" lvl="0" indent="0" algn="ctr" rtl="0">
              <a:spcBef>
                <a:spcPts val="0"/>
              </a:spcBef>
              <a:spcAft>
                <a:spcPts val="0"/>
              </a:spcAft>
              <a:buNone/>
            </a:pPr>
            <a:r>
              <a:rPr lang="fr" sz="1400" b="1"/>
              <a:t>un projet Business</a:t>
            </a:r>
            <a:r>
              <a:rPr lang="fr" sz="1200"/>
              <a:t>, une </a:t>
            </a:r>
            <a:r>
              <a:rPr lang="fr" sz="1400" b="1"/>
              <a:t>offre de financement</a:t>
            </a:r>
            <a:r>
              <a:rPr lang="fr" sz="1200"/>
              <a:t> ou bien une </a:t>
            </a:r>
            <a:r>
              <a:rPr lang="fr" sz="1400" b="1"/>
              <a:t>offre d’accompagnement</a:t>
            </a:r>
            <a:endParaRPr sz="1400" b="1"/>
          </a:p>
        </p:txBody>
      </p:sp>
      <p:sp>
        <p:nvSpPr>
          <p:cNvPr id="215" name="Google Shape;215;p22"/>
          <p:cNvSpPr/>
          <p:nvPr/>
        </p:nvSpPr>
        <p:spPr>
          <a:xfrm rot="-5400000">
            <a:off x="4527450" y="2346475"/>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6" name="Google Shape;216;p22"/>
          <p:cNvPicPr preferRelativeResize="0"/>
          <p:nvPr/>
        </p:nvPicPr>
        <p:blipFill>
          <a:blip r:embed="rId6">
            <a:alphaModFix/>
          </a:blip>
          <a:stretch>
            <a:fillRect/>
          </a:stretch>
        </p:blipFill>
        <p:spPr>
          <a:xfrm>
            <a:off x="4955638" y="967150"/>
            <a:ext cx="1524000" cy="1524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3"/>
          <p:cNvSpPr txBox="1">
            <a:spLocks noGrp="1"/>
          </p:cNvSpPr>
          <p:nvPr>
            <p:ph type="body" idx="4294967295"/>
          </p:nvPr>
        </p:nvSpPr>
        <p:spPr>
          <a:xfrm>
            <a:off x="167950" y="805350"/>
            <a:ext cx="8481900" cy="410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Pour publier un projet, </a:t>
            </a:r>
            <a:r>
              <a:rPr lang="fr" sz="1200">
                <a:solidFill>
                  <a:schemeClr val="dk1"/>
                </a:solidFill>
              </a:rPr>
              <a:t>l’utilisateur doit entrer les informations suivantes:</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b="1">
                <a:solidFill>
                  <a:srgbClr val="000000"/>
                </a:solidFill>
              </a:rPr>
              <a:t>1-</a:t>
            </a:r>
            <a:r>
              <a:rPr lang="fr" sz="1200">
                <a:solidFill>
                  <a:srgbClr val="000000"/>
                </a:solidFill>
              </a:rPr>
              <a:t> Champs obligatoires</a:t>
            </a:r>
            <a:endParaRPr sz="1200">
              <a:solidFill>
                <a:srgbClr val="000000"/>
              </a:solidFill>
            </a:endParaRPr>
          </a:p>
          <a:p>
            <a:pPr marL="0" lvl="0" indent="0" algn="l" rtl="0">
              <a:spcBef>
                <a:spcPts val="0"/>
              </a:spcBef>
              <a:spcAft>
                <a:spcPts val="0"/>
              </a:spcAft>
              <a:buNone/>
            </a:pP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Nom du projet: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Etat du projet: </a:t>
            </a:r>
            <a:r>
              <a:rPr lang="fr" sz="1200" b="1">
                <a:solidFill>
                  <a:srgbClr val="000000"/>
                </a:solidFill>
              </a:rPr>
              <a:t>( Idée / Prototype / Lancé ) </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Secteurs d’activité: </a:t>
            </a:r>
            <a:r>
              <a:rPr lang="fr" sz="1200" b="1">
                <a:solidFill>
                  <a:srgbClr val="000000"/>
                </a:solidFill>
              </a:rPr>
              <a:t>(secteurs en Bd) </a:t>
            </a:r>
            <a:r>
              <a:rPr lang="fr" sz="1200" b="1">
                <a:solidFill>
                  <a:schemeClr val="dk1"/>
                </a:solidFill>
              </a:rPr>
              <a:t>(Plusieurs choix)</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Zones du projet: </a:t>
            </a:r>
            <a:r>
              <a:rPr lang="fr" sz="1200" b="1">
                <a:solidFill>
                  <a:srgbClr val="000000"/>
                </a:solidFill>
              </a:rPr>
              <a:t>(Lieu) </a:t>
            </a:r>
            <a:r>
              <a:rPr lang="fr" sz="1200" b="1">
                <a:solidFill>
                  <a:schemeClr val="dk1"/>
                </a:solidFill>
              </a:rPr>
              <a:t>(Plusieurs choix)</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chemeClr val="dk1"/>
                </a:solidFill>
              </a:rPr>
              <a:t>Financement recherché (Aucun ou bien tranche en bd) + devise ($ par défaut)</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Décrivez votre projet en bref: (Paragraphe Besoin-150 mots) (Paragraphe solution-150 mots))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Je cherche des mentors </a:t>
            </a:r>
            <a:r>
              <a:rPr lang="fr" sz="1200" b="1">
                <a:solidFill>
                  <a:srgbClr val="000000"/>
                </a:solidFill>
              </a:rPr>
              <a:t>(Oui/Non)</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chemeClr val="dk1"/>
                </a:solidFill>
              </a:rPr>
              <a:t>Je cherche des associés </a:t>
            </a:r>
            <a:r>
              <a:rPr lang="fr" sz="1200" b="1">
                <a:solidFill>
                  <a:schemeClr val="dk1"/>
                </a:solidFill>
              </a:rPr>
              <a:t>(Oui/Non)</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des co-porteurs (facultatif) (Si les co-porteurs ont un déjà un profil DADUPA, ils seront tagués dans l’offre)</a:t>
            </a:r>
            <a:endParaRPr sz="1200">
              <a:solidFill>
                <a:schemeClr val="dk1"/>
              </a:solidFill>
            </a:endParaRPr>
          </a:p>
          <a:p>
            <a:pPr marL="457200" lvl="0" indent="-304800" algn="l" rtl="0">
              <a:spcBef>
                <a:spcPts val="0"/>
              </a:spcBef>
              <a:spcAft>
                <a:spcPts val="0"/>
              </a:spcAft>
              <a:buClr>
                <a:srgbClr val="000000"/>
              </a:buClr>
              <a:buSzPts val="1200"/>
              <a:buChar char="●"/>
            </a:pPr>
            <a:r>
              <a:rPr lang="fr" sz="1200">
                <a:solidFill>
                  <a:srgbClr val="000000"/>
                </a:solidFill>
              </a:rPr>
              <a:t>Ajouter une </a:t>
            </a:r>
            <a:r>
              <a:rPr lang="fr" sz="1200" b="1">
                <a:solidFill>
                  <a:srgbClr val="000000"/>
                </a:solidFill>
              </a:rPr>
              <a:t>Vidéo (Par défaut, La vidéo est primordiale, mais à défaut une image peut être entrée)</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chemeClr val="dk1"/>
                </a:solidFill>
              </a:rPr>
              <a:t>Ajouter un lien </a:t>
            </a:r>
            <a:r>
              <a:rPr lang="fr" sz="1200" b="1">
                <a:solidFill>
                  <a:schemeClr val="dk1"/>
                </a:solidFill>
              </a:rPr>
              <a:t>(facultatif)</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chemeClr val="dk1"/>
                </a:solidFill>
              </a:rPr>
              <a:t>Ajouter des </a:t>
            </a:r>
            <a:r>
              <a:rPr lang="fr" sz="1200" b="1">
                <a:solidFill>
                  <a:schemeClr val="dk1"/>
                </a:solidFill>
              </a:rPr>
              <a:t>Tags</a:t>
            </a:r>
            <a:endParaRPr sz="1200" b="1">
              <a:solidFill>
                <a:srgbClr val="000000"/>
              </a:solidFill>
            </a:endParaRPr>
          </a:p>
          <a:p>
            <a:pPr marL="0" lvl="0" indent="0" algn="l" rtl="0">
              <a:spcBef>
                <a:spcPts val="0"/>
              </a:spcBef>
              <a:spcAft>
                <a:spcPts val="0"/>
              </a:spcAft>
              <a:buNone/>
            </a:pPr>
            <a:endParaRPr sz="1200" b="1">
              <a:solidFill>
                <a:srgbClr val="000000"/>
              </a:solidFill>
            </a:endParaRPr>
          </a:p>
          <a:p>
            <a:pPr marL="0" lvl="0" indent="0" algn="l" rtl="0">
              <a:spcBef>
                <a:spcPts val="0"/>
              </a:spcBef>
              <a:spcAft>
                <a:spcPts val="0"/>
              </a:spcAft>
              <a:buNone/>
            </a:pPr>
            <a:r>
              <a:rPr lang="fr" sz="1200" b="1">
                <a:solidFill>
                  <a:schemeClr val="dk1"/>
                </a:solidFill>
              </a:rPr>
              <a:t>2- </a:t>
            </a:r>
            <a:r>
              <a:rPr lang="fr" sz="1200">
                <a:solidFill>
                  <a:schemeClr val="dk1"/>
                </a:solidFill>
              </a:rPr>
              <a:t>Statut de l’offre: </a:t>
            </a:r>
            <a:r>
              <a:rPr lang="fr" sz="1200" b="1">
                <a:solidFill>
                  <a:schemeClr val="dk1"/>
                </a:solidFill>
              </a:rPr>
              <a:t>Public / Privé (mais peut être partagé en privé)</a:t>
            </a:r>
            <a:endParaRPr sz="1200" b="1">
              <a:solidFill>
                <a:schemeClr val="dk1"/>
              </a:solidFill>
            </a:endParaRPr>
          </a:p>
          <a:p>
            <a:pPr marL="0" lvl="0" indent="0" algn="l" rtl="0">
              <a:spcBef>
                <a:spcPts val="0"/>
              </a:spcBef>
              <a:spcAft>
                <a:spcPts val="0"/>
              </a:spcAft>
              <a:buNone/>
            </a:pPr>
            <a:r>
              <a:rPr lang="fr" sz="1200" b="1">
                <a:solidFill>
                  <a:schemeClr val="dk1"/>
                </a:solidFill>
              </a:rPr>
              <a:t>3-</a:t>
            </a:r>
            <a:r>
              <a:rPr lang="fr" sz="1200">
                <a:solidFill>
                  <a:schemeClr val="dk1"/>
                </a:solidFill>
              </a:rPr>
              <a:t> Visualiser l’offre avant validation</a:t>
            </a:r>
            <a:endParaRPr sz="1200" b="1">
              <a:solidFill>
                <a:schemeClr val="dk1"/>
              </a:solidFill>
            </a:endParaRPr>
          </a:p>
          <a:p>
            <a:pPr marL="0" lvl="0" indent="0" algn="l" rtl="0">
              <a:spcBef>
                <a:spcPts val="0"/>
              </a:spcBef>
              <a:spcAft>
                <a:spcPts val="0"/>
              </a:spcAft>
              <a:buNone/>
            </a:pPr>
            <a:r>
              <a:rPr lang="fr" sz="1200" b="1">
                <a:solidFill>
                  <a:schemeClr val="dk1"/>
                </a:solidFill>
              </a:rPr>
              <a:t>4- </a:t>
            </a:r>
            <a:r>
              <a:rPr lang="fr" sz="1200">
                <a:solidFill>
                  <a:schemeClr val="dk1"/>
                </a:solidFill>
              </a:rPr>
              <a:t>Enfin, il lit les engagements, accepte les </a:t>
            </a:r>
            <a:r>
              <a:rPr lang="fr" sz="1200" b="1">
                <a:solidFill>
                  <a:schemeClr val="dk1"/>
                </a:solidFill>
              </a:rPr>
              <a:t>conditions DADUPA </a:t>
            </a:r>
            <a:r>
              <a:rPr lang="fr" sz="1200">
                <a:solidFill>
                  <a:schemeClr val="dk1"/>
                </a:solidFill>
              </a:rPr>
              <a:t>et clique sur </a:t>
            </a:r>
            <a:r>
              <a:rPr lang="fr" sz="1200" b="1">
                <a:solidFill>
                  <a:schemeClr val="dk1"/>
                </a:solidFill>
              </a:rPr>
              <a:t>TERMINER</a:t>
            </a:r>
            <a:endParaRPr sz="1200" b="1">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Clr>
                <a:schemeClr val="dk1"/>
              </a:buClr>
              <a:buSzPts val="1100"/>
              <a:buFont typeface="Arial"/>
              <a:buNone/>
            </a:pPr>
            <a:r>
              <a:rPr lang="fr" sz="1200" b="1">
                <a:solidFill>
                  <a:schemeClr val="dk1"/>
                </a:solidFill>
              </a:rPr>
              <a:t> L’internaute ne peut pas publier plus de deux offres sans l’approbation de DADUPA </a:t>
            </a:r>
            <a:endParaRPr sz="1200" b="1">
              <a:solidFill>
                <a:schemeClr val="dk1"/>
              </a:solidFill>
            </a:endParaRPr>
          </a:p>
        </p:txBody>
      </p:sp>
      <p:grpSp>
        <p:nvGrpSpPr>
          <p:cNvPr id="222" name="Google Shape;222;p23"/>
          <p:cNvGrpSpPr/>
          <p:nvPr/>
        </p:nvGrpSpPr>
        <p:grpSpPr>
          <a:xfrm>
            <a:off x="8467500" y="-18375"/>
            <a:ext cx="676500" cy="676500"/>
            <a:chOff x="8467500" y="-18375"/>
            <a:chExt cx="676500" cy="676500"/>
          </a:xfrm>
        </p:grpSpPr>
        <p:sp>
          <p:nvSpPr>
            <p:cNvPr id="223" name="Google Shape;223;p23"/>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4" name="Google Shape;224;p23"/>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25" name="Google Shape;225;p23"/>
          <p:cNvSpPr txBox="1">
            <a:spLocks noGrp="1"/>
          </p:cNvSpPr>
          <p:nvPr>
            <p:ph type="title" idx="4294967295"/>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26" name="Google Shape;226;p23"/>
          <p:cNvPicPr preferRelativeResize="0"/>
          <p:nvPr/>
        </p:nvPicPr>
        <p:blipFill>
          <a:blip r:embed="rId4">
            <a:alphaModFix/>
          </a:blip>
          <a:stretch>
            <a:fillRect/>
          </a:stretch>
        </p:blipFill>
        <p:spPr>
          <a:xfrm>
            <a:off x="62098" y="98327"/>
            <a:ext cx="443100" cy="443100"/>
          </a:xfrm>
          <a:prstGeom prst="rect">
            <a:avLst/>
          </a:prstGeom>
          <a:noFill/>
          <a:ln>
            <a:noFill/>
          </a:ln>
        </p:spPr>
      </p:pic>
      <p:sp>
        <p:nvSpPr>
          <p:cNvPr id="227" name="Google Shape;227;p23"/>
          <p:cNvSpPr txBox="1">
            <a:spLocks noGrp="1"/>
          </p:cNvSpPr>
          <p:nvPr>
            <p:ph type="body" idx="4294967295"/>
          </p:nvPr>
        </p:nvSpPr>
        <p:spPr>
          <a:xfrm>
            <a:off x="533275" y="98325"/>
            <a:ext cx="7024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PUBLIER - OFFRE PROJET BUSINESS</a:t>
            </a:r>
            <a:endParaRPr b="1">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body" idx="4294967295"/>
          </p:nvPr>
        </p:nvSpPr>
        <p:spPr>
          <a:xfrm>
            <a:off x="168000" y="515250"/>
            <a:ext cx="8976000" cy="46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chemeClr val="dk1"/>
                </a:solidFill>
              </a:rPr>
              <a:t>Pour publier un financement, l’utilisateur doit entrer les informations suivantes:</a:t>
            </a:r>
            <a:endParaRPr sz="1200">
              <a:solidFill>
                <a:schemeClr val="dk1"/>
              </a:solidFill>
            </a:endParaRPr>
          </a:p>
          <a:p>
            <a:pPr marL="0" lvl="0" indent="0" algn="l" rtl="0">
              <a:spcBef>
                <a:spcPts val="0"/>
              </a:spcBef>
              <a:spcAft>
                <a:spcPts val="0"/>
              </a:spcAft>
              <a:buNone/>
            </a:pPr>
            <a:r>
              <a:rPr lang="fr" sz="1200" b="1">
                <a:solidFill>
                  <a:schemeClr val="dk1"/>
                </a:solidFill>
              </a:rPr>
              <a:t>1-</a:t>
            </a:r>
            <a:r>
              <a:rPr lang="fr" sz="1200">
                <a:solidFill>
                  <a:schemeClr val="dk1"/>
                </a:solidFill>
              </a:rPr>
              <a:t> Champs obligatoires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Vous êtes un Bailleur de fonds </a:t>
            </a:r>
            <a:r>
              <a:rPr lang="fr" sz="1200" b="1">
                <a:solidFill>
                  <a:schemeClr val="dk1"/>
                </a:solidFill>
              </a:rPr>
              <a:t>(Personnel / Corporate)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S’il représente une organisation</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Nom de l’organisation / Siège </a:t>
            </a:r>
            <a:r>
              <a:rPr lang="fr" sz="1200" b="1">
                <a:solidFill>
                  <a:schemeClr val="dk1"/>
                </a:solidFill>
              </a:rPr>
              <a:t>(Lieu) / </a:t>
            </a:r>
            <a:r>
              <a:rPr lang="fr" sz="1200">
                <a:solidFill>
                  <a:schemeClr val="dk1"/>
                </a:solidFill>
              </a:rPr>
              <a:t>Site Web / Email / Coordonnées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Type de fonds : </a:t>
            </a:r>
            <a:r>
              <a:rPr lang="fr" sz="1200" b="1">
                <a:solidFill>
                  <a:schemeClr val="dk1"/>
                </a:solidFill>
              </a:rPr>
              <a:t>(Gratuit / Avec prise de parts)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Secteurs ciblés: </a:t>
            </a:r>
            <a:r>
              <a:rPr lang="fr" sz="1200" b="1">
                <a:solidFill>
                  <a:schemeClr val="dk1"/>
                </a:solidFill>
              </a:rPr>
              <a:t>(secteurs en Bd) (Plusieurs choix)</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Lieux ciblés: </a:t>
            </a:r>
            <a:r>
              <a:rPr lang="fr" sz="1200" b="1">
                <a:solidFill>
                  <a:schemeClr val="dk1"/>
                </a:solidFill>
              </a:rPr>
              <a:t>(Lieu) (Plusieurs choix)</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Capacité de financement (</a:t>
            </a:r>
            <a:r>
              <a:rPr lang="fr" sz="1200" b="1">
                <a:solidFill>
                  <a:schemeClr val="dk1"/>
                </a:solidFill>
              </a:rPr>
              <a:t>Tranche en BD</a:t>
            </a:r>
            <a:r>
              <a:rPr lang="fr" sz="1200">
                <a:solidFill>
                  <a:schemeClr val="dk1"/>
                </a:solidFill>
              </a:rPr>
              <a:t>) + devise ($ par défaut)</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Décrivez votre offre de financement en bref </a:t>
            </a:r>
            <a:r>
              <a:rPr lang="fr" sz="1200" b="1">
                <a:solidFill>
                  <a:schemeClr val="dk1"/>
                </a:solidFill>
              </a:rPr>
              <a:t>(Texte)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Je propose des mentors </a:t>
            </a:r>
            <a:r>
              <a:rPr lang="fr" sz="1200" b="1">
                <a:solidFill>
                  <a:schemeClr val="dk1"/>
                </a:solidFill>
              </a:rPr>
              <a:t>(Oui/Non)</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Si propose du mentoring (L’offre de mentoring sera publiée également dans mentors)</a:t>
            </a:r>
            <a:endParaRPr sz="1200">
              <a:solidFill>
                <a:schemeClr val="dk1"/>
              </a:solidFill>
            </a:endParaRPr>
          </a:p>
          <a:p>
            <a:pPr marL="457200" lvl="0" indent="-304800" algn="l" rtl="0">
              <a:spcBef>
                <a:spcPts val="0"/>
              </a:spcBef>
              <a:spcAft>
                <a:spcPts val="0"/>
              </a:spcAft>
              <a:buClr>
                <a:srgbClr val="B45F06"/>
              </a:buClr>
              <a:buSzPts val="1200"/>
              <a:buChar char="●"/>
            </a:pPr>
            <a:r>
              <a:rPr lang="fr" sz="1200">
                <a:solidFill>
                  <a:srgbClr val="B45F06"/>
                </a:solidFill>
              </a:rPr>
              <a:t>Je propose des associés </a:t>
            </a:r>
            <a:r>
              <a:rPr lang="fr" sz="1200" b="1">
                <a:solidFill>
                  <a:srgbClr val="B45F06"/>
                </a:solidFill>
              </a:rPr>
              <a:t>(Oui/Non)</a:t>
            </a:r>
            <a:endParaRPr sz="1200" b="1">
              <a:solidFill>
                <a:srgbClr val="B45F06"/>
              </a:solidFill>
            </a:endParaRPr>
          </a:p>
          <a:p>
            <a:pPr marL="914400" lvl="1" indent="-304800" algn="l" rtl="0">
              <a:spcBef>
                <a:spcPts val="0"/>
              </a:spcBef>
              <a:spcAft>
                <a:spcPts val="0"/>
              </a:spcAft>
              <a:buClr>
                <a:srgbClr val="B45F06"/>
              </a:buClr>
              <a:buSzPts val="1200"/>
              <a:buChar char="○"/>
            </a:pPr>
            <a:r>
              <a:rPr lang="fr" sz="1200">
                <a:solidFill>
                  <a:srgbClr val="B45F06"/>
                </a:solidFill>
              </a:rPr>
              <a:t>Si propose des associés (L’offre d’associés sera publiée également dans collaborateurs) (dans la V2 de DADUPA connect)</a:t>
            </a:r>
            <a:endParaRPr sz="1200">
              <a:solidFill>
                <a:srgbClr val="000000"/>
              </a:solidFill>
            </a:endParaRPr>
          </a:p>
          <a:p>
            <a:pPr marL="457200" lvl="0" indent="-304800" algn="l" rtl="0">
              <a:spcBef>
                <a:spcPts val="0"/>
              </a:spcBef>
              <a:spcAft>
                <a:spcPts val="0"/>
              </a:spcAft>
              <a:buClr>
                <a:srgbClr val="B45F06"/>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des co-financeurs (facultatif) (Si les co-financeurs ont un déjà un profil DADUPA, ils seront tagués dans l’offre)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une </a:t>
            </a:r>
            <a:r>
              <a:rPr lang="fr" sz="1200" b="1">
                <a:solidFill>
                  <a:schemeClr val="dk1"/>
                </a:solidFill>
              </a:rPr>
              <a:t>Vidéo ou une image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des </a:t>
            </a:r>
            <a:r>
              <a:rPr lang="fr" sz="1200" b="1">
                <a:solidFill>
                  <a:schemeClr val="dk1"/>
                </a:solidFill>
              </a:rPr>
              <a:t>Tags</a:t>
            </a:r>
            <a:endParaRPr sz="1200" b="1">
              <a:solidFill>
                <a:schemeClr val="dk1"/>
              </a:solidFill>
            </a:endParaRPr>
          </a:p>
          <a:p>
            <a:pPr marL="0" lvl="0" indent="0" algn="l" rtl="0">
              <a:spcBef>
                <a:spcPts val="0"/>
              </a:spcBef>
              <a:spcAft>
                <a:spcPts val="0"/>
              </a:spcAft>
              <a:buNone/>
            </a:pPr>
            <a:r>
              <a:rPr lang="fr" sz="1200" b="1">
                <a:solidFill>
                  <a:schemeClr val="dk1"/>
                </a:solidFill>
              </a:rPr>
              <a:t>2- </a:t>
            </a:r>
            <a:r>
              <a:rPr lang="fr" sz="1200">
                <a:solidFill>
                  <a:schemeClr val="dk1"/>
                </a:solidFill>
              </a:rPr>
              <a:t>Statut de l’offre: </a:t>
            </a:r>
            <a:r>
              <a:rPr lang="fr" sz="1200" b="1">
                <a:solidFill>
                  <a:schemeClr val="dk1"/>
                </a:solidFill>
              </a:rPr>
              <a:t>Public / Privé (mais peut être partagé en privé)</a:t>
            </a:r>
            <a:endParaRPr sz="1200" b="1">
              <a:solidFill>
                <a:schemeClr val="dk1"/>
              </a:solidFill>
            </a:endParaRPr>
          </a:p>
          <a:p>
            <a:pPr marL="0" lvl="0" indent="0" algn="l" rtl="0">
              <a:spcBef>
                <a:spcPts val="0"/>
              </a:spcBef>
              <a:spcAft>
                <a:spcPts val="0"/>
              </a:spcAft>
              <a:buNone/>
            </a:pPr>
            <a:r>
              <a:rPr lang="fr" sz="1200" b="1">
                <a:solidFill>
                  <a:schemeClr val="dk1"/>
                </a:solidFill>
              </a:rPr>
              <a:t>3-</a:t>
            </a:r>
            <a:r>
              <a:rPr lang="fr" sz="1200">
                <a:solidFill>
                  <a:schemeClr val="dk1"/>
                </a:solidFill>
              </a:rPr>
              <a:t> Visualiser l’offre avant validation</a:t>
            </a:r>
            <a:endParaRPr sz="1200" b="1">
              <a:solidFill>
                <a:schemeClr val="dk1"/>
              </a:solidFill>
            </a:endParaRPr>
          </a:p>
          <a:p>
            <a:pPr marL="0" lvl="0" indent="0" algn="l" rtl="0">
              <a:spcBef>
                <a:spcPts val="0"/>
              </a:spcBef>
              <a:spcAft>
                <a:spcPts val="0"/>
              </a:spcAft>
              <a:buNone/>
            </a:pPr>
            <a:r>
              <a:rPr lang="fr" sz="1200" b="1">
                <a:solidFill>
                  <a:schemeClr val="dk1"/>
                </a:solidFill>
              </a:rPr>
              <a:t>4- </a:t>
            </a:r>
            <a:r>
              <a:rPr lang="fr" sz="1200">
                <a:solidFill>
                  <a:schemeClr val="dk1"/>
                </a:solidFill>
              </a:rPr>
              <a:t>Enfin, il lit les engagements, accepte les </a:t>
            </a:r>
            <a:r>
              <a:rPr lang="fr" sz="1200" b="1">
                <a:solidFill>
                  <a:schemeClr val="dk1"/>
                </a:solidFill>
              </a:rPr>
              <a:t>conditions DADUPA </a:t>
            </a:r>
            <a:r>
              <a:rPr lang="fr" sz="1200">
                <a:solidFill>
                  <a:schemeClr val="dk1"/>
                </a:solidFill>
              </a:rPr>
              <a:t>et clique sur </a:t>
            </a:r>
            <a:r>
              <a:rPr lang="fr" sz="1200" b="1">
                <a:solidFill>
                  <a:schemeClr val="dk1"/>
                </a:solidFill>
              </a:rPr>
              <a:t>TERMINER</a:t>
            </a:r>
            <a:endParaRPr sz="1200" b="1">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b="1">
                <a:solidFill>
                  <a:schemeClr val="dk1"/>
                </a:solidFill>
              </a:rPr>
              <a:t> L’internaute ne peut pas publier plus de deux offres sans l’approbation de DADUPA </a:t>
            </a:r>
            <a:endParaRPr sz="1200" b="1">
              <a:solidFill>
                <a:schemeClr val="dk1"/>
              </a:solidFill>
            </a:endParaRPr>
          </a:p>
        </p:txBody>
      </p:sp>
      <p:sp>
        <p:nvSpPr>
          <p:cNvPr id="233" name="Google Shape;233;p24"/>
          <p:cNvSpPr txBox="1">
            <a:spLocks noGrp="1"/>
          </p:cNvSpPr>
          <p:nvPr>
            <p:ph type="body" idx="4294967295"/>
          </p:nvPr>
        </p:nvSpPr>
        <p:spPr>
          <a:xfrm>
            <a:off x="533275" y="98325"/>
            <a:ext cx="7024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PUBLIER - OFFRE DE FINANCEMENT</a:t>
            </a:r>
            <a:endParaRPr b="1">
              <a:solidFill>
                <a:srgbClr val="000000"/>
              </a:solidFill>
            </a:endParaRPr>
          </a:p>
        </p:txBody>
      </p:sp>
      <p:grpSp>
        <p:nvGrpSpPr>
          <p:cNvPr id="234" name="Google Shape;234;p24"/>
          <p:cNvGrpSpPr/>
          <p:nvPr/>
        </p:nvGrpSpPr>
        <p:grpSpPr>
          <a:xfrm>
            <a:off x="8467500" y="-18375"/>
            <a:ext cx="676500" cy="676500"/>
            <a:chOff x="8467500" y="-18375"/>
            <a:chExt cx="676500" cy="676500"/>
          </a:xfrm>
        </p:grpSpPr>
        <p:sp>
          <p:nvSpPr>
            <p:cNvPr id="235" name="Google Shape;235;p24"/>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6" name="Google Shape;236;p24"/>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37" name="Google Shape;237;p24"/>
          <p:cNvSpPr txBox="1">
            <a:spLocks noGrp="1"/>
          </p:cNvSpPr>
          <p:nvPr>
            <p:ph type="title" idx="4294967295"/>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38" name="Google Shape;238;p24"/>
          <p:cNvPicPr preferRelativeResize="0"/>
          <p:nvPr/>
        </p:nvPicPr>
        <p:blipFill>
          <a:blip r:embed="rId4">
            <a:alphaModFix/>
          </a:blip>
          <a:stretch>
            <a:fillRect/>
          </a:stretch>
        </p:blipFill>
        <p:spPr>
          <a:xfrm>
            <a:off x="168005" y="137237"/>
            <a:ext cx="365275" cy="365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a:spLocks noGrp="1"/>
          </p:cNvSpPr>
          <p:nvPr>
            <p:ph type="body" idx="4294967295"/>
          </p:nvPr>
        </p:nvSpPr>
        <p:spPr>
          <a:xfrm>
            <a:off x="187725" y="515250"/>
            <a:ext cx="8481900" cy="4684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 sz="1200">
                <a:solidFill>
                  <a:schemeClr val="dk1"/>
                </a:solidFill>
              </a:rPr>
              <a:t>Pour publier une offre d’accompagnement, l’utilisateur doit entrer les informations suivantes:</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fr" sz="1200" b="1">
                <a:solidFill>
                  <a:schemeClr val="dk1"/>
                </a:solidFill>
              </a:rPr>
              <a:t>1-</a:t>
            </a:r>
            <a:r>
              <a:rPr lang="fr" sz="1200">
                <a:solidFill>
                  <a:schemeClr val="dk1"/>
                </a:solidFill>
              </a:rPr>
              <a:t> Champs obligatoires</a:t>
            </a:r>
            <a:endParaRPr sz="1200">
              <a:solidFill>
                <a:schemeClr val="dk1"/>
              </a:solidFill>
            </a:endParaRPr>
          </a:p>
          <a:p>
            <a:pPr marL="0" lvl="0" indent="0" algn="l" rtl="0">
              <a:spcBef>
                <a:spcPts val="0"/>
              </a:spcBef>
              <a:spcAft>
                <a:spcPts val="0"/>
              </a:spcAft>
              <a:buNone/>
            </a:pP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Votre accompagnement est: (</a:t>
            </a:r>
            <a:r>
              <a:rPr lang="fr" sz="1200" b="1">
                <a:solidFill>
                  <a:schemeClr val="dk1"/>
                </a:solidFill>
              </a:rPr>
              <a:t>Offert / Payant</a:t>
            </a:r>
            <a:r>
              <a:rPr lang="fr" sz="1200">
                <a:solidFill>
                  <a:schemeClr val="dk1"/>
                </a:solidFill>
              </a:rPr>
              <a: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Vous êtes un accompagnateur </a:t>
            </a:r>
            <a:r>
              <a:rPr lang="fr" sz="1200" b="1">
                <a:solidFill>
                  <a:schemeClr val="dk1"/>
                </a:solidFill>
              </a:rPr>
              <a:t>(Personnel / Corporate)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S’il représente une organisation</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Nom de l’organisation / Siège </a:t>
            </a:r>
            <a:r>
              <a:rPr lang="fr" sz="1200" b="1">
                <a:solidFill>
                  <a:schemeClr val="dk1"/>
                </a:solidFill>
              </a:rPr>
              <a:t>(Lieu) / </a:t>
            </a:r>
            <a:r>
              <a:rPr lang="fr" sz="1200">
                <a:solidFill>
                  <a:schemeClr val="dk1"/>
                </a:solidFill>
              </a:rPr>
              <a:t>Site Web / Email / Coordonnées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Secteurs ciblés: </a:t>
            </a:r>
            <a:r>
              <a:rPr lang="fr" sz="1200" b="1">
                <a:solidFill>
                  <a:schemeClr val="dk1"/>
                </a:solidFill>
              </a:rPr>
              <a:t>(secteurs en Bd) (Plusieurs choix)</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Zones ciblées: </a:t>
            </a:r>
            <a:r>
              <a:rPr lang="fr" sz="1200" b="1">
                <a:solidFill>
                  <a:schemeClr val="dk1"/>
                </a:solidFill>
              </a:rPr>
              <a:t>(Lieu) (Plusieurs choix)</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Décrivez votre offre en bref </a:t>
            </a:r>
            <a:r>
              <a:rPr lang="fr" sz="1200" b="1">
                <a:solidFill>
                  <a:schemeClr val="dk1"/>
                </a:solidFill>
              </a:rPr>
              <a:t>(Texte)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une </a:t>
            </a:r>
            <a:r>
              <a:rPr lang="fr" sz="1200" b="1">
                <a:solidFill>
                  <a:schemeClr val="dk1"/>
                </a:solidFill>
              </a:rPr>
              <a:t>Vidéo ou une image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des co-accompagnateurs (facultatif) (Si les co-accompagnateurs ont un déjà un profil DADUPA, ils seront tagués dans l’offre)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Ajouter des </a:t>
            </a:r>
            <a:r>
              <a:rPr lang="fr" sz="1200" b="1">
                <a:solidFill>
                  <a:schemeClr val="dk1"/>
                </a:solidFill>
              </a:rPr>
              <a:t>Tags</a:t>
            </a:r>
            <a:endParaRPr sz="1200">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b="1">
                <a:solidFill>
                  <a:schemeClr val="dk1"/>
                </a:solidFill>
              </a:rPr>
              <a:t>2- </a:t>
            </a:r>
            <a:r>
              <a:rPr lang="fr" sz="1200">
                <a:solidFill>
                  <a:schemeClr val="dk1"/>
                </a:solidFill>
              </a:rPr>
              <a:t>Statut de l’offre: </a:t>
            </a:r>
            <a:r>
              <a:rPr lang="fr" sz="1200" b="1">
                <a:solidFill>
                  <a:schemeClr val="dk1"/>
                </a:solidFill>
              </a:rPr>
              <a:t>Public / Privé (mais peut être partagé en privé)</a:t>
            </a:r>
            <a:endParaRPr sz="1200" b="1">
              <a:solidFill>
                <a:schemeClr val="dk1"/>
              </a:solidFill>
            </a:endParaRPr>
          </a:p>
          <a:p>
            <a:pPr marL="0" lvl="0" indent="0" algn="l" rtl="0">
              <a:spcBef>
                <a:spcPts val="0"/>
              </a:spcBef>
              <a:spcAft>
                <a:spcPts val="0"/>
              </a:spcAft>
              <a:buNone/>
            </a:pPr>
            <a:r>
              <a:rPr lang="fr" sz="1200" b="1">
                <a:solidFill>
                  <a:schemeClr val="dk1"/>
                </a:solidFill>
              </a:rPr>
              <a:t>3-</a:t>
            </a:r>
            <a:r>
              <a:rPr lang="fr" sz="1200">
                <a:solidFill>
                  <a:schemeClr val="dk1"/>
                </a:solidFill>
              </a:rPr>
              <a:t> Visualiser l’offre avant validation</a:t>
            </a:r>
            <a:endParaRPr sz="1200" b="1">
              <a:solidFill>
                <a:schemeClr val="dk1"/>
              </a:solidFill>
            </a:endParaRPr>
          </a:p>
          <a:p>
            <a:pPr marL="0" lvl="0" indent="0" algn="l" rtl="0">
              <a:spcBef>
                <a:spcPts val="0"/>
              </a:spcBef>
              <a:spcAft>
                <a:spcPts val="0"/>
              </a:spcAft>
              <a:buNone/>
            </a:pPr>
            <a:r>
              <a:rPr lang="fr" sz="1200" b="1">
                <a:solidFill>
                  <a:schemeClr val="dk1"/>
                </a:solidFill>
              </a:rPr>
              <a:t>4- </a:t>
            </a:r>
            <a:r>
              <a:rPr lang="fr" sz="1200">
                <a:solidFill>
                  <a:schemeClr val="dk1"/>
                </a:solidFill>
              </a:rPr>
              <a:t>Enfin, il lit les engagements, accepte les </a:t>
            </a:r>
            <a:r>
              <a:rPr lang="fr" sz="1200" b="1">
                <a:solidFill>
                  <a:schemeClr val="dk1"/>
                </a:solidFill>
              </a:rPr>
              <a:t>conditions DADUPA </a:t>
            </a:r>
            <a:r>
              <a:rPr lang="fr" sz="1200">
                <a:solidFill>
                  <a:schemeClr val="dk1"/>
                </a:solidFill>
              </a:rPr>
              <a:t>et clique sur </a:t>
            </a:r>
            <a:r>
              <a:rPr lang="fr" sz="1200" b="1">
                <a:solidFill>
                  <a:schemeClr val="dk1"/>
                </a:solidFill>
              </a:rPr>
              <a:t>TERMINER</a:t>
            </a:r>
            <a:endParaRPr sz="1200" b="1">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b="1">
                <a:solidFill>
                  <a:schemeClr val="dk1"/>
                </a:solidFill>
              </a:rPr>
              <a:t> L’internaute ne peut pas publier plus de deux offres sans l’approbation de DADUPA </a:t>
            </a:r>
            <a:endParaRPr sz="1200" b="1">
              <a:solidFill>
                <a:schemeClr val="dk1"/>
              </a:solidFill>
            </a:endParaRPr>
          </a:p>
        </p:txBody>
      </p:sp>
      <p:sp>
        <p:nvSpPr>
          <p:cNvPr id="244" name="Google Shape;244;p25"/>
          <p:cNvSpPr txBox="1">
            <a:spLocks noGrp="1"/>
          </p:cNvSpPr>
          <p:nvPr>
            <p:ph type="body" idx="4294967295"/>
          </p:nvPr>
        </p:nvSpPr>
        <p:spPr>
          <a:xfrm>
            <a:off x="533275" y="98325"/>
            <a:ext cx="7024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PUBLIER - OFFRE D’ACCOMPAGNEMENT</a:t>
            </a:r>
            <a:endParaRPr b="1">
              <a:solidFill>
                <a:srgbClr val="000000"/>
              </a:solidFill>
            </a:endParaRPr>
          </a:p>
        </p:txBody>
      </p:sp>
      <p:grpSp>
        <p:nvGrpSpPr>
          <p:cNvPr id="245" name="Google Shape;245;p25"/>
          <p:cNvGrpSpPr/>
          <p:nvPr/>
        </p:nvGrpSpPr>
        <p:grpSpPr>
          <a:xfrm>
            <a:off x="8467500" y="-18375"/>
            <a:ext cx="676500" cy="676500"/>
            <a:chOff x="8467500" y="-18375"/>
            <a:chExt cx="676500" cy="676500"/>
          </a:xfrm>
        </p:grpSpPr>
        <p:sp>
          <p:nvSpPr>
            <p:cNvPr id="246" name="Google Shape;246;p25"/>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7" name="Google Shape;247;p25"/>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48" name="Google Shape;248;p25"/>
          <p:cNvSpPr txBox="1">
            <a:spLocks noGrp="1"/>
          </p:cNvSpPr>
          <p:nvPr>
            <p:ph type="title" idx="4294967295"/>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49" name="Google Shape;249;p25"/>
          <p:cNvPicPr preferRelativeResize="0"/>
          <p:nvPr/>
        </p:nvPicPr>
        <p:blipFill>
          <a:blip r:embed="rId4">
            <a:alphaModFix/>
          </a:blip>
          <a:stretch>
            <a:fillRect/>
          </a:stretch>
        </p:blipFill>
        <p:spPr>
          <a:xfrm>
            <a:off x="109641" y="72675"/>
            <a:ext cx="494400" cy="49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EXPLORATION DES OFFRES</a:t>
            </a:r>
            <a:endParaRPr/>
          </a:p>
        </p:txBody>
      </p:sp>
      <p:grpSp>
        <p:nvGrpSpPr>
          <p:cNvPr id="255" name="Google Shape;255;p26"/>
          <p:cNvGrpSpPr/>
          <p:nvPr/>
        </p:nvGrpSpPr>
        <p:grpSpPr>
          <a:xfrm>
            <a:off x="8467500" y="-18375"/>
            <a:ext cx="676500" cy="676500"/>
            <a:chOff x="8467500" y="-18375"/>
            <a:chExt cx="676500" cy="676500"/>
          </a:xfrm>
        </p:grpSpPr>
        <p:sp>
          <p:nvSpPr>
            <p:cNvPr id="256" name="Google Shape;256;p26"/>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7" name="Google Shape;257;p26"/>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58" name="Google Shape;258;p26"/>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259" name="Google Shape;259;p26"/>
          <p:cNvSpPr txBox="1">
            <a:spLocks noGrp="1"/>
          </p:cNvSpPr>
          <p:nvPr>
            <p:ph type="title"/>
          </p:nvPr>
        </p:nvSpPr>
        <p:spPr>
          <a:xfrm>
            <a:off x="464100" y="3488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200"/>
              <a:t>Les offres postées et rendues publiques peuvent ainsi être vues par tous les internautes, connecté ou non.  Ils peuvent ainsi voir les </a:t>
            </a:r>
            <a:r>
              <a:rPr lang="fr" sz="1400" b="1"/>
              <a:t>projets Business</a:t>
            </a:r>
            <a:r>
              <a:rPr lang="fr" sz="1200"/>
              <a:t>, les </a:t>
            </a:r>
            <a:r>
              <a:rPr lang="fr" sz="1400" b="1"/>
              <a:t>offres de financement</a:t>
            </a:r>
            <a:r>
              <a:rPr lang="fr" sz="1200"/>
              <a:t> ainsi que les </a:t>
            </a:r>
            <a:r>
              <a:rPr lang="fr" sz="1400" b="1"/>
              <a:t>offres d’accompagnement</a:t>
            </a:r>
            <a:endParaRPr sz="1400" b="1"/>
          </a:p>
          <a:p>
            <a:pPr marL="0" lvl="0" indent="0" algn="ctr" rtl="0">
              <a:spcBef>
                <a:spcPts val="0"/>
              </a:spcBef>
              <a:spcAft>
                <a:spcPts val="0"/>
              </a:spcAft>
              <a:buNone/>
            </a:pPr>
            <a:endParaRPr sz="1200"/>
          </a:p>
        </p:txBody>
      </p:sp>
      <p:sp>
        <p:nvSpPr>
          <p:cNvPr id="260" name="Google Shape;260;p26"/>
          <p:cNvSpPr/>
          <p:nvPr/>
        </p:nvSpPr>
        <p:spPr>
          <a:xfrm rot="-5400000">
            <a:off x="4527450" y="2346475"/>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1" name="Google Shape;261;p26"/>
          <p:cNvPicPr preferRelativeResize="0"/>
          <p:nvPr/>
        </p:nvPicPr>
        <p:blipFill>
          <a:blip r:embed="rId4">
            <a:alphaModFix/>
          </a:blip>
          <a:stretch>
            <a:fillRect/>
          </a:stretch>
        </p:blipFill>
        <p:spPr>
          <a:xfrm>
            <a:off x="2664360" y="974278"/>
            <a:ext cx="1425000" cy="1425000"/>
          </a:xfrm>
          <a:prstGeom prst="rect">
            <a:avLst/>
          </a:prstGeom>
          <a:noFill/>
          <a:ln>
            <a:noFill/>
          </a:ln>
        </p:spPr>
      </p:pic>
      <p:pic>
        <p:nvPicPr>
          <p:cNvPr id="262" name="Google Shape;262;p26"/>
          <p:cNvPicPr preferRelativeResize="0"/>
          <p:nvPr/>
        </p:nvPicPr>
        <p:blipFill>
          <a:blip r:embed="rId5">
            <a:alphaModFix/>
          </a:blip>
          <a:stretch>
            <a:fillRect/>
          </a:stretch>
        </p:blipFill>
        <p:spPr>
          <a:xfrm>
            <a:off x="3882433" y="1222225"/>
            <a:ext cx="1013875" cy="1013875"/>
          </a:xfrm>
          <a:prstGeom prst="rect">
            <a:avLst/>
          </a:prstGeom>
          <a:noFill/>
          <a:ln>
            <a:noFill/>
          </a:ln>
        </p:spPr>
      </p:pic>
      <p:pic>
        <p:nvPicPr>
          <p:cNvPr id="263" name="Google Shape;263;p26"/>
          <p:cNvPicPr preferRelativeResize="0"/>
          <p:nvPr/>
        </p:nvPicPr>
        <p:blipFill>
          <a:blip r:embed="rId6">
            <a:alphaModFix/>
          </a:blip>
          <a:stretch>
            <a:fillRect/>
          </a:stretch>
        </p:blipFill>
        <p:spPr>
          <a:xfrm>
            <a:off x="4955638" y="967150"/>
            <a:ext cx="1524000" cy="1524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7"/>
          <p:cNvSpPr txBox="1">
            <a:spLocks noGrp="1"/>
          </p:cNvSpPr>
          <p:nvPr>
            <p:ph type="body" idx="1"/>
          </p:nvPr>
        </p:nvSpPr>
        <p:spPr>
          <a:xfrm>
            <a:off x="533275" y="98325"/>
            <a:ext cx="49929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EXPLORATION PAGE “PROJETS”</a:t>
            </a:r>
            <a:endParaRPr b="1">
              <a:solidFill>
                <a:srgbClr val="000000"/>
              </a:solidFill>
            </a:endParaRPr>
          </a:p>
        </p:txBody>
      </p:sp>
      <p:sp>
        <p:nvSpPr>
          <p:cNvPr id="269" name="Google Shape;269;p27"/>
          <p:cNvSpPr txBox="1">
            <a:spLocks noGrp="1"/>
          </p:cNvSpPr>
          <p:nvPr>
            <p:ph type="body" idx="1"/>
          </p:nvPr>
        </p:nvSpPr>
        <p:spPr>
          <a:xfrm>
            <a:off x="155400" y="719975"/>
            <a:ext cx="8833200" cy="484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Cette page détient la liste de tous les projets publiés et rendus publics. cette page est principalement conçue pour permettre aux investisseurs et accompagnateurs de trouver les projets qui les intéressent. Cette page permet également aux internautes simples de découvrir les projets.</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b="1">
                <a:solidFill>
                  <a:srgbClr val="000000"/>
                </a:solidFill>
              </a:rPr>
              <a:t>FONCTIONNALITÉS</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a:t>
            </a:r>
            <a:r>
              <a:rPr lang="fr" sz="1200" b="1">
                <a:solidFill>
                  <a:srgbClr val="000000"/>
                </a:solidFill>
              </a:rPr>
              <a:t>filtrer sa recherche</a:t>
            </a:r>
            <a:r>
              <a:rPr lang="fr" sz="1200">
                <a:solidFill>
                  <a:srgbClr val="000000"/>
                </a:solidFill>
              </a:rPr>
              <a:t> avec les choix suivants</a:t>
            </a:r>
            <a:endParaRPr sz="1200">
              <a:solidFill>
                <a:srgbClr val="000000"/>
              </a:solidFill>
            </a:endParaRPr>
          </a:p>
          <a:p>
            <a:pPr marL="914400" lvl="1" indent="-304800" algn="l" rtl="0">
              <a:spcBef>
                <a:spcPts val="0"/>
              </a:spcBef>
              <a:spcAft>
                <a:spcPts val="0"/>
              </a:spcAft>
              <a:buClr>
                <a:schemeClr val="dk1"/>
              </a:buClr>
              <a:buSzPts val="1200"/>
              <a:buChar char="○"/>
            </a:pPr>
            <a:r>
              <a:rPr lang="fr" sz="1200">
                <a:solidFill>
                  <a:schemeClr val="dk1"/>
                </a:solidFill>
              </a:rPr>
              <a:t>Etat du projet: </a:t>
            </a:r>
            <a:r>
              <a:rPr lang="fr" sz="1200" b="1">
                <a:solidFill>
                  <a:schemeClr val="dk1"/>
                </a:solidFill>
              </a:rPr>
              <a:t>( Idée / Prototype / Lancé ) </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Secteurs d’activité: </a:t>
            </a:r>
            <a:r>
              <a:rPr lang="fr" sz="1200" b="1">
                <a:solidFill>
                  <a:schemeClr val="dk1"/>
                </a:solidFill>
              </a:rPr>
              <a:t>(secteurs en Bd) (Plusieurs choix)</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Zones ciblées: </a:t>
            </a:r>
            <a:r>
              <a:rPr lang="fr" sz="1200" b="1">
                <a:solidFill>
                  <a:schemeClr val="dk1"/>
                </a:solidFill>
              </a:rPr>
              <a:t>(Lieu) (Plusieurs choix)</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Financement recherché (Aucun ou bien tranche en bd) + devise ($ par défaut)</a:t>
            </a:r>
            <a:endParaRPr sz="1200">
              <a:solidFill>
                <a:srgbClr val="000000"/>
              </a:solidFill>
            </a:endParaRPr>
          </a:p>
          <a:p>
            <a:pPr marL="457200" lvl="0" indent="-304800" algn="l" rtl="0">
              <a:spcBef>
                <a:spcPts val="0"/>
              </a:spcBef>
              <a:spcAft>
                <a:spcPts val="0"/>
              </a:spcAft>
              <a:buClr>
                <a:schemeClr val="dk1"/>
              </a:buClr>
              <a:buSzPts val="1200"/>
              <a:buChar char="●"/>
            </a:pPr>
            <a:r>
              <a:rPr lang="fr" sz="1200">
                <a:solidFill>
                  <a:schemeClr val="dk1"/>
                </a:solidFill>
              </a:rPr>
              <a:t>L’internaute peut obtenir des filtres avancés</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Cherche des mentors </a:t>
            </a:r>
            <a:r>
              <a:rPr lang="fr" sz="1200" b="1">
                <a:solidFill>
                  <a:schemeClr val="dk1"/>
                </a:solidFill>
              </a:rPr>
              <a:t>(Oui/Non)</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Cherche des associés </a:t>
            </a:r>
            <a:r>
              <a:rPr lang="fr" sz="1200" b="1">
                <a:solidFill>
                  <a:schemeClr val="dk1"/>
                </a:solidFill>
              </a:rPr>
              <a:t>(Oui/Non)</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taper lui même un mot clé pour trouver un projet </a:t>
            </a:r>
            <a:r>
              <a:rPr lang="fr" sz="1200">
                <a:solidFill>
                  <a:schemeClr val="dk1"/>
                </a:solidFill>
              </a:rPr>
              <a:t>(nom du</a:t>
            </a:r>
            <a:endParaRPr sz="1200">
              <a:solidFill>
                <a:schemeClr val="dk1"/>
              </a:solidFill>
            </a:endParaRPr>
          </a:p>
          <a:p>
            <a:pPr marL="0" lvl="0" indent="0" algn="l" rtl="0">
              <a:spcBef>
                <a:spcPts val="0"/>
              </a:spcBef>
              <a:spcAft>
                <a:spcPts val="0"/>
              </a:spcAft>
              <a:buNone/>
            </a:pPr>
            <a:r>
              <a:rPr lang="fr" sz="1200">
                <a:solidFill>
                  <a:schemeClr val="dk1"/>
                </a:solidFill>
              </a:rPr>
              <a:t>porteur de projet ou d’un co-porteur de projet)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Chaque projet présente les informations suivantes:</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L'icône et Le nom du projet</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Secteur d’activité</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Zone du projet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Financement recherché (Aucun ou bien tranche en bd) + devise ($ par défaut)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Une vidéo (avec nombre de vues) ou image d’illustration</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Le bouton </a:t>
            </a:r>
            <a:r>
              <a:rPr lang="fr" sz="1200" b="1">
                <a:solidFill>
                  <a:srgbClr val="000000"/>
                </a:solidFill>
              </a:rPr>
              <a:t>“Découvrir”</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Le bouton </a:t>
            </a:r>
            <a:r>
              <a:rPr lang="fr" sz="1200" b="1">
                <a:solidFill>
                  <a:schemeClr val="dk1"/>
                </a:solidFill>
              </a:rPr>
              <a:t>“Découvrir” ouvre la page du projet</a:t>
            </a:r>
            <a:endParaRPr sz="1200" b="1">
              <a:solidFill>
                <a:srgbClr val="000000"/>
              </a:solidFill>
            </a:endParaRPr>
          </a:p>
        </p:txBody>
      </p:sp>
      <p:sp>
        <p:nvSpPr>
          <p:cNvPr id="270" name="Google Shape;270;p27"/>
          <p:cNvSpPr/>
          <p:nvPr/>
        </p:nvSpPr>
        <p:spPr>
          <a:xfrm>
            <a:off x="5892975" y="2269825"/>
            <a:ext cx="820800" cy="524100"/>
          </a:xfrm>
          <a:prstGeom prst="roundRect">
            <a:avLst>
              <a:gd name="adj" fmla="val 16667"/>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7"/>
          <p:cNvSpPr/>
          <p:nvPr/>
        </p:nvSpPr>
        <p:spPr>
          <a:xfrm>
            <a:off x="6816600"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7"/>
          <p:cNvSpPr/>
          <p:nvPr/>
        </p:nvSpPr>
        <p:spPr>
          <a:xfrm>
            <a:off x="7740225"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7"/>
          <p:cNvSpPr/>
          <p:nvPr/>
        </p:nvSpPr>
        <p:spPr>
          <a:xfrm>
            <a:off x="589297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7"/>
          <p:cNvSpPr/>
          <p:nvPr/>
        </p:nvSpPr>
        <p:spPr>
          <a:xfrm>
            <a:off x="6816600"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7"/>
          <p:cNvSpPr/>
          <p:nvPr/>
        </p:nvSpPr>
        <p:spPr>
          <a:xfrm>
            <a:off x="774022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7"/>
          <p:cNvSpPr/>
          <p:nvPr/>
        </p:nvSpPr>
        <p:spPr>
          <a:xfrm>
            <a:off x="589297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7"/>
          <p:cNvSpPr/>
          <p:nvPr/>
        </p:nvSpPr>
        <p:spPr>
          <a:xfrm>
            <a:off x="6816600"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7"/>
          <p:cNvSpPr/>
          <p:nvPr/>
        </p:nvSpPr>
        <p:spPr>
          <a:xfrm>
            <a:off x="774022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7"/>
          <p:cNvSpPr/>
          <p:nvPr/>
        </p:nvSpPr>
        <p:spPr>
          <a:xfrm>
            <a:off x="589297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7"/>
          <p:cNvSpPr/>
          <p:nvPr/>
        </p:nvSpPr>
        <p:spPr>
          <a:xfrm>
            <a:off x="6816600"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7"/>
          <p:cNvSpPr/>
          <p:nvPr/>
        </p:nvSpPr>
        <p:spPr>
          <a:xfrm>
            <a:off x="774022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7"/>
          <p:cNvSpPr/>
          <p:nvPr/>
        </p:nvSpPr>
        <p:spPr>
          <a:xfrm>
            <a:off x="8691150" y="2541100"/>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7"/>
          <p:cNvGrpSpPr/>
          <p:nvPr/>
        </p:nvGrpSpPr>
        <p:grpSpPr>
          <a:xfrm>
            <a:off x="8467500" y="-18375"/>
            <a:ext cx="676500" cy="676500"/>
            <a:chOff x="8467500" y="-18375"/>
            <a:chExt cx="676500" cy="676500"/>
          </a:xfrm>
        </p:grpSpPr>
        <p:sp>
          <p:nvSpPr>
            <p:cNvPr id="284" name="Google Shape;284;p27"/>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5" name="Google Shape;285;p27"/>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286" name="Google Shape;286;p27"/>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287" name="Google Shape;287;p27"/>
          <p:cNvPicPr preferRelativeResize="0"/>
          <p:nvPr/>
        </p:nvPicPr>
        <p:blipFill>
          <a:blip r:embed="rId4">
            <a:alphaModFix/>
          </a:blip>
          <a:stretch>
            <a:fillRect/>
          </a:stretch>
        </p:blipFill>
        <p:spPr>
          <a:xfrm>
            <a:off x="62098" y="98327"/>
            <a:ext cx="443100" cy="443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8"/>
          <p:cNvSpPr txBox="1">
            <a:spLocks noGrp="1"/>
          </p:cNvSpPr>
          <p:nvPr>
            <p:ph type="body" idx="1"/>
          </p:nvPr>
        </p:nvSpPr>
        <p:spPr>
          <a:xfrm>
            <a:off x="533275" y="98325"/>
            <a:ext cx="48132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chemeClr val="dk1"/>
                </a:solidFill>
              </a:rPr>
              <a:t>EXPLORATION </a:t>
            </a:r>
            <a:r>
              <a:rPr lang="fr" b="1">
                <a:solidFill>
                  <a:srgbClr val="000000"/>
                </a:solidFill>
              </a:rPr>
              <a:t>PAGE “FINANCEMENTS”</a:t>
            </a:r>
            <a:endParaRPr b="1">
              <a:solidFill>
                <a:srgbClr val="000000"/>
              </a:solidFill>
            </a:endParaRPr>
          </a:p>
        </p:txBody>
      </p:sp>
      <p:sp>
        <p:nvSpPr>
          <p:cNvPr id="293" name="Google Shape;293;p28"/>
          <p:cNvSpPr txBox="1">
            <a:spLocks noGrp="1"/>
          </p:cNvSpPr>
          <p:nvPr>
            <p:ph type="body" idx="1"/>
          </p:nvPr>
        </p:nvSpPr>
        <p:spPr>
          <a:xfrm>
            <a:off x="195725" y="567575"/>
            <a:ext cx="8833200" cy="484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Cette page détient la liste de toutes les offres de financement publiées et rendues publiques. Cette page est principalement conçue pour permettre aux entrepreneurs de trouver une opportunité d’investissement. Cette page permet également aux internautes simples de découvrir les investisseurs.</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b="1">
                <a:solidFill>
                  <a:srgbClr val="000000"/>
                </a:solidFill>
              </a:rPr>
              <a:t>FONCTIONNALITÉS</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a:t>
            </a:r>
            <a:r>
              <a:rPr lang="fr" sz="1200" b="1">
                <a:solidFill>
                  <a:srgbClr val="000000"/>
                </a:solidFill>
              </a:rPr>
              <a:t>filtrer sa recherche</a:t>
            </a:r>
            <a:r>
              <a:rPr lang="fr" sz="1200">
                <a:solidFill>
                  <a:srgbClr val="000000"/>
                </a:solidFill>
              </a:rPr>
              <a:t> avec les choix suivants</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Type de fonds : </a:t>
            </a:r>
            <a:r>
              <a:rPr lang="fr" sz="1200" b="1">
                <a:solidFill>
                  <a:schemeClr val="dk1"/>
                </a:solidFill>
              </a:rPr>
              <a:t>(Gratuit / Avec prise de parts)</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Secteurs d’activité: </a:t>
            </a:r>
            <a:r>
              <a:rPr lang="fr" sz="1200" b="1">
                <a:solidFill>
                  <a:schemeClr val="dk1"/>
                </a:solidFill>
              </a:rPr>
              <a:t>(secteurs en Bd) (Plusieurs choix)</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Zones ciblées: </a:t>
            </a:r>
            <a:r>
              <a:rPr lang="fr" sz="1200" b="1">
                <a:solidFill>
                  <a:schemeClr val="dk1"/>
                </a:solidFill>
              </a:rPr>
              <a:t>(Lieu) (Plusieurs choix)</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Capacité de financement (Aucun ou bien tranche en bd) + devise ($ par défaut)</a:t>
            </a:r>
            <a:endParaRPr sz="1200">
              <a:solidFill>
                <a:srgbClr val="000000"/>
              </a:solidFill>
            </a:endParaRPr>
          </a:p>
          <a:p>
            <a:pPr marL="457200" lvl="0" indent="-304800" algn="l" rtl="0">
              <a:spcBef>
                <a:spcPts val="0"/>
              </a:spcBef>
              <a:spcAft>
                <a:spcPts val="0"/>
              </a:spcAft>
              <a:buClr>
                <a:schemeClr val="dk1"/>
              </a:buClr>
              <a:buSzPts val="1200"/>
              <a:buChar char="●"/>
            </a:pPr>
            <a:r>
              <a:rPr lang="fr" sz="1200">
                <a:solidFill>
                  <a:schemeClr val="dk1"/>
                </a:solidFill>
              </a:rPr>
              <a:t>L’internaute peut obtenir des filtres avancés</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Type de Bailleur </a:t>
            </a:r>
            <a:r>
              <a:rPr lang="fr" sz="1200" b="1">
                <a:solidFill>
                  <a:schemeClr val="dk1"/>
                </a:solidFill>
              </a:rPr>
              <a:t>(Personnel / Corporate)</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Propose des mentors </a:t>
            </a:r>
            <a:r>
              <a:rPr lang="fr" sz="1200" b="1">
                <a:solidFill>
                  <a:schemeClr val="dk1"/>
                </a:solidFill>
              </a:rPr>
              <a:t>(Oui/Non)</a:t>
            </a:r>
            <a:endParaRPr sz="1200" b="1">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Propose des associés </a:t>
            </a:r>
            <a:r>
              <a:rPr lang="fr" sz="1200" b="1">
                <a:solidFill>
                  <a:schemeClr val="dk1"/>
                </a:solidFill>
              </a:rPr>
              <a:t>(Oui/Non)</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taper lui même un mot clé pour trouver une offre: </a:t>
            </a:r>
            <a:r>
              <a:rPr lang="fr" sz="1200">
                <a:solidFill>
                  <a:schemeClr val="dk1"/>
                </a:solidFill>
              </a:rPr>
              <a:t>(nom du</a:t>
            </a:r>
            <a:endParaRPr sz="1200">
              <a:solidFill>
                <a:schemeClr val="dk1"/>
              </a:solidFill>
            </a:endParaRPr>
          </a:p>
          <a:p>
            <a:pPr marL="0" lvl="0" indent="0" algn="l" rtl="0">
              <a:spcBef>
                <a:spcPts val="0"/>
              </a:spcBef>
              <a:spcAft>
                <a:spcPts val="0"/>
              </a:spcAft>
              <a:buNone/>
            </a:pPr>
            <a:r>
              <a:rPr lang="fr" sz="1200">
                <a:solidFill>
                  <a:schemeClr val="dk1"/>
                </a:solidFill>
              </a:rPr>
              <a:t>Bailleur ou d’un co-bailleur)</a:t>
            </a:r>
            <a:endParaRPr sz="1200">
              <a:solidFill>
                <a:schemeClr val="dk1"/>
              </a:solidFill>
            </a:endParaRPr>
          </a:p>
          <a:p>
            <a:pPr marL="457200" lvl="0" indent="-304800" algn="l" rtl="0">
              <a:spcBef>
                <a:spcPts val="0"/>
              </a:spcBef>
              <a:spcAft>
                <a:spcPts val="0"/>
              </a:spcAft>
              <a:buClr>
                <a:srgbClr val="000000"/>
              </a:buClr>
              <a:buSzPts val="1200"/>
              <a:buChar char="●"/>
            </a:pPr>
            <a:r>
              <a:rPr lang="fr" sz="1200">
                <a:solidFill>
                  <a:srgbClr val="000000"/>
                </a:solidFill>
              </a:rPr>
              <a:t>Chaque offre de financement présente les informations suivantes:</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L'icône et Le nom du bailleur</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Secteur d’activité</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Zones de financement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Financement proposé (Aucun ou bien tranche en bd) + devise ($ par défaut)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Une vidéo (avec nombre de vues) ou image d’illustration</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Le bouton </a:t>
            </a:r>
            <a:r>
              <a:rPr lang="fr" sz="1200" b="1">
                <a:solidFill>
                  <a:srgbClr val="000000"/>
                </a:solidFill>
              </a:rPr>
              <a:t>“Découvrir”</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Le bouton </a:t>
            </a:r>
            <a:r>
              <a:rPr lang="fr" sz="1200" b="1">
                <a:solidFill>
                  <a:schemeClr val="dk1"/>
                </a:solidFill>
              </a:rPr>
              <a:t>“Découvrir” ouvre la page de l’offre de financement</a:t>
            </a:r>
            <a:endParaRPr sz="1200" b="1">
              <a:solidFill>
                <a:srgbClr val="000000"/>
              </a:solidFill>
            </a:endParaRPr>
          </a:p>
        </p:txBody>
      </p:sp>
      <p:sp>
        <p:nvSpPr>
          <p:cNvPr id="294" name="Google Shape;294;p28"/>
          <p:cNvSpPr/>
          <p:nvPr/>
        </p:nvSpPr>
        <p:spPr>
          <a:xfrm>
            <a:off x="5892975" y="2269825"/>
            <a:ext cx="820800" cy="524100"/>
          </a:xfrm>
          <a:prstGeom prst="roundRect">
            <a:avLst>
              <a:gd name="adj" fmla="val 16667"/>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8"/>
          <p:cNvSpPr/>
          <p:nvPr/>
        </p:nvSpPr>
        <p:spPr>
          <a:xfrm>
            <a:off x="6816600"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8"/>
          <p:cNvSpPr/>
          <p:nvPr/>
        </p:nvSpPr>
        <p:spPr>
          <a:xfrm>
            <a:off x="7740225"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8"/>
          <p:cNvSpPr/>
          <p:nvPr/>
        </p:nvSpPr>
        <p:spPr>
          <a:xfrm>
            <a:off x="589297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p:nvPr/>
        </p:nvSpPr>
        <p:spPr>
          <a:xfrm>
            <a:off x="6816600"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8"/>
          <p:cNvSpPr/>
          <p:nvPr/>
        </p:nvSpPr>
        <p:spPr>
          <a:xfrm>
            <a:off x="774022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8"/>
          <p:cNvSpPr/>
          <p:nvPr/>
        </p:nvSpPr>
        <p:spPr>
          <a:xfrm>
            <a:off x="589297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8"/>
          <p:cNvSpPr/>
          <p:nvPr/>
        </p:nvSpPr>
        <p:spPr>
          <a:xfrm>
            <a:off x="6816600"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8"/>
          <p:cNvSpPr/>
          <p:nvPr/>
        </p:nvSpPr>
        <p:spPr>
          <a:xfrm>
            <a:off x="774022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8"/>
          <p:cNvSpPr/>
          <p:nvPr/>
        </p:nvSpPr>
        <p:spPr>
          <a:xfrm>
            <a:off x="589297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a:off x="6816600"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8"/>
          <p:cNvSpPr/>
          <p:nvPr/>
        </p:nvSpPr>
        <p:spPr>
          <a:xfrm>
            <a:off x="774022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8"/>
          <p:cNvSpPr/>
          <p:nvPr/>
        </p:nvSpPr>
        <p:spPr>
          <a:xfrm>
            <a:off x="8691150" y="2541100"/>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7" name="Google Shape;307;p28"/>
          <p:cNvGrpSpPr/>
          <p:nvPr/>
        </p:nvGrpSpPr>
        <p:grpSpPr>
          <a:xfrm>
            <a:off x="8467500" y="-18375"/>
            <a:ext cx="676500" cy="676500"/>
            <a:chOff x="8467500" y="-18375"/>
            <a:chExt cx="676500" cy="676500"/>
          </a:xfrm>
        </p:grpSpPr>
        <p:sp>
          <p:nvSpPr>
            <p:cNvPr id="308" name="Google Shape;308;p28"/>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9" name="Google Shape;309;p28"/>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10" name="Google Shape;310;p28"/>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311" name="Google Shape;311;p28"/>
          <p:cNvPicPr preferRelativeResize="0"/>
          <p:nvPr/>
        </p:nvPicPr>
        <p:blipFill>
          <a:blip r:embed="rId4">
            <a:alphaModFix/>
          </a:blip>
          <a:stretch>
            <a:fillRect/>
          </a:stretch>
        </p:blipFill>
        <p:spPr>
          <a:xfrm>
            <a:off x="168005" y="137237"/>
            <a:ext cx="365275" cy="365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body" idx="1"/>
          </p:nvPr>
        </p:nvSpPr>
        <p:spPr>
          <a:xfrm>
            <a:off x="533275" y="98325"/>
            <a:ext cx="561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chemeClr val="dk1"/>
                </a:solidFill>
              </a:rPr>
              <a:t>EXPLORATION  </a:t>
            </a:r>
            <a:r>
              <a:rPr lang="fr" b="1">
                <a:solidFill>
                  <a:srgbClr val="000000"/>
                </a:solidFill>
              </a:rPr>
              <a:t>PAGE “ACCOMPAGNEMENTS”</a:t>
            </a:r>
            <a:endParaRPr b="1">
              <a:solidFill>
                <a:srgbClr val="000000"/>
              </a:solidFill>
            </a:endParaRPr>
          </a:p>
        </p:txBody>
      </p:sp>
      <p:sp>
        <p:nvSpPr>
          <p:cNvPr id="317" name="Google Shape;317;p29"/>
          <p:cNvSpPr txBox="1">
            <a:spLocks noGrp="1"/>
          </p:cNvSpPr>
          <p:nvPr>
            <p:ph type="body" idx="1"/>
          </p:nvPr>
        </p:nvSpPr>
        <p:spPr>
          <a:xfrm>
            <a:off x="195725" y="719975"/>
            <a:ext cx="8833200" cy="4848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Cette page détient la liste de toutes les offres d'accompagnement publiées et rendues publiques. Cette page est principalement conçue pour permettre aux entrepreneurs de trouver une opportunité d’accompagnement. Cette page permet également aux internautes simples de découvrir les accompagnateurs.</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b="1">
                <a:solidFill>
                  <a:srgbClr val="000000"/>
                </a:solidFill>
              </a:rPr>
              <a:t>FONCTIONNALITÉS</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a:t>
            </a:r>
            <a:r>
              <a:rPr lang="fr" sz="1200" b="1">
                <a:solidFill>
                  <a:srgbClr val="000000"/>
                </a:solidFill>
              </a:rPr>
              <a:t>filtrer sa recherche</a:t>
            </a:r>
            <a:r>
              <a:rPr lang="fr" sz="1200">
                <a:solidFill>
                  <a:srgbClr val="000000"/>
                </a:solidFill>
              </a:rPr>
              <a:t> avec les choix suivants</a:t>
            </a:r>
            <a:endParaRPr sz="1200">
              <a:solidFill>
                <a:srgbClr val="000000"/>
              </a:solidFill>
            </a:endParaRPr>
          </a:p>
          <a:p>
            <a:pPr marL="914400" lvl="1" indent="-304800" algn="l" rtl="0">
              <a:spcBef>
                <a:spcPts val="0"/>
              </a:spcBef>
              <a:spcAft>
                <a:spcPts val="0"/>
              </a:spcAft>
              <a:buClr>
                <a:schemeClr val="dk1"/>
              </a:buClr>
              <a:buSzPts val="1200"/>
              <a:buChar char="○"/>
            </a:pPr>
            <a:r>
              <a:rPr lang="fr" sz="1200">
                <a:solidFill>
                  <a:schemeClr val="dk1"/>
                </a:solidFill>
              </a:rPr>
              <a:t>Statut (Personne / Corporate)</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Type d’accompagnateur: (Offert / Payant)</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Nom de l’organisation / Siège (Lieu) / Site Web / Email / Coordonnées</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Secteurs ciblés: (secteurs en Bd) (Plusieurs choix)</a:t>
            </a:r>
            <a:endParaRPr sz="1200">
              <a:solidFill>
                <a:schemeClr val="dk1"/>
              </a:solidFill>
            </a:endParaRPr>
          </a:p>
          <a:p>
            <a:pPr marL="914400" lvl="1" indent="-304800" algn="l" rtl="0">
              <a:spcBef>
                <a:spcPts val="0"/>
              </a:spcBef>
              <a:spcAft>
                <a:spcPts val="0"/>
              </a:spcAft>
              <a:buClr>
                <a:schemeClr val="dk1"/>
              </a:buClr>
              <a:buSzPts val="1200"/>
              <a:buChar char="○"/>
            </a:pPr>
            <a:r>
              <a:rPr lang="fr" sz="1200">
                <a:solidFill>
                  <a:schemeClr val="dk1"/>
                </a:solidFill>
              </a:rPr>
              <a:t>Zones ciblées: (Lieu) (Plusieurs choix)</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L’internaute peut taper lui même un mot clé pour trouver une offre, (nom de</a:t>
            </a:r>
            <a:endParaRPr sz="1200">
              <a:solidFill>
                <a:srgbClr val="000000"/>
              </a:solidFill>
            </a:endParaRPr>
          </a:p>
          <a:p>
            <a:pPr marL="0" lvl="0" indent="0" algn="l" rtl="0">
              <a:spcBef>
                <a:spcPts val="0"/>
              </a:spcBef>
              <a:spcAft>
                <a:spcPts val="0"/>
              </a:spcAft>
              <a:buNone/>
            </a:pPr>
            <a:r>
              <a:rPr lang="fr" sz="1200">
                <a:solidFill>
                  <a:srgbClr val="000000"/>
                </a:solidFill>
              </a:rPr>
              <a:t>l’accompagnateur ou d’un co-accompagnateur)</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Chaque offre de financement présente les informations suivantes:</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L'icône et Le nom de l’accompagnateur</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Secteur d’activité</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Zones d’accompagnement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Accompagnement proposé: (Offert / Payant)</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Une vidéo (avec nombre de vues) ou image d’illustration</a:t>
            </a:r>
            <a:endParaRPr sz="1200">
              <a:solidFill>
                <a:srgbClr val="000000"/>
              </a:solidFill>
            </a:endParaRPr>
          </a:p>
          <a:p>
            <a:pPr marL="914400" lvl="1" indent="-304800" algn="l" rtl="0">
              <a:spcBef>
                <a:spcPts val="0"/>
              </a:spcBef>
              <a:spcAft>
                <a:spcPts val="0"/>
              </a:spcAft>
              <a:buClr>
                <a:srgbClr val="000000"/>
              </a:buClr>
              <a:buSzPts val="1200"/>
              <a:buChar char="○"/>
            </a:pPr>
            <a:r>
              <a:rPr lang="fr" sz="1200">
                <a:solidFill>
                  <a:srgbClr val="000000"/>
                </a:solidFill>
              </a:rPr>
              <a:t>Le bouton </a:t>
            </a:r>
            <a:r>
              <a:rPr lang="fr" sz="1200" b="1">
                <a:solidFill>
                  <a:srgbClr val="000000"/>
                </a:solidFill>
              </a:rPr>
              <a:t>“Découvrir”</a:t>
            </a:r>
            <a:endParaRPr sz="1200" b="1">
              <a:solidFill>
                <a:srgbClr val="000000"/>
              </a:solidFill>
            </a:endParaRPr>
          </a:p>
          <a:p>
            <a:pPr marL="914400" lvl="1" indent="-304800" algn="l" rtl="0">
              <a:spcBef>
                <a:spcPts val="0"/>
              </a:spcBef>
              <a:spcAft>
                <a:spcPts val="0"/>
              </a:spcAft>
              <a:buClr>
                <a:srgbClr val="000000"/>
              </a:buClr>
              <a:buSzPts val="1200"/>
              <a:buChar char="○"/>
            </a:pPr>
            <a:r>
              <a:rPr lang="fr" sz="1200">
                <a:solidFill>
                  <a:schemeClr val="dk1"/>
                </a:solidFill>
              </a:rPr>
              <a:t>Le bouton </a:t>
            </a:r>
            <a:r>
              <a:rPr lang="fr" sz="1200" b="1">
                <a:solidFill>
                  <a:schemeClr val="dk1"/>
                </a:solidFill>
              </a:rPr>
              <a:t>“Découvrir” ouvre la page de l’offre d’accompagnement</a:t>
            </a:r>
            <a:endParaRPr sz="1200" b="1">
              <a:solidFill>
                <a:srgbClr val="000000"/>
              </a:solidFill>
            </a:endParaRPr>
          </a:p>
        </p:txBody>
      </p:sp>
      <p:sp>
        <p:nvSpPr>
          <p:cNvPr id="318" name="Google Shape;318;p29"/>
          <p:cNvSpPr/>
          <p:nvPr/>
        </p:nvSpPr>
        <p:spPr>
          <a:xfrm>
            <a:off x="5892975" y="2269825"/>
            <a:ext cx="820800" cy="524100"/>
          </a:xfrm>
          <a:prstGeom prst="roundRect">
            <a:avLst>
              <a:gd name="adj" fmla="val 16667"/>
            </a:avLst>
          </a:prstGeom>
          <a:solidFill>
            <a:srgbClr val="00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9"/>
          <p:cNvSpPr/>
          <p:nvPr/>
        </p:nvSpPr>
        <p:spPr>
          <a:xfrm>
            <a:off x="6816600"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9"/>
          <p:cNvSpPr/>
          <p:nvPr/>
        </p:nvSpPr>
        <p:spPr>
          <a:xfrm>
            <a:off x="7740225" y="22698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9"/>
          <p:cNvSpPr/>
          <p:nvPr/>
        </p:nvSpPr>
        <p:spPr>
          <a:xfrm>
            <a:off x="589297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9"/>
          <p:cNvSpPr/>
          <p:nvPr/>
        </p:nvSpPr>
        <p:spPr>
          <a:xfrm>
            <a:off x="6816600"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9"/>
          <p:cNvSpPr/>
          <p:nvPr/>
        </p:nvSpPr>
        <p:spPr>
          <a:xfrm>
            <a:off x="7740225" y="28822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9"/>
          <p:cNvSpPr/>
          <p:nvPr/>
        </p:nvSpPr>
        <p:spPr>
          <a:xfrm>
            <a:off x="589297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9"/>
          <p:cNvSpPr/>
          <p:nvPr/>
        </p:nvSpPr>
        <p:spPr>
          <a:xfrm>
            <a:off x="6816600"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9"/>
          <p:cNvSpPr/>
          <p:nvPr/>
        </p:nvSpPr>
        <p:spPr>
          <a:xfrm>
            <a:off x="7740225" y="34946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9"/>
          <p:cNvSpPr/>
          <p:nvPr/>
        </p:nvSpPr>
        <p:spPr>
          <a:xfrm>
            <a:off x="589297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9"/>
          <p:cNvSpPr/>
          <p:nvPr/>
        </p:nvSpPr>
        <p:spPr>
          <a:xfrm>
            <a:off x="6816600"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9"/>
          <p:cNvSpPr/>
          <p:nvPr/>
        </p:nvSpPr>
        <p:spPr>
          <a:xfrm>
            <a:off x="7740225" y="4107025"/>
            <a:ext cx="820800" cy="5241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9"/>
          <p:cNvSpPr/>
          <p:nvPr/>
        </p:nvSpPr>
        <p:spPr>
          <a:xfrm>
            <a:off x="8691150" y="2541100"/>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1" name="Google Shape;331;p29"/>
          <p:cNvGrpSpPr/>
          <p:nvPr/>
        </p:nvGrpSpPr>
        <p:grpSpPr>
          <a:xfrm>
            <a:off x="8467500" y="-18375"/>
            <a:ext cx="676500" cy="676500"/>
            <a:chOff x="8467500" y="-18375"/>
            <a:chExt cx="676500" cy="676500"/>
          </a:xfrm>
        </p:grpSpPr>
        <p:sp>
          <p:nvSpPr>
            <p:cNvPr id="332" name="Google Shape;332;p29"/>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3" name="Google Shape;333;p29"/>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34" name="Google Shape;334;p29"/>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335" name="Google Shape;335;p29"/>
          <p:cNvPicPr preferRelativeResize="0"/>
          <p:nvPr/>
        </p:nvPicPr>
        <p:blipFill>
          <a:blip r:embed="rId4">
            <a:alphaModFix/>
          </a:blip>
          <a:stretch>
            <a:fillRect/>
          </a:stretch>
        </p:blipFill>
        <p:spPr>
          <a:xfrm>
            <a:off x="109641" y="72675"/>
            <a:ext cx="494400" cy="4944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0"/>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CONSULTATION D’UNE OFFRE</a:t>
            </a:r>
            <a:endParaRPr/>
          </a:p>
        </p:txBody>
      </p:sp>
      <p:grpSp>
        <p:nvGrpSpPr>
          <p:cNvPr id="341" name="Google Shape;341;p30"/>
          <p:cNvGrpSpPr/>
          <p:nvPr/>
        </p:nvGrpSpPr>
        <p:grpSpPr>
          <a:xfrm>
            <a:off x="8467500" y="-18375"/>
            <a:ext cx="676500" cy="676500"/>
            <a:chOff x="8467500" y="-18375"/>
            <a:chExt cx="676500" cy="676500"/>
          </a:xfrm>
        </p:grpSpPr>
        <p:sp>
          <p:nvSpPr>
            <p:cNvPr id="342" name="Google Shape;342;p30"/>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3" name="Google Shape;343;p30"/>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44" name="Google Shape;344;p30"/>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345" name="Google Shape;345;p30"/>
          <p:cNvSpPr txBox="1">
            <a:spLocks noGrp="1"/>
          </p:cNvSpPr>
          <p:nvPr>
            <p:ph type="title"/>
          </p:nvPr>
        </p:nvSpPr>
        <p:spPr>
          <a:xfrm>
            <a:off x="464100" y="3488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200"/>
              <a:t>Toute offre de </a:t>
            </a:r>
            <a:r>
              <a:rPr lang="fr" sz="1400" b="1"/>
              <a:t>projets Business</a:t>
            </a:r>
            <a:r>
              <a:rPr lang="fr" sz="1200"/>
              <a:t>,</a:t>
            </a:r>
            <a:r>
              <a:rPr lang="fr" sz="1400" b="1"/>
              <a:t> de financement</a:t>
            </a:r>
            <a:r>
              <a:rPr lang="fr" sz="1200"/>
              <a:t> ou </a:t>
            </a:r>
            <a:r>
              <a:rPr lang="fr" sz="1400" b="1"/>
              <a:t>d’accompagnement</a:t>
            </a:r>
            <a:r>
              <a:rPr lang="fr" sz="1400"/>
              <a:t>, du moment ou elle est rendue publique ou partagée par lien, peut être consultée.</a:t>
            </a:r>
            <a:endParaRPr sz="1400"/>
          </a:p>
          <a:p>
            <a:pPr marL="0" lvl="0" indent="0" algn="ctr" rtl="0">
              <a:spcBef>
                <a:spcPts val="0"/>
              </a:spcBef>
              <a:spcAft>
                <a:spcPts val="0"/>
              </a:spcAft>
              <a:buNone/>
            </a:pPr>
            <a:endParaRPr sz="1200"/>
          </a:p>
        </p:txBody>
      </p:sp>
      <p:sp>
        <p:nvSpPr>
          <p:cNvPr id="346" name="Google Shape;346;p30"/>
          <p:cNvSpPr/>
          <p:nvPr/>
        </p:nvSpPr>
        <p:spPr>
          <a:xfrm rot="-5400000">
            <a:off x="4527450" y="2346475"/>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7" name="Google Shape;347;p30"/>
          <p:cNvPicPr preferRelativeResize="0"/>
          <p:nvPr/>
        </p:nvPicPr>
        <p:blipFill>
          <a:blip r:embed="rId4">
            <a:alphaModFix/>
          </a:blip>
          <a:stretch>
            <a:fillRect/>
          </a:stretch>
        </p:blipFill>
        <p:spPr>
          <a:xfrm>
            <a:off x="2664360" y="974278"/>
            <a:ext cx="1425000" cy="1425000"/>
          </a:xfrm>
          <a:prstGeom prst="rect">
            <a:avLst/>
          </a:prstGeom>
          <a:noFill/>
          <a:ln>
            <a:noFill/>
          </a:ln>
        </p:spPr>
      </p:pic>
      <p:pic>
        <p:nvPicPr>
          <p:cNvPr id="348" name="Google Shape;348;p30"/>
          <p:cNvPicPr preferRelativeResize="0"/>
          <p:nvPr/>
        </p:nvPicPr>
        <p:blipFill>
          <a:blip r:embed="rId5">
            <a:alphaModFix/>
          </a:blip>
          <a:stretch>
            <a:fillRect/>
          </a:stretch>
        </p:blipFill>
        <p:spPr>
          <a:xfrm>
            <a:off x="3882433" y="1222225"/>
            <a:ext cx="1013875" cy="1013875"/>
          </a:xfrm>
          <a:prstGeom prst="rect">
            <a:avLst/>
          </a:prstGeom>
          <a:noFill/>
          <a:ln>
            <a:noFill/>
          </a:ln>
        </p:spPr>
      </p:pic>
      <p:pic>
        <p:nvPicPr>
          <p:cNvPr id="349" name="Google Shape;349;p30"/>
          <p:cNvPicPr preferRelativeResize="0"/>
          <p:nvPr/>
        </p:nvPicPr>
        <p:blipFill>
          <a:blip r:embed="rId6">
            <a:alphaModFix/>
          </a:blip>
          <a:stretch>
            <a:fillRect/>
          </a:stretch>
        </p:blipFill>
        <p:spPr>
          <a:xfrm>
            <a:off x="4955638" y="967150"/>
            <a:ext cx="1524000" cy="15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1"/>
          <p:cNvSpPr txBox="1">
            <a:spLocks noGrp="1"/>
          </p:cNvSpPr>
          <p:nvPr>
            <p:ph type="body" idx="1"/>
          </p:nvPr>
        </p:nvSpPr>
        <p:spPr>
          <a:xfrm>
            <a:off x="53327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PAGE “PROJETS” - PROJET</a:t>
            </a:r>
            <a:endParaRPr b="1">
              <a:solidFill>
                <a:srgbClr val="000000"/>
              </a:solidFill>
            </a:endParaRPr>
          </a:p>
        </p:txBody>
      </p:sp>
      <p:sp>
        <p:nvSpPr>
          <p:cNvPr id="355" name="Google Shape;355;p31"/>
          <p:cNvSpPr txBox="1">
            <a:spLocks noGrp="1"/>
          </p:cNvSpPr>
          <p:nvPr>
            <p:ph type="body" idx="1"/>
          </p:nvPr>
        </p:nvSpPr>
        <p:spPr>
          <a:xfrm>
            <a:off x="185825" y="866450"/>
            <a:ext cx="86733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chemeClr val="dk1"/>
                </a:solidFill>
              </a:rPr>
              <a:t>La page Projet permet d’afficher l’offre de l’entrepreneur. Elle contient les champs suivants:</a:t>
            </a:r>
            <a:endParaRPr sz="1200">
              <a:solidFill>
                <a:schemeClr val="dk1"/>
              </a:solidFill>
            </a:endParaRPr>
          </a:p>
          <a:p>
            <a:pPr marL="0" lvl="0" indent="0" algn="l" rtl="0">
              <a:spcBef>
                <a:spcPts val="0"/>
              </a:spcBef>
              <a:spcAft>
                <a:spcPts val="0"/>
              </a:spcAft>
              <a:buNone/>
            </a:pP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Nom du projet: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Etat du projet: </a:t>
            </a:r>
            <a:r>
              <a:rPr lang="fr" sz="1200" b="1">
                <a:solidFill>
                  <a:schemeClr val="dk1"/>
                </a:solidFill>
              </a:rPr>
              <a:t>( Idée / Prototype / Lancé ) </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Secteurs d’activité: </a:t>
            </a:r>
            <a:r>
              <a:rPr lang="fr" sz="1200" b="1">
                <a:solidFill>
                  <a:schemeClr val="dk1"/>
                </a:solidFill>
              </a:rPr>
              <a:t>(secteurs en Bd) (Plusieurs choix)</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Zones du projet: </a:t>
            </a:r>
            <a:r>
              <a:rPr lang="fr" sz="1200" b="1">
                <a:solidFill>
                  <a:schemeClr val="dk1"/>
                </a:solidFill>
              </a:rPr>
              <a:t>(Lieu) (Plusieurs choix)</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Financement recherché (Aucun ou bien tranche en bd) + devise ($ par défaut)</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Décrivez votre projet en bref: (Paragraphe Besoin-150 mots) (Paragraphe solution-150 mots))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cherche des mentors </a:t>
            </a:r>
            <a:r>
              <a:rPr lang="fr" sz="1200" b="1">
                <a:solidFill>
                  <a:schemeClr val="dk1"/>
                </a:solidFill>
              </a:rPr>
              <a:t>(Oui/Non)</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cherche des associés </a:t>
            </a:r>
            <a:r>
              <a:rPr lang="fr" sz="1200" b="1">
                <a:solidFill>
                  <a:schemeClr val="dk1"/>
                </a:solidFill>
              </a:rPr>
              <a:t>(Oui/Non)</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Co-porteurs du projet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b="1">
                <a:solidFill>
                  <a:schemeClr val="dk1"/>
                </a:solidFill>
              </a:rPr>
              <a:t>Vidéo (Par défaut, La vidéo est primordiale, mais à défaut une image peut être entrée)</a:t>
            </a:r>
            <a:endParaRPr sz="1200" b="1">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Tags de l’offre</a:t>
            </a:r>
            <a:endParaRPr sz="1200" b="1">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a:solidFill>
                  <a:schemeClr val="dk1"/>
                </a:solidFill>
              </a:rPr>
              <a:t>Les internautes peuvent effectuer les actions suivantes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Interagir: Commenter, aimer et partager le projet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Demander à être connecté avec le porteur de projet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Envoyer un message au porteur de projet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Enregistrer les projets intéressants</a:t>
            </a:r>
            <a:endParaRPr sz="1200">
              <a:solidFill>
                <a:schemeClr val="dk1"/>
              </a:solidFill>
            </a:endParaRPr>
          </a:p>
        </p:txBody>
      </p:sp>
      <p:sp>
        <p:nvSpPr>
          <p:cNvPr id="356" name="Google Shape;356;p31"/>
          <p:cNvSpPr/>
          <p:nvPr/>
        </p:nvSpPr>
        <p:spPr>
          <a:xfrm>
            <a:off x="6407125" y="1636350"/>
            <a:ext cx="2353200" cy="24423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7" name="Google Shape;357;p31"/>
          <p:cNvGrpSpPr/>
          <p:nvPr/>
        </p:nvGrpSpPr>
        <p:grpSpPr>
          <a:xfrm>
            <a:off x="8467500" y="-18375"/>
            <a:ext cx="676500" cy="676500"/>
            <a:chOff x="8467500" y="-18375"/>
            <a:chExt cx="676500" cy="676500"/>
          </a:xfrm>
        </p:grpSpPr>
        <p:sp>
          <p:nvSpPr>
            <p:cNvPr id="358" name="Google Shape;358;p31"/>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9" name="Google Shape;359;p31"/>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60" name="Google Shape;360;p31"/>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361" name="Google Shape;361;p31"/>
          <p:cNvPicPr preferRelativeResize="0"/>
          <p:nvPr/>
        </p:nvPicPr>
        <p:blipFill>
          <a:blip r:embed="rId4">
            <a:alphaModFix/>
          </a:blip>
          <a:stretch>
            <a:fillRect/>
          </a:stretch>
        </p:blipFill>
        <p:spPr>
          <a:xfrm>
            <a:off x="62098" y="98327"/>
            <a:ext cx="443100" cy="443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2"/>
          <p:cNvSpPr txBox="1">
            <a:spLocks noGrp="1"/>
          </p:cNvSpPr>
          <p:nvPr>
            <p:ph type="body" idx="1"/>
          </p:nvPr>
        </p:nvSpPr>
        <p:spPr>
          <a:xfrm>
            <a:off x="533275" y="98325"/>
            <a:ext cx="6150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PAGE “FINANCEMENT” - FINANCEMENT</a:t>
            </a:r>
            <a:endParaRPr b="1">
              <a:solidFill>
                <a:srgbClr val="000000"/>
              </a:solidFill>
            </a:endParaRPr>
          </a:p>
        </p:txBody>
      </p:sp>
      <p:sp>
        <p:nvSpPr>
          <p:cNvPr id="367" name="Google Shape;367;p32"/>
          <p:cNvSpPr txBox="1">
            <a:spLocks noGrp="1"/>
          </p:cNvSpPr>
          <p:nvPr>
            <p:ph type="body" idx="1"/>
          </p:nvPr>
        </p:nvSpPr>
        <p:spPr>
          <a:xfrm>
            <a:off x="185825" y="866450"/>
            <a:ext cx="86733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chemeClr val="dk1"/>
                </a:solidFill>
              </a:rPr>
              <a:t>La page financement permet d’afficher l’offre de financement. Elle contient les champs suivants:</a:t>
            </a:r>
            <a:endParaRPr sz="1200">
              <a:solidFill>
                <a:schemeClr val="dk1"/>
              </a:solidFill>
            </a:endParaRPr>
          </a:p>
          <a:p>
            <a:pPr marL="0" lvl="0" indent="0" algn="l" rtl="0">
              <a:spcBef>
                <a:spcPts val="0"/>
              </a:spcBef>
              <a:spcAft>
                <a:spcPts val="0"/>
              </a:spcAft>
              <a:buNone/>
            </a:pP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Nom du Bailleur de fonds (Personnel / Corporate)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Nom de l’organisation / Siège (Lieu) / Site Web / Email / Coordonnées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Type de fonds : (Gratuit / Avec prise de parts)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Secteurs ciblés: (secteurs en Bd) (Plusieurs choix)</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Lieux ciblés: (Lieu) (Plusieurs choix)</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Capacité de financement (Tranche en BD)</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Décrivez votre offre de financement en bref (Texte)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Propose des mentors (Oui/Non) avec lien</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Propose des associés (Oui/Non) avec lien </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Co-financeurs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Vidéo (Par défaut, La vidéo est primordiale, mais à défaut une image peut être entrée)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Tags de l’offre</a:t>
            </a:r>
            <a:endParaRPr sz="1200">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a:solidFill>
                  <a:schemeClr val="dk1"/>
                </a:solidFill>
              </a:rPr>
              <a:t>Les internautes peuvent effectuer les actions suivantes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Interagir: Commenter, aimer et partager l’offre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Demander à être connecté avec le bailleur de fonds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Envoyer un message au bailleur de fonds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Enregistrer les offres intéressantes</a:t>
            </a:r>
            <a:endParaRPr sz="1200">
              <a:solidFill>
                <a:schemeClr val="dk1"/>
              </a:solidFill>
            </a:endParaRPr>
          </a:p>
        </p:txBody>
      </p:sp>
      <p:sp>
        <p:nvSpPr>
          <p:cNvPr id="368" name="Google Shape;368;p32"/>
          <p:cNvSpPr/>
          <p:nvPr/>
        </p:nvSpPr>
        <p:spPr>
          <a:xfrm>
            <a:off x="6407125" y="1636350"/>
            <a:ext cx="2353200" cy="24423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9" name="Google Shape;369;p32"/>
          <p:cNvGrpSpPr/>
          <p:nvPr/>
        </p:nvGrpSpPr>
        <p:grpSpPr>
          <a:xfrm>
            <a:off x="8467500" y="-18375"/>
            <a:ext cx="676500" cy="676500"/>
            <a:chOff x="8467500" y="-18375"/>
            <a:chExt cx="676500" cy="676500"/>
          </a:xfrm>
        </p:grpSpPr>
        <p:sp>
          <p:nvSpPr>
            <p:cNvPr id="370" name="Google Shape;370;p32"/>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1" name="Google Shape;371;p32"/>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72" name="Google Shape;372;p32"/>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373" name="Google Shape;373;p32"/>
          <p:cNvPicPr preferRelativeResize="0"/>
          <p:nvPr/>
        </p:nvPicPr>
        <p:blipFill>
          <a:blip r:embed="rId4">
            <a:alphaModFix/>
          </a:blip>
          <a:stretch>
            <a:fillRect/>
          </a:stretch>
        </p:blipFill>
        <p:spPr>
          <a:xfrm>
            <a:off x="168005" y="137237"/>
            <a:ext cx="365275" cy="365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3"/>
          <p:cNvSpPr txBox="1">
            <a:spLocks noGrp="1"/>
          </p:cNvSpPr>
          <p:nvPr>
            <p:ph type="body" idx="1"/>
          </p:nvPr>
        </p:nvSpPr>
        <p:spPr>
          <a:xfrm>
            <a:off x="533275" y="98325"/>
            <a:ext cx="6150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PAGE “ACCOMPAGNEMENT” - ACCOMPAGNEMENT</a:t>
            </a:r>
            <a:endParaRPr b="1">
              <a:solidFill>
                <a:srgbClr val="000000"/>
              </a:solidFill>
            </a:endParaRPr>
          </a:p>
        </p:txBody>
      </p:sp>
      <p:sp>
        <p:nvSpPr>
          <p:cNvPr id="379" name="Google Shape;379;p33"/>
          <p:cNvSpPr txBox="1">
            <a:spLocks noGrp="1"/>
          </p:cNvSpPr>
          <p:nvPr>
            <p:ph type="body" idx="1"/>
          </p:nvPr>
        </p:nvSpPr>
        <p:spPr>
          <a:xfrm>
            <a:off x="185825" y="866450"/>
            <a:ext cx="86733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chemeClr val="dk1"/>
                </a:solidFill>
              </a:rPr>
              <a:t>La page accompagnement permet d’afficher l’offre d’accompagnement sélectionné. Elle contient les champs suivants:</a:t>
            </a:r>
            <a:endParaRPr sz="1200">
              <a:solidFill>
                <a:schemeClr val="dk1"/>
              </a:solidFill>
            </a:endParaRPr>
          </a:p>
          <a:p>
            <a:pPr marL="0" lvl="0" indent="0" algn="l" rtl="0">
              <a:spcBef>
                <a:spcPts val="0"/>
              </a:spcBef>
              <a:spcAft>
                <a:spcPts val="0"/>
              </a:spcAft>
              <a:buNone/>
            </a:pP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Nom de l’accompagnateur (Personnel / Corporate)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Nom de l’organisation / Siège (Lieu) / Site Web / Email / Coordonnées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Type d’accompagnement: (Offert / Payant)</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Secteurs ciblés: (secteurs en Bd) (Plusieurs choix)</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Zones ciblées: (Lieu) (Plusieurs choix)</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Description en bref (Texte)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Vidéo (Par défaut, La vidéo est primordiale, mais à défaut une image peut être entrée)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Co-accompagnateurs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Deadline de l’offre (facultatif)</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Tags de l’offre</a:t>
            </a:r>
            <a:endParaRPr sz="1200">
              <a:solidFill>
                <a:schemeClr val="dk1"/>
              </a:solidFill>
            </a:endParaRPr>
          </a:p>
          <a:p>
            <a:pPr marL="0" lvl="0" indent="0" algn="l" rtl="0">
              <a:spcBef>
                <a:spcPts val="0"/>
              </a:spcBef>
              <a:spcAft>
                <a:spcPts val="0"/>
              </a:spcAft>
              <a:buNone/>
            </a:pPr>
            <a:endParaRPr sz="1200" b="1">
              <a:solidFill>
                <a:schemeClr val="dk1"/>
              </a:solidFill>
            </a:endParaRPr>
          </a:p>
          <a:p>
            <a:pPr marL="0" lvl="0" indent="0" algn="l" rtl="0">
              <a:spcBef>
                <a:spcPts val="0"/>
              </a:spcBef>
              <a:spcAft>
                <a:spcPts val="0"/>
              </a:spcAft>
              <a:buNone/>
            </a:pPr>
            <a:r>
              <a:rPr lang="fr" sz="1200">
                <a:solidFill>
                  <a:schemeClr val="dk1"/>
                </a:solidFill>
              </a:rPr>
              <a:t>Les internautes peuvent effectuer les actions suivantes</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Interagir: Commenter, aimer et partager l’offre</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Demander à être connecté avec l’accompagnateur</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Envoyer un message à l’accompagnateur</a:t>
            </a:r>
            <a:endParaRPr sz="1200">
              <a:solidFill>
                <a:schemeClr val="dk1"/>
              </a:solidFill>
            </a:endParaRPr>
          </a:p>
          <a:p>
            <a:pPr marL="457200" lvl="0" indent="-304800" algn="l" rtl="0">
              <a:spcBef>
                <a:spcPts val="0"/>
              </a:spcBef>
              <a:spcAft>
                <a:spcPts val="0"/>
              </a:spcAft>
              <a:buClr>
                <a:schemeClr val="dk1"/>
              </a:buClr>
              <a:buSzPts val="1200"/>
              <a:buChar char="●"/>
            </a:pPr>
            <a:r>
              <a:rPr lang="fr" sz="1200">
                <a:solidFill>
                  <a:schemeClr val="dk1"/>
                </a:solidFill>
              </a:rPr>
              <a:t>Enregistrer les offres intéressantes</a:t>
            </a:r>
            <a:endParaRPr sz="1200">
              <a:solidFill>
                <a:schemeClr val="dk1"/>
              </a:solidFill>
            </a:endParaRPr>
          </a:p>
        </p:txBody>
      </p:sp>
      <p:sp>
        <p:nvSpPr>
          <p:cNvPr id="380" name="Google Shape;380;p33"/>
          <p:cNvSpPr/>
          <p:nvPr/>
        </p:nvSpPr>
        <p:spPr>
          <a:xfrm>
            <a:off x="6407125" y="1636350"/>
            <a:ext cx="2353200" cy="2442300"/>
          </a:xfrm>
          <a:prstGeom prst="roundRect">
            <a:avLst>
              <a:gd name="adj" fmla="val 16667"/>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 name="Google Shape;381;p33"/>
          <p:cNvGrpSpPr/>
          <p:nvPr/>
        </p:nvGrpSpPr>
        <p:grpSpPr>
          <a:xfrm>
            <a:off x="8467500" y="-18375"/>
            <a:ext cx="676500" cy="676500"/>
            <a:chOff x="8467500" y="-18375"/>
            <a:chExt cx="676500" cy="676500"/>
          </a:xfrm>
        </p:grpSpPr>
        <p:sp>
          <p:nvSpPr>
            <p:cNvPr id="382" name="Google Shape;382;p33"/>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3" name="Google Shape;383;p33"/>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84" name="Google Shape;384;p33"/>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pic>
        <p:nvPicPr>
          <p:cNvPr id="385" name="Google Shape;385;p33"/>
          <p:cNvPicPr preferRelativeResize="0"/>
          <p:nvPr/>
        </p:nvPicPr>
        <p:blipFill>
          <a:blip r:embed="rId4">
            <a:alphaModFix/>
          </a:blip>
          <a:stretch>
            <a:fillRect/>
          </a:stretch>
        </p:blipFill>
        <p:spPr>
          <a:xfrm>
            <a:off x="109641" y="72675"/>
            <a:ext cx="494400" cy="494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4"/>
          <p:cNvSpPr txBox="1">
            <a:spLocks noGrp="1"/>
          </p:cNvSpPr>
          <p:nvPr>
            <p:ph type="title"/>
          </p:nvPr>
        </p:nvSpPr>
        <p:spPr>
          <a:xfrm>
            <a:off x="311700" y="2389833"/>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AUTRES</a:t>
            </a:r>
            <a:endParaRPr/>
          </a:p>
        </p:txBody>
      </p:sp>
      <p:grpSp>
        <p:nvGrpSpPr>
          <p:cNvPr id="391" name="Google Shape;391;p34"/>
          <p:cNvGrpSpPr/>
          <p:nvPr/>
        </p:nvGrpSpPr>
        <p:grpSpPr>
          <a:xfrm>
            <a:off x="8467500" y="-18375"/>
            <a:ext cx="676500" cy="676500"/>
            <a:chOff x="8467500" y="-18375"/>
            <a:chExt cx="676500" cy="676500"/>
          </a:xfrm>
        </p:grpSpPr>
        <p:sp>
          <p:nvSpPr>
            <p:cNvPr id="392" name="Google Shape;392;p34"/>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3" name="Google Shape;393;p34"/>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394" name="Google Shape;394;p34"/>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
        <p:nvSpPr>
          <p:cNvPr id="395" name="Google Shape;395;p34"/>
          <p:cNvSpPr txBox="1">
            <a:spLocks noGrp="1"/>
          </p:cNvSpPr>
          <p:nvPr>
            <p:ph type="title"/>
          </p:nvPr>
        </p:nvSpPr>
        <p:spPr>
          <a:xfrm>
            <a:off x="464100" y="3488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sz="1200"/>
              <a:t>En plus de consulter les offres, les internautes peuvent également visiter le profil des inscrits sur la plateforme DADUPA</a:t>
            </a:r>
            <a:endParaRPr sz="1200"/>
          </a:p>
        </p:txBody>
      </p:sp>
      <p:sp>
        <p:nvSpPr>
          <p:cNvPr id="396" name="Google Shape;396;p34"/>
          <p:cNvSpPr/>
          <p:nvPr/>
        </p:nvSpPr>
        <p:spPr>
          <a:xfrm rot="-5400000">
            <a:off x="4527450" y="2346475"/>
            <a:ext cx="89100" cy="20466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7" name="Google Shape;397;p34"/>
          <p:cNvPicPr preferRelativeResize="0"/>
          <p:nvPr/>
        </p:nvPicPr>
        <p:blipFill>
          <a:blip r:embed="rId4">
            <a:alphaModFix/>
          </a:blip>
          <a:stretch>
            <a:fillRect/>
          </a:stretch>
        </p:blipFill>
        <p:spPr>
          <a:xfrm>
            <a:off x="3866846" y="1101078"/>
            <a:ext cx="1410300" cy="1410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5"/>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FIL D’ACTUALITÉ</a:t>
            </a:r>
            <a:endParaRPr b="1">
              <a:solidFill>
                <a:srgbClr val="000000"/>
              </a:solidFill>
            </a:endParaRPr>
          </a:p>
        </p:txBody>
      </p:sp>
      <p:sp>
        <p:nvSpPr>
          <p:cNvPr id="403" name="Google Shape;403;p35"/>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rgbClr val="000000"/>
              </a:buClr>
              <a:buSzPts val="1200"/>
              <a:buChar char="●"/>
            </a:pPr>
            <a:endParaRPr sz="1200">
              <a:solidFill>
                <a:srgbClr val="000000"/>
              </a:solidFill>
            </a:endParaRPr>
          </a:p>
        </p:txBody>
      </p:sp>
      <p:grpSp>
        <p:nvGrpSpPr>
          <p:cNvPr id="404" name="Google Shape;404;p35"/>
          <p:cNvGrpSpPr/>
          <p:nvPr/>
        </p:nvGrpSpPr>
        <p:grpSpPr>
          <a:xfrm>
            <a:off x="8467500" y="-18375"/>
            <a:ext cx="676500" cy="676500"/>
            <a:chOff x="8467500" y="-18375"/>
            <a:chExt cx="676500" cy="676500"/>
          </a:xfrm>
        </p:grpSpPr>
        <p:sp>
          <p:nvSpPr>
            <p:cNvPr id="405" name="Google Shape;405;p35"/>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6" name="Google Shape;406;p35"/>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07" name="Google Shape;407;p35"/>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6"/>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PROFIL </a:t>
            </a:r>
            <a:endParaRPr b="1">
              <a:solidFill>
                <a:srgbClr val="000000"/>
              </a:solidFill>
            </a:endParaRPr>
          </a:p>
        </p:txBody>
      </p:sp>
      <p:sp>
        <p:nvSpPr>
          <p:cNvPr id="413" name="Google Shape;413;p36"/>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Le profil est configuré en général de la même manière pour tous les utilisateurs. Ses fonctionnalités sont les suivantes:</a:t>
            </a:r>
            <a:endParaRPr sz="1200">
              <a:solidFill>
                <a:srgbClr val="000000"/>
              </a:solidFill>
            </a:endParaRPr>
          </a:p>
          <a:p>
            <a:pPr marL="0" lvl="0" indent="0" algn="l" rtl="0">
              <a:spcBef>
                <a:spcPts val="0"/>
              </a:spcBef>
              <a:spcAft>
                <a:spcPts val="0"/>
              </a:spcAft>
              <a:buNone/>
            </a:pP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profil</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couverture</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Icône illustrant le </a:t>
            </a:r>
            <a:r>
              <a:rPr lang="fr" sz="1200" b="1">
                <a:solidFill>
                  <a:srgbClr val="000000"/>
                </a:solidFill>
              </a:rPr>
              <a:t>statut “Entrepreneur / Bailleur de fonds / Accompagnateur) </a:t>
            </a:r>
            <a:r>
              <a:rPr lang="fr" sz="1200">
                <a:solidFill>
                  <a:srgbClr val="000000"/>
                </a:solidFill>
              </a:rPr>
              <a:t>(L’utilisateur peut avoir les 3 icônes)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Informations sur le profil (</a:t>
            </a:r>
            <a:r>
              <a:rPr lang="fr" sz="1200" b="1">
                <a:solidFill>
                  <a:srgbClr val="000000"/>
                </a:solidFill>
              </a:rPr>
              <a:t> Nom, secteur d’activité, Lieu de résidence</a:t>
            </a:r>
            <a:r>
              <a:rPr lang="fr" sz="1200">
                <a:solidFill>
                  <a:srgbClr val="000000"/>
                </a:solidFill>
              </a:rPr>
              <a: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Bio (Description brève du profil) </a:t>
            </a:r>
            <a:endParaRPr sz="1200" b="1">
              <a:solidFill>
                <a:srgbClr val="000000"/>
              </a:solidFill>
            </a:endParaRPr>
          </a:p>
          <a:p>
            <a:pPr marL="0" lvl="0" indent="0" algn="l" rtl="0">
              <a:spcBef>
                <a:spcPts val="0"/>
              </a:spcBef>
              <a:spcAft>
                <a:spcPts val="0"/>
              </a:spcAft>
              <a:buNone/>
            </a:pPr>
            <a:endParaRPr sz="1200" b="1">
              <a:solidFill>
                <a:srgbClr val="000000"/>
              </a:solidFill>
            </a:endParaRPr>
          </a:p>
          <a:p>
            <a:pPr marL="0" lvl="0" indent="0" algn="l" rtl="0">
              <a:spcBef>
                <a:spcPts val="0"/>
              </a:spcBef>
              <a:spcAft>
                <a:spcPts val="0"/>
              </a:spcAft>
              <a:buNone/>
            </a:pPr>
            <a:r>
              <a:rPr lang="fr" sz="1200" b="1">
                <a:solidFill>
                  <a:srgbClr val="000000"/>
                </a:solidFill>
              </a:rPr>
              <a:t>Des boutons permettant l’accès aux rubriques suivantes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Offres</a:t>
            </a:r>
            <a:r>
              <a:rPr lang="fr" sz="1200">
                <a:solidFill>
                  <a:srgbClr val="000000"/>
                </a:solidFill>
              </a:rPr>
              <a:t> (Rubrique des offres de projets, financement ou accompagnement)</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Publications </a:t>
            </a:r>
            <a:r>
              <a:rPr lang="fr" sz="1200">
                <a:solidFill>
                  <a:srgbClr val="000000"/>
                </a:solidFill>
              </a:rPr>
              <a:t>(Posts de l’utilisateur - Images, vidéos, articles)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Réseaux </a:t>
            </a:r>
            <a:r>
              <a:rPr lang="fr" sz="1200">
                <a:solidFill>
                  <a:srgbClr val="000000"/>
                </a:solidFill>
              </a:rPr>
              <a:t>(Voir la liste d'amis)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Discuter</a:t>
            </a:r>
            <a:r>
              <a:rPr lang="fr" sz="1200">
                <a:solidFill>
                  <a:srgbClr val="000000"/>
                </a:solidFill>
              </a:rPr>
              <a:t> (Envoyer message)</a:t>
            </a:r>
            <a:endParaRPr sz="1200">
              <a:solidFill>
                <a:srgbClr val="000000"/>
              </a:solidFill>
            </a:endParaRPr>
          </a:p>
        </p:txBody>
      </p:sp>
      <p:grpSp>
        <p:nvGrpSpPr>
          <p:cNvPr id="414" name="Google Shape;414;p36"/>
          <p:cNvGrpSpPr/>
          <p:nvPr/>
        </p:nvGrpSpPr>
        <p:grpSpPr>
          <a:xfrm>
            <a:off x="8467500" y="-18375"/>
            <a:ext cx="676500" cy="676500"/>
            <a:chOff x="8467500" y="-18375"/>
            <a:chExt cx="676500" cy="676500"/>
          </a:xfrm>
        </p:grpSpPr>
        <p:sp>
          <p:nvSpPr>
            <p:cNvPr id="415" name="Google Shape;415;p36"/>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6" name="Google Shape;416;p36"/>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17" name="Google Shape;417;p36"/>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7"/>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SETTINGS - ACCUEIL</a:t>
            </a:r>
            <a:endParaRPr b="1">
              <a:solidFill>
                <a:srgbClr val="000000"/>
              </a:solidFill>
            </a:endParaRPr>
          </a:p>
        </p:txBody>
      </p:sp>
      <p:sp>
        <p:nvSpPr>
          <p:cNvPr id="423" name="Google Shape;423;p37"/>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rgbClr val="000000"/>
              </a:buClr>
              <a:buSzPts val="1200"/>
              <a:buChar char="●"/>
            </a:pPr>
            <a:r>
              <a:rPr lang="fr" sz="1200" b="1">
                <a:solidFill>
                  <a:srgbClr val="000000"/>
                </a:solidFill>
              </a:rPr>
              <a:t>À FAIRE</a:t>
            </a:r>
            <a:endParaRPr sz="1200" b="1">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*Ajouter tous les settings (Mes connexions (amis) + Aide et assistance + Langue + Gestion d’équipe + Créer un article)</a:t>
            </a:r>
            <a:endParaRPr sz="1200" b="1">
              <a:solidFill>
                <a:srgbClr val="000000"/>
              </a:solidFill>
            </a:endParaRPr>
          </a:p>
        </p:txBody>
      </p:sp>
      <p:grpSp>
        <p:nvGrpSpPr>
          <p:cNvPr id="424" name="Google Shape;424;p37"/>
          <p:cNvGrpSpPr/>
          <p:nvPr/>
        </p:nvGrpSpPr>
        <p:grpSpPr>
          <a:xfrm>
            <a:off x="8467500" y="-18375"/>
            <a:ext cx="676500" cy="676500"/>
            <a:chOff x="8467500" y="-18375"/>
            <a:chExt cx="676500" cy="676500"/>
          </a:xfrm>
        </p:grpSpPr>
        <p:sp>
          <p:nvSpPr>
            <p:cNvPr id="425" name="Google Shape;425;p37"/>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6" name="Google Shape;426;p37"/>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27" name="Google Shape;427;p37"/>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8"/>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SETTINGS - MODIFIER PROJET</a:t>
            </a:r>
            <a:endParaRPr b="1">
              <a:solidFill>
                <a:srgbClr val="000000"/>
              </a:solidFill>
            </a:endParaRPr>
          </a:p>
        </p:txBody>
      </p:sp>
      <p:sp>
        <p:nvSpPr>
          <p:cNvPr id="433" name="Google Shape;433;p38"/>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Le profil est configuré en général de la même manière pour tous les utilisateurs. Ses fonctionnalités sont les suivantes:</a:t>
            </a:r>
            <a:endParaRPr sz="1200">
              <a:solidFill>
                <a:srgbClr val="000000"/>
              </a:solidFill>
            </a:endParaRPr>
          </a:p>
          <a:p>
            <a:pPr marL="0" lvl="0" indent="0" algn="l" rtl="0">
              <a:spcBef>
                <a:spcPts val="0"/>
              </a:spcBef>
              <a:spcAft>
                <a:spcPts val="0"/>
              </a:spcAft>
              <a:buNone/>
            </a:pP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profil</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couverture</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Icône illustrant le </a:t>
            </a:r>
            <a:r>
              <a:rPr lang="fr" sz="1200" b="1">
                <a:solidFill>
                  <a:srgbClr val="000000"/>
                </a:solidFill>
              </a:rPr>
              <a:t>statut “Entrepreneur / Bailleur de fonds / Accompagnateur) </a:t>
            </a:r>
            <a:r>
              <a:rPr lang="fr" sz="1200">
                <a:solidFill>
                  <a:srgbClr val="000000"/>
                </a:solidFill>
              </a:rPr>
              <a:t>(L’utilisateur peut avoir les 3 icônes)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Informations sur le profil (</a:t>
            </a:r>
            <a:r>
              <a:rPr lang="fr" sz="1200" b="1">
                <a:solidFill>
                  <a:srgbClr val="000000"/>
                </a:solidFill>
              </a:rPr>
              <a:t> Nom, secteur d’activité, Lieu de résidence</a:t>
            </a:r>
            <a:r>
              <a:rPr lang="fr" sz="1200">
                <a:solidFill>
                  <a:srgbClr val="000000"/>
                </a:solidFill>
              </a:rPr>
              <a: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Bio (Description brève du profil) </a:t>
            </a:r>
            <a:endParaRPr sz="1200" b="1">
              <a:solidFill>
                <a:srgbClr val="000000"/>
              </a:solidFill>
            </a:endParaRPr>
          </a:p>
          <a:p>
            <a:pPr marL="0" lvl="0" indent="0" algn="l" rtl="0">
              <a:spcBef>
                <a:spcPts val="0"/>
              </a:spcBef>
              <a:spcAft>
                <a:spcPts val="0"/>
              </a:spcAft>
              <a:buNone/>
            </a:pPr>
            <a:endParaRPr sz="1200" b="1">
              <a:solidFill>
                <a:srgbClr val="000000"/>
              </a:solidFill>
            </a:endParaRPr>
          </a:p>
          <a:p>
            <a:pPr marL="0" lvl="0" indent="0" algn="l" rtl="0">
              <a:spcBef>
                <a:spcPts val="0"/>
              </a:spcBef>
              <a:spcAft>
                <a:spcPts val="0"/>
              </a:spcAft>
              <a:buNone/>
            </a:pPr>
            <a:r>
              <a:rPr lang="fr" sz="1200" b="1">
                <a:solidFill>
                  <a:srgbClr val="000000"/>
                </a:solidFill>
              </a:rPr>
              <a:t>Des boutons permettant l’accès aux rubriques suivantes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Offres</a:t>
            </a:r>
            <a:r>
              <a:rPr lang="fr" sz="1200">
                <a:solidFill>
                  <a:srgbClr val="000000"/>
                </a:solidFill>
              </a:rPr>
              <a:t> (Rubrique des offres de projets, financement ou accompagnement)</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Publications </a:t>
            </a:r>
            <a:r>
              <a:rPr lang="fr" sz="1200">
                <a:solidFill>
                  <a:srgbClr val="000000"/>
                </a:solidFill>
              </a:rPr>
              <a:t>(Posts de l’utilisateur - Images, vidéos, articles)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Réseaux </a:t>
            </a:r>
            <a:r>
              <a:rPr lang="fr" sz="1200">
                <a:solidFill>
                  <a:srgbClr val="000000"/>
                </a:solidFill>
              </a:rPr>
              <a:t>(Voir la liste d'amis)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Discuter</a:t>
            </a:r>
            <a:r>
              <a:rPr lang="fr" sz="1200">
                <a:solidFill>
                  <a:srgbClr val="000000"/>
                </a:solidFill>
              </a:rPr>
              <a:t> (Envoyer message)</a:t>
            </a:r>
            <a:endParaRPr sz="1200">
              <a:solidFill>
                <a:srgbClr val="000000"/>
              </a:solidFill>
            </a:endParaRPr>
          </a:p>
        </p:txBody>
      </p:sp>
      <p:grpSp>
        <p:nvGrpSpPr>
          <p:cNvPr id="434" name="Google Shape;434;p38"/>
          <p:cNvGrpSpPr/>
          <p:nvPr/>
        </p:nvGrpSpPr>
        <p:grpSpPr>
          <a:xfrm>
            <a:off x="8467500" y="-18375"/>
            <a:ext cx="676500" cy="676500"/>
            <a:chOff x="8467500" y="-18375"/>
            <a:chExt cx="676500" cy="676500"/>
          </a:xfrm>
        </p:grpSpPr>
        <p:sp>
          <p:nvSpPr>
            <p:cNvPr id="435" name="Google Shape;435;p38"/>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6" name="Google Shape;436;p38"/>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37" name="Google Shape;437;p38"/>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9"/>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PAGE CHAT + FENÊTRE</a:t>
            </a:r>
            <a:endParaRPr b="1">
              <a:solidFill>
                <a:srgbClr val="000000"/>
              </a:solidFill>
            </a:endParaRPr>
          </a:p>
        </p:txBody>
      </p:sp>
      <p:sp>
        <p:nvSpPr>
          <p:cNvPr id="443" name="Google Shape;443;p39"/>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a:solidFill>
                  <a:srgbClr val="000000"/>
                </a:solidFill>
              </a:rPr>
              <a:t>Le profil est configuré en général de la même manière pour tous les utilisateurs. Ses fonctionnalités sont les suivantes:</a:t>
            </a:r>
            <a:endParaRPr sz="1200">
              <a:solidFill>
                <a:srgbClr val="000000"/>
              </a:solidFill>
            </a:endParaRPr>
          </a:p>
          <a:p>
            <a:pPr marL="0" lvl="0" indent="0" algn="l" rtl="0">
              <a:spcBef>
                <a:spcPts val="0"/>
              </a:spcBef>
              <a:spcAft>
                <a:spcPts val="0"/>
              </a:spcAft>
              <a:buNone/>
            </a:pPr>
            <a:endParaRPr sz="1200" b="1">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profil</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Image de couverture</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Icône illustrant le </a:t>
            </a:r>
            <a:r>
              <a:rPr lang="fr" sz="1200" b="1">
                <a:solidFill>
                  <a:srgbClr val="000000"/>
                </a:solidFill>
              </a:rPr>
              <a:t>statut “Entrepreneur / Bailleur de fonds / Accompagnateur) </a:t>
            </a:r>
            <a:r>
              <a:rPr lang="fr" sz="1200">
                <a:solidFill>
                  <a:srgbClr val="000000"/>
                </a:solidFill>
              </a:rPr>
              <a:t>(L’utilisateur peut avoir les 3 icônes)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Informations sur le profil (</a:t>
            </a:r>
            <a:r>
              <a:rPr lang="fr" sz="1200" b="1">
                <a:solidFill>
                  <a:srgbClr val="000000"/>
                </a:solidFill>
              </a:rPr>
              <a:t> Nom, secteur d’activité, Lieu de résidence</a:t>
            </a:r>
            <a:r>
              <a:rPr lang="fr" sz="1200">
                <a:solidFill>
                  <a:srgbClr val="000000"/>
                </a:solidFill>
              </a:rPr>
              <a:t>)</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Bio (Description brève du profil) </a:t>
            </a:r>
            <a:endParaRPr sz="1200" b="1">
              <a:solidFill>
                <a:srgbClr val="000000"/>
              </a:solidFill>
            </a:endParaRPr>
          </a:p>
          <a:p>
            <a:pPr marL="0" lvl="0" indent="0" algn="l" rtl="0">
              <a:spcBef>
                <a:spcPts val="0"/>
              </a:spcBef>
              <a:spcAft>
                <a:spcPts val="0"/>
              </a:spcAft>
              <a:buNone/>
            </a:pPr>
            <a:endParaRPr sz="1200" b="1">
              <a:solidFill>
                <a:srgbClr val="000000"/>
              </a:solidFill>
            </a:endParaRPr>
          </a:p>
          <a:p>
            <a:pPr marL="0" lvl="0" indent="0" algn="l" rtl="0">
              <a:spcBef>
                <a:spcPts val="0"/>
              </a:spcBef>
              <a:spcAft>
                <a:spcPts val="0"/>
              </a:spcAft>
              <a:buNone/>
            </a:pPr>
            <a:r>
              <a:rPr lang="fr" sz="1200" b="1">
                <a:solidFill>
                  <a:srgbClr val="000000"/>
                </a:solidFill>
              </a:rPr>
              <a:t>Des boutons permettant l’accès aux rubriques suivantes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Offres</a:t>
            </a:r>
            <a:r>
              <a:rPr lang="fr" sz="1200">
                <a:solidFill>
                  <a:srgbClr val="000000"/>
                </a:solidFill>
              </a:rPr>
              <a:t> (Rubrique des offres de projets, financement ou accompagnement)</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Publications </a:t>
            </a:r>
            <a:r>
              <a:rPr lang="fr" sz="1200">
                <a:solidFill>
                  <a:srgbClr val="000000"/>
                </a:solidFill>
              </a:rPr>
              <a:t>(Posts de l’utilisateur - Images, vidéos, articles)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Réseaux </a:t>
            </a:r>
            <a:r>
              <a:rPr lang="fr" sz="1200">
                <a:solidFill>
                  <a:srgbClr val="000000"/>
                </a:solidFill>
              </a:rPr>
              <a:t>(Voir la liste d'amis)</a:t>
            </a:r>
            <a:endParaRPr sz="1200">
              <a:solidFill>
                <a:srgbClr val="000000"/>
              </a:solidFill>
            </a:endParaRPr>
          </a:p>
          <a:p>
            <a:pPr marL="457200" lvl="0" indent="-304800" algn="l" rtl="0">
              <a:spcBef>
                <a:spcPts val="0"/>
              </a:spcBef>
              <a:spcAft>
                <a:spcPts val="0"/>
              </a:spcAft>
              <a:buClr>
                <a:srgbClr val="000000"/>
              </a:buClr>
              <a:buSzPts val="1200"/>
              <a:buChar char="●"/>
            </a:pPr>
            <a:r>
              <a:rPr lang="fr" sz="1200" b="1">
                <a:solidFill>
                  <a:srgbClr val="000000"/>
                </a:solidFill>
              </a:rPr>
              <a:t>Discuter</a:t>
            </a:r>
            <a:r>
              <a:rPr lang="fr" sz="1200">
                <a:solidFill>
                  <a:srgbClr val="000000"/>
                </a:solidFill>
              </a:rPr>
              <a:t> (Envoyer message)</a:t>
            </a:r>
            <a:endParaRPr sz="1200">
              <a:solidFill>
                <a:srgbClr val="000000"/>
              </a:solidFill>
            </a:endParaRPr>
          </a:p>
        </p:txBody>
      </p:sp>
      <p:grpSp>
        <p:nvGrpSpPr>
          <p:cNvPr id="444" name="Google Shape;444;p39"/>
          <p:cNvGrpSpPr/>
          <p:nvPr/>
        </p:nvGrpSpPr>
        <p:grpSpPr>
          <a:xfrm>
            <a:off x="8467500" y="-18375"/>
            <a:ext cx="676500" cy="676500"/>
            <a:chOff x="8467500" y="-18375"/>
            <a:chExt cx="676500" cy="676500"/>
          </a:xfrm>
        </p:grpSpPr>
        <p:sp>
          <p:nvSpPr>
            <p:cNvPr id="445" name="Google Shape;445;p39"/>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6" name="Google Shape;446;p39"/>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47" name="Google Shape;447;p39"/>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40"/>
          <p:cNvSpPr txBox="1">
            <a:spLocks noGrp="1"/>
          </p:cNvSpPr>
          <p:nvPr>
            <p:ph type="body" idx="1"/>
          </p:nvPr>
        </p:nvSpPr>
        <p:spPr>
          <a:xfrm>
            <a:off x="-125" y="98325"/>
            <a:ext cx="37263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COLONNE - DROITE </a:t>
            </a:r>
            <a:endParaRPr b="1">
              <a:solidFill>
                <a:srgbClr val="000000"/>
              </a:solidFill>
            </a:endParaRPr>
          </a:p>
        </p:txBody>
      </p:sp>
      <p:sp>
        <p:nvSpPr>
          <p:cNvPr id="453" name="Google Shape;453;p40"/>
          <p:cNvSpPr txBox="1">
            <a:spLocks noGrp="1"/>
          </p:cNvSpPr>
          <p:nvPr>
            <p:ph type="body" idx="1"/>
          </p:nvPr>
        </p:nvSpPr>
        <p:spPr>
          <a:xfrm>
            <a:off x="185825" y="866450"/>
            <a:ext cx="8416200" cy="447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sz="1200" b="1">
                <a:solidFill>
                  <a:srgbClr val="000000"/>
                </a:solidFill>
              </a:rPr>
              <a:t>CÔTÉ DROIT: Barre fixe</a:t>
            </a:r>
            <a:endParaRPr sz="1200">
              <a:solidFill>
                <a:srgbClr val="000000"/>
              </a:solidFill>
            </a:endParaRPr>
          </a:p>
          <a:p>
            <a:pPr marL="0" lvl="0" indent="0" algn="l" rtl="0">
              <a:spcBef>
                <a:spcPts val="0"/>
              </a:spcBef>
              <a:spcAft>
                <a:spcPts val="0"/>
              </a:spcAft>
              <a:buNone/>
            </a:pP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Suggestion de contacts ( Porteurs de projets, investisseurs ou accompagnateurs)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Rubriques Conseils de DADUPA CONNECT et contenus publiés par les consultants</a:t>
            </a:r>
            <a:endParaRPr sz="1200">
              <a:solidFill>
                <a:srgbClr val="000000"/>
              </a:solidFill>
            </a:endParaRPr>
          </a:p>
          <a:p>
            <a:pPr marL="457200" lvl="0" indent="-304800" algn="l" rtl="0">
              <a:spcBef>
                <a:spcPts val="0"/>
              </a:spcBef>
              <a:spcAft>
                <a:spcPts val="0"/>
              </a:spcAft>
              <a:buClr>
                <a:srgbClr val="000000"/>
              </a:buClr>
              <a:buSzPts val="1200"/>
              <a:buChar char="●"/>
            </a:pPr>
            <a:r>
              <a:rPr lang="fr" sz="1200">
                <a:solidFill>
                  <a:srgbClr val="000000"/>
                </a:solidFill>
              </a:rPr>
              <a:t>Rubriques Bannières publicitaires</a:t>
            </a: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endParaRPr sz="1200">
              <a:solidFill>
                <a:srgbClr val="000000"/>
              </a:solidFill>
            </a:endParaRPr>
          </a:p>
          <a:p>
            <a:pPr marL="0" lvl="0" indent="0" algn="l" rtl="0">
              <a:spcBef>
                <a:spcPts val="0"/>
              </a:spcBef>
              <a:spcAft>
                <a:spcPts val="0"/>
              </a:spcAft>
              <a:buNone/>
            </a:pPr>
            <a:r>
              <a:rPr lang="fr" sz="1200">
                <a:solidFill>
                  <a:srgbClr val="000000"/>
                </a:solidFill>
              </a:rPr>
              <a:t>À voir dans une prochaine version: </a:t>
            </a:r>
            <a:r>
              <a:rPr lang="fr" sz="1200">
                <a:solidFill>
                  <a:schemeClr val="dk1"/>
                </a:solidFill>
              </a:rPr>
              <a:t>AF-QUOTE: Propositions de citations à partager sur le fil d’actualité en image, ou en texte, ou à uploader en image de couverture</a:t>
            </a:r>
            <a:endParaRPr sz="1200">
              <a:solidFill>
                <a:srgbClr val="000000"/>
              </a:solidFill>
            </a:endParaRPr>
          </a:p>
        </p:txBody>
      </p:sp>
      <p:grpSp>
        <p:nvGrpSpPr>
          <p:cNvPr id="454" name="Google Shape;454;p40"/>
          <p:cNvGrpSpPr/>
          <p:nvPr/>
        </p:nvGrpSpPr>
        <p:grpSpPr>
          <a:xfrm>
            <a:off x="8467500" y="-18375"/>
            <a:ext cx="676500" cy="676500"/>
            <a:chOff x="8467500" y="-18375"/>
            <a:chExt cx="676500" cy="676500"/>
          </a:xfrm>
        </p:grpSpPr>
        <p:sp>
          <p:nvSpPr>
            <p:cNvPr id="455" name="Google Shape;455;p40"/>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6" name="Google Shape;456;p40"/>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57" name="Google Shape;457;p40"/>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solidFill>
                  <a:srgbClr val="01CA4C"/>
                </a:solidFill>
              </a:rPr>
              <a:t>DADUPA CONNECT</a:t>
            </a:r>
            <a:endParaRPr sz="1200" b="1">
              <a:solidFill>
                <a:srgbClr val="01CA4C"/>
              </a:solidFill>
            </a:endParaRPr>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body" idx="4294967295"/>
          </p:nvPr>
        </p:nvSpPr>
        <p:spPr>
          <a:xfrm>
            <a:off x="185825" y="1834750"/>
            <a:ext cx="8416200" cy="35025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Char char="●"/>
            </a:pPr>
            <a:r>
              <a:rPr lang="fr" sz="1200" u="sng">
                <a:solidFill>
                  <a:schemeClr val="hlink"/>
                </a:solidFill>
                <a:hlinkClick r:id="rId3"/>
              </a:rPr>
              <a:t>https://vc4a.com/</a:t>
            </a:r>
            <a:r>
              <a:rPr lang="fr" sz="1200">
                <a:solidFill>
                  <a:schemeClr val="dk1"/>
                </a:solidFill>
              </a:rPr>
              <a:t> </a:t>
            </a:r>
            <a:endParaRPr sz="1200">
              <a:solidFill>
                <a:schemeClr val="dk1"/>
              </a:solidFill>
            </a:endParaRPr>
          </a:p>
          <a:p>
            <a:pPr marL="457200" lvl="0" indent="-304800" algn="l" rtl="0">
              <a:spcBef>
                <a:spcPts val="0"/>
              </a:spcBef>
              <a:spcAft>
                <a:spcPts val="0"/>
              </a:spcAft>
              <a:buClr>
                <a:schemeClr val="dk1"/>
              </a:buClr>
              <a:buSzPts val="1200"/>
              <a:buChar char="●"/>
            </a:pPr>
            <a:r>
              <a:rPr lang="fr" sz="1200" u="sng">
                <a:solidFill>
                  <a:schemeClr val="hlink"/>
                </a:solidFill>
                <a:hlinkClick r:id="rId4"/>
              </a:rPr>
              <a:t>https://www.crunchbase.com/</a:t>
            </a:r>
            <a:r>
              <a:rPr lang="fr" sz="1200">
                <a:solidFill>
                  <a:schemeClr val="dk1"/>
                </a:solidFill>
              </a:rPr>
              <a:t>  (HORS-ZONE)</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5"/>
              </a:rPr>
              <a:t>https://lafrenchtech-aixmarseille.fr/concours-et-appels-a-candidatures-startup/</a:t>
            </a:r>
            <a:r>
              <a:rPr lang="fr" sz="1200">
                <a:solidFill>
                  <a:srgbClr val="000000"/>
                </a:solidFill>
              </a:rPr>
              <a:t> </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6"/>
              </a:rPr>
              <a:t>https://adalidda.com/</a:t>
            </a:r>
            <a:r>
              <a:rPr lang="fr" sz="1200">
                <a:solidFill>
                  <a:srgbClr val="000000"/>
                </a:solidFill>
              </a:rPr>
              <a:t> </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7"/>
              </a:rPr>
              <a:t>https://www.f6s.com/</a:t>
            </a:r>
            <a:r>
              <a:rPr lang="fr" sz="1200">
                <a:solidFill>
                  <a:srgbClr val="000000"/>
                </a:solidFill>
              </a:rPr>
              <a:t> </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8"/>
              </a:rPr>
              <a:t>https://wweeddoo.com/</a:t>
            </a:r>
            <a:r>
              <a:rPr lang="fr" sz="1200">
                <a:solidFill>
                  <a:srgbClr val="000000"/>
                </a:solidFill>
              </a:rPr>
              <a:t> </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9"/>
              </a:rPr>
              <a:t>https://www.bpifrance.fr/A-la-une/Appels-a-projets-concours</a:t>
            </a:r>
            <a:r>
              <a:rPr lang="fr" sz="1200">
                <a:solidFill>
                  <a:srgbClr val="000000"/>
                </a:solidFill>
              </a:rPr>
              <a:t> </a:t>
            </a:r>
            <a:endParaRPr sz="1200">
              <a:solidFill>
                <a:srgbClr val="000000"/>
              </a:solidFill>
            </a:endParaRPr>
          </a:p>
          <a:p>
            <a:pPr marL="457200" lvl="0" indent="-304800" algn="l" rtl="0">
              <a:spcBef>
                <a:spcPts val="0"/>
              </a:spcBef>
              <a:spcAft>
                <a:spcPts val="0"/>
              </a:spcAft>
              <a:buClr>
                <a:srgbClr val="000000"/>
              </a:buClr>
              <a:buSzPts val="1200"/>
              <a:buChar char="●"/>
            </a:pPr>
            <a:r>
              <a:rPr lang="fr" sz="1200" u="sng">
                <a:solidFill>
                  <a:schemeClr val="hlink"/>
                </a:solidFill>
                <a:hlinkClick r:id="rId10"/>
              </a:rPr>
              <a:t>https://challenges.vivatechnology.com/en/challenges/</a:t>
            </a:r>
            <a:r>
              <a:rPr lang="fr" sz="1200">
                <a:solidFill>
                  <a:srgbClr val="000000"/>
                </a:solidFill>
              </a:rPr>
              <a:t> </a:t>
            </a:r>
            <a:endParaRPr sz="1200">
              <a:solidFill>
                <a:srgbClr val="000000"/>
              </a:solidFill>
            </a:endParaRPr>
          </a:p>
        </p:txBody>
      </p:sp>
      <p:sp>
        <p:nvSpPr>
          <p:cNvPr id="463" name="Google Shape;463;p41"/>
          <p:cNvSpPr txBox="1">
            <a:spLocks noGrp="1"/>
          </p:cNvSpPr>
          <p:nvPr>
            <p:ph type="title"/>
          </p:nvPr>
        </p:nvSpPr>
        <p:spPr>
          <a:xfrm>
            <a:off x="311700" y="4944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BENCHMARK</a:t>
            </a:r>
            <a:endParaRPr/>
          </a:p>
        </p:txBody>
      </p:sp>
      <p:grpSp>
        <p:nvGrpSpPr>
          <p:cNvPr id="464" name="Google Shape;464;p41"/>
          <p:cNvGrpSpPr/>
          <p:nvPr/>
        </p:nvGrpSpPr>
        <p:grpSpPr>
          <a:xfrm>
            <a:off x="8467500" y="-18375"/>
            <a:ext cx="676500" cy="676500"/>
            <a:chOff x="8467500" y="-18375"/>
            <a:chExt cx="676500" cy="676500"/>
          </a:xfrm>
        </p:grpSpPr>
        <p:sp>
          <p:nvSpPr>
            <p:cNvPr id="465" name="Google Shape;465;p41"/>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6" name="Google Shape;466;p41"/>
            <p:cNvPicPr preferRelativeResize="0"/>
            <p:nvPr/>
          </p:nvPicPr>
          <p:blipFill>
            <a:blip r:embed="rId11">
              <a:alphaModFix/>
            </a:blip>
            <a:stretch>
              <a:fillRect/>
            </a:stretch>
          </p:blipFill>
          <p:spPr>
            <a:xfrm>
              <a:off x="8467500" y="-18375"/>
              <a:ext cx="676500" cy="676500"/>
            </a:xfrm>
            <a:prstGeom prst="rect">
              <a:avLst/>
            </a:prstGeom>
            <a:noFill/>
            <a:ln>
              <a:noFill/>
            </a:ln>
          </p:spPr>
        </p:pic>
      </p:grpSp>
      <p:sp>
        <p:nvSpPr>
          <p:cNvPr id="467" name="Google Shape;467;p41"/>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t>DADUPA CONNECT</a:t>
            </a:r>
            <a:endParaRPr sz="1200" b="1"/>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42"/>
          <p:cNvSpPr txBox="1">
            <a:spLocks noGrp="1"/>
          </p:cNvSpPr>
          <p:nvPr>
            <p:ph type="title"/>
          </p:nvPr>
        </p:nvSpPr>
        <p:spPr>
          <a:xfrm>
            <a:off x="311700" y="1426308"/>
            <a:ext cx="8520600" cy="9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
              <a:t>DPTOOLS (DANS LA V2)</a:t>
            </a:r>
            <a:endParaRPr/>
          </a:p>
        </p:txBody>
      </p:sp>
      <p:pic>
        <p:nvPicPr>
          <p:cNvPr id="473" name="Google Shape;473;p42" descr="Aftools 1.jpg"/>
          <p:cNvPicPr preferRelativeResize="0"/>
          <p:nvPr/>
        </p:nvPicPr>
        <p:blipFill/>
        <p:spPr>
          <a:xfrm>
            <a:off x="0" y="2426850"/>
            <a:ext cx="9143997" cy="2135702"/>
          </a:xfrm>
          <a:prstGeom prst="rect">
            <a:avLst/>
          </a:prstGeom>
          <a:noFill/>
          <a:ln>
            <a:noFill/>
          </a:ln>
        </p:spPr>
      </p:pic>
      <p:grpSp>
        <p:nvGrpSpPr>
          <p:cNvPr id="474" name="Google Shape;474;p42"/>
          <p:cNvGrpSpPr/>
          <p:nvPr/>
        </p:nvGrpSpPr>
        <p:grpSpPr>
          <a:xfrm>
            <a:off x="8467500" y="-18375"/>
            <a:ext cx="676500" cy="676500"/>
            <a:chOff x="8467500" y="-18375"/>
            <a:chExt cx="676500" cy="676500"/>
          </a:xfrm>
        </p:grpSpPr>
        <p:sp>
          <p:nvSpPr>
            <p:cNvPr id="475" name="Google Shape;475;p42"/>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6" name="Google Shape;476;p42"/>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77" name="Google Shape;477;p42"/>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t>DADUPA CONNECT</a:t>
            </a:r>
            <a:endParaRPr sz="1200" b="1"/>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43"/>
          <p:cNvSpPr txBox="1">
            <a:spLocks noGrp="1"/>
          </p:cNvSpPr>
          <p:nvPr>
            <p:ph type="body" idx="1"/>
          </p:nvPr>
        </p:nvSpPr>
        <p:spPr>
          <a:xfrm>
            <a:off x="-125" y="98325"/>
            <a:ext cx="4950000" cy="4431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fr" b="1">
                <a:solidFill>
                  <a:srgbClr val="000000"/>
                </a:solidFill>
              </a:rPr>
              <a:t>AFTOOLS - POUR LA PROCHAINE V2</a:t>
            </a:r>
            <a:endParaRPr b="1">
              <a:solidFill>
                <a:srgbClr val="000000"/>
              </a:solidFill>
            </a:endParaRPr>
          </a:p>
        </p:txBody>
      </p:sp>
      <p:sp>
        <p:nvSpPr>
          <p:cNvPr id="483" name="Google Shape;483;p43"/>
          <p:cNvSpPr txBox="1">
            <a:spLocks noGrp="1"/>
          </p:cNvSpPr>
          <p:nvPr>
            <p:ph type="body" idx="1"/>
          </p:nvPr>
        </p:nvSpPr>
        <p:spPr>
          <a:xfrm>
            <a:off x="220450" y="962475"/>
            <a:ext cx="8679300" cy="38667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fr" sz="1200">
                <a:solidFill>
                  <a:srgbClr val="000000"/>
                </a:solidFill>
              </a:rPr>
              <a:t>AFTOOLS est une sélection d’outils permettant au porteur de projet:</a:t>
            </a:r>
            <a:endParaRPr sz="1200">
              <a:solidFill>
                <a:srgbClr val="000000"/>
              </a:solidFill>
            </a:endParaRPr>
          </a:p>
          <a:p>
            <a:pPr marL="0" lvl="0" indent="0" algn="just" rtl="0">
              <a:spcBef>
                <a:spcPts val="0"/>
              </a:spcBef>
              <a:spcAft>
                <a:spcPts val="0"/>
              </a:spcAft>
              <a:buNone/>
            </a:pP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De créer un projet et de bien le structurer via le Business Planner.</a:t>
            </a: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De trouver des collaborateurs pour développer son projet à travers la CVTHÈQUE.</a:t>
            </a: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De recevoir des conseils sélectionnés et proposés par DADUPA CONNECT.</a:t>
            </a: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De chercher des informations à travers la FAQ AFFAQ.</a:t>
            </a: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De trouver tous les outils juridiques liés à la création d’entreprise, et au développement sain dans les normes juridiques et légaux qui cadrent le territoire d’activité du porteur de projet.</a:t>
            </a:r>
            <a:endParaRPr sz="1200">
              <a:solidFill>
                <a:srgbClr val="000000"/>
              </a:solidFill>
            </a:endParaRPr>
          </a:p>
          <a:p>
            <a:pPr marL="0" lvl="0" indent="0" algn="just" rtl="0">
              <a:spcBef>
                <a:spcPts val="0"/>
              </a:spcBef>
              <a:spcAft>
                <a:spcPts val="0"/>
              </a:spcAft>
              <a:buNone/>
            </a:pPr>
            <a:endParaRPr sz="1200">
              <a:solidFill>
                <a:srgbClr val="000000"/>
              </a:solidFill>
            </a:endParaRPr>
          </a:p>
          <a:p>
            <a:pPr marL="0" lvl="0" indent="0" algn="just" rtl="0">
              <a:spcBef>
                <a:spcPts val="0"/>
              </a:spcBef>
              <a:spcAft>
                <a:spcPts val="0"/>
              </a:spcAft>
              <a:buNone/>
            </a:pPr>
            <a:r>
              <a:rPr lang="fr" sz="1200">
                <a:solidFill>
                  <a:srgbClr val="000000"/>
                </a:solidFill>
              </a:rPr>
              <a:t>Bien que l’attention soit en général porté sur le porteur de projet, les AFTOOLS contiendront des options d’assistances aux ANGELS, et MENTORS</a:t>
            </a:r>
            <a:endParaRPr sz="1200">
              <a:solidFill>
                <a:srgbClr val="000000"/>
              </a:solidFill>
            </a:endParaRPr>
          </a:p>
          <a:p>
            <a:pPr marL="0" lvl="0" indent="0" algn="just" rtl="0">
              <a:spcBef>
                <a:spcPts val="0"/>
              </a:spcBef>
              <a:spcAft>
                <a:spcPts val="0"/>
              </a:spcAft>
              <a:buNone/>
            </a:pP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Le guide et les conseils pour investir et gérer ses investissements pour l’ANGEL</a:t>
            </a:r>
            <a:endParaRPr sz="1200">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Toujours pour l’ANGEL, l’outil de comparaison des projets en terme de rentabilité : </a:t>
            </a:r>
            <a:r>
              <a:rPr lang="fr" sz="1200" b="1">
                <a:solidFill>
                  <a:srgbClr val="000000"/>
                </a:solidFill>
              </a:rPr>
              <a:t>Pour la prochaine version</a:t>
            </a:r>
            <a:endParaRPr sz="1200" b="1">
              <a:solidFill>
                <a:srgbClr val="000000"/>
              </a:solidFill>
            </a:endParaRPr>
          </a:p>
          <a:p>
            <a:pPr marL="457200" lvl="0" indent="-304800" algn="just" rtl="0">
              <a:spcBef>
                <a:spcPts val="0"/>
              </a:spcBef>
              <a:spcAft>
                <a:spcPts val="0"/>
              </a:spcAft>
              <a:buClr>
                <a:srgbClr val="000000"/>
              </a:buClr>
              <a:buSzPts val="1200"/>
              <a:buChar char="●"/>
            </a:pPr>
            <a:r>
              <a:rPr lang="fr" sz="1200">
                <a:solidFill>
                  <a:srgbClr val="000000"/>
                </a:solidFill>
              </a:rPr>
              <a:t>POur le MENTOR, Les conseils sur les thèmes sur lesquels parler pour accompagner les porteurs de projets, et les tendances de publications de conseils.</a:t>
            </a:r>
            <a:endParaRPr sz="1200">
              <a:solidFill>
                <a:srgbClr val="000000"/>
              </a:solidFill>
            </a:endParaRPr>
          </a:p>
          <a:p>
            <a:pPr marL="0" lvl="0" indent="0" algn="just" rtl="0">
              <a:spcBef>
                <a:spcPts val="0"/>
              </a:spcBef>
              <a:spcAft>
                <a:spcPts val="0"/>
              </a:spcAft>
              <a:buNone/>
            </a:pPr>
            <a:endParaRPr sz="1200">
              <a:solidFill>
                <a:srgbClr val="000000"/>
              </a:solidFill>
            </a:endParaRPr>
          </a:p>
          <a:p>
            <a:pPr marL="0" lvl="0" indent="0" algn="just" rtl="0">
              <a:spcBef>
                <a:spcPts val="0"/>
              </a:spcBef>
              <a:spcAft>
                <a:spcPts val="0"/>
              </a:spcAft>
              <a:buNone/>
            </a:pPr>
            <a:endParaRPr sz="1200">
              <a:solidFill>
                <a:srgbClr val="000000"/>
              </a:solidFill>
            </a:endParaRPr>
          </a:p>
        </p:txBody>
      </p:sp>
      <p:grpSp>
        <p:nvGrpSpPr>
          <p:cNvPr id="484" name="Google Shape;484;p43"/>
          <p:cNvGrpSpPr/>
          <p:nvPr/>
        </p:nvGrpSpPr>
        <p:grpSpPr>
          <a:xfrm>
            <a:off x="8467500" y="-18375"/>
            <a:ext cx="676500" cy="676500"/>
            <a:chOff x="8467500" y="-18375"/>
            <a:chExt cx="676500" cy="676500"/>
          </a:xfrm>
        </p:grpSpPr>
        <p:sp>
          <p:nvSpPr>
            <p:cNvPr id="485" name="Google Shape;485;p43"/>
            <p:cNvSpPr/>
            <p:nvPr/>
          </p:nvSpPr>
          <p:spPr>
            <a:xfrm>
              <a:off x="8467500" y="-18375"/>
              <a:ext cx="676500" cy="676500"/>
            </a:xfrm>
            <a:prstGeom prst="teardrop">
              <a:avLst>
                <a:gd name="adj" fmla="val 100000"/>
              </a:avLst>
            </a:prstGeom>
            <a:solidFill>
              <a:srgbClr val="01C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6" name="Google Shape;486;p43"/>
            <p:cNvPicPr preferRelativeResize="0"/>
            <p:nvPr/>
          </p:nvPicPr>
          <p:blipFill>
            <a:blip r:embed="rId3">
              <a:alphaModFix/>
            </a:blip>
            <a:stretch>
              <a:fillRect/>
            </a:stretch>
          </p:blipFill>
          <p:spPr>
            <a:xfrm>
              <a:off x="8467500" y="-18375"/>
              <a:ext cx="676500" cy="676500"/>
            </a:xfrm>
            <a:prstGeom prst="rect">
              <a:avLst/>
            </a:prstGeom>
            <a:noFill/>
            <a:ln>
              <a:noFill/>
            </a:ln>
          </p:spPr>
        </p:pic>
      </p:grpSp>
      <p:sp>
        <p:nvSpPr>
          <p:cNvPr id="487" name="Google Shape;487;p43"/>
          <p:cNvSpPr txBox="1">
            <a:spLocks noGrp="1"/>
          </p:cNvSpPr>
          <p:nvPr>
            <p:ph type="title"/>
          </p:nvPr>
        </p:nvSpPr>
        <p:spPr>
          <a:xfrm>
            <a:off x="6772975" y="0"/>
            <a:ext cx="1749900" cy="494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 sz="1200" b="1"/>
              <a:t>DADUPA CONNECT</a:t>
            </a:r>
            <a:endParaRPr sz="1200" b="1"/>
          </a:p>
          <a:p>
            <a:pPr marL="0" lvl="0" indent="0" algn="r" rtl="0">
              <a:spcBef>
                <a:spcPts val="0"/>
              </a:spcBef>
              <a:spcAft>
                <a:spcPts val="0"/>
              </a:spcAft>
              <a:buNone/>
            </a:pPr>
            <a:r>
              <a:rPr lang="fr" sz="1000" b="1"/>
              <a:t>CAHIER DES CHARGES</a:t>
            </a:r>
            <a:endParaRPr sz="10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0"/>
        <p:cNvGrpSpPr/>
        <p:nvPr/>
      </p:nvGrpSpPr>
      <p:grpSpPr>
        <a:xfrm>
          <a:off x="0" y="0"/>
          <a:ext cx="0" cy="0"/>
          <a:chOff x="0" y="0"/>
          <a:chExt cx="0" cy="0"/>
        </a:xfrm>
      </p:grpSpPr>
      <p:sp>
        <p:nvSpPr>
          <p:cNvPr id="1021" name="Google Shape;1021;p84"/>
          <p:cNvSpPr/>
          <p:nvPr/>
        </p:nvSpPr>
        <p:spPr>
          <a:xfrm>
            <a:off x="0" y="93229"/>
            <a:ext cx="9144000" cy="56217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 sz="3800">
                <a:solidFill>
                  <a:srgbClr val="00CE62"/>
                </a:solidFill>
              </a:rPr>
              <a:t>Thanks</a:t>
            </a:r>
            <a:endParaRPr sz="3800">
              <a:solidFill>
                <a:srgbClr val="00CE6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3272</Words>
  <Application>Microsoft Office PowerPoint</Application>
  <PresentationFormat>Affichage à l'écran (16:10)</PresentationFormat>
  <Paragraphs>465</Paragraphs>
  <Slides>32</Slides>
  <Notes>32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32</vt:i4>
      </vt:variant>
    </vt:vector>
  </HeadingPairs>
  <TitlesOfParts>
    <vt:vector size="34" baseType="lpstr">
      <vt:lpstr>Arial</vt:lpstr>
      <vt:lpstr>Simple Light</vt:lpstr>
      <vt:lpstr>Présentation PowerPoint</vt:lpstr>
      <vt:lpstr>PRÉSENTATION</vt:lpstr>
      <vt:lpstr>DADUPA CONNECT CAHIER DES CHARGES</vt:lpstr>
      <vt:lpstr>DADUPA CONNECT CAHIER DES CHARGES</vt:lpstr>
      <vt:lpstr>DADUPA CONNECT CAHIER DES CHARGES</vt:lpstr>
      <vt:lpstr>INSCRIPTION/CONNEXION</vt:lpstr>
      <vt:lpstr>DADUPA CONNECT CAHIER DES CHARGES</vt:lpstr>
      <vt:lpstr>DADUPA CONNECT CAHIER DES CHARGES</vt:lpstr>
      <vt:lpstr>DADUPA CONNECT CAHIER DES CHARGES</vt:lpstr>
      <vt:lpstr>PUBLICATION DES OFFRES</vt:lpstr>
      <vt:lpstr>DADUPA CONNECT CAHIER DES CHARGES</vt:lpstr>
      <vt:lpstr>DADUPA CONNECT CAHIER DES CHARGES</vt:lpstr>
      <vt:lpstr>DADUPA CONNECT CAHIER DES CHARGES</vt:lpstr>
      <vt:lpstr>EXPLORATION DES OFFRES</vt:lpstr>
      <vt:lpstr>DADUPA CONNECT CAHIER DES CHARGES</vt:lpstr>
      <vt:lpstr>DADUPA CONNECT CAHIER DES CHARGES</vt:lpstr>
      <vt:lpstr>DADUPA CONNECT CAHIER DES CHARGES</vt:lpstr>
      <vt:lpstr>CONSULTATION D’UNE OFFRE</vt:lpstr>
      <vt:lpstr>DADUPA CONNECT CAHIER DES CHARGES</vt:lpstr>
      <vt:lpstr>DADUPA CONNECT CAHIER DES CHARGES</vt:lpstr>
      <vt:lpstr>DADUPA CONNECT CAHIER DES CHARGES</vt:lpstr>
      <vt:lpstr>AUTRES</vt:lpstr>
      <vt:lpstr>DADUPA CONNECT CAHIER DES CHARGES</vt:lpstr>
      <vt:lpstr>DADUPA CONNECT CAHIER DES CHARGES</vt:lpstr>
      <vt:lpstr>DADUPA CONNECT CAHIER DES CHARGES</vt:lpstr>
      <vt:lpstr>DADUPA CONNECT CAHIER DES CHARGES</vt:lpstr>
      <vt:lpstr>DADUPA CONNECT CAHIER DES CHARGES</vt:lpstr>
      <vt:lpstr>DADUPA CONNECT CAHIER DES CHARGES</vt:lpstr>
      <vt:lpstr>BENCHMARK</vt:lpstr>
      <vt:lpstr>DPTOOLS (DANS LA V2)</vt:lpstr>
      <vt:lpstr>DADUPA CONNECT CAHIER DES CHARGES</vt:lpstr>
      <vt:lpstr>Présentation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dell</cp:lastModifiedBy>
  <cp:revision>1</cp:revision>
  <dcterms:modified xsi:type="dcterms:W3CDTF">2023-03-29T14:55:24Z</dcterms:modified>
</cp:coreProperties>
</file>